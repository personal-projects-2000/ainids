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 u="sng">
                <a:solidFill>
                  <a:schemeClr val="hlink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000" b="1" i="0" u="sng">
                <a:solidFill>
                  <a:schemeClr val="hlink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050204" y="-2444"/>
            <a:ext cx="1841500" cy="10292080"/>
          </a:xfrm>
          <a:custGeom>
            <a:avLst/>
            <a:gdLst/>
            <a:ahLst/>
            <a:cxnLst/>
            <a:rect l="l" t="t" r="r" b="b"/>
            <a:pathLst>
              <a:path w="1841500" h="10292080">
                <a:moveTo>
                  <a:pt x="0" y="0"/>
                </a:moveTo>
                <a:lnTo>
                  <a:pt x="1841418" y="10291869"/>
                </a:lnTo>
              </a:path>
            </a:pathLst>
          </a:custGeom>
          <a:ln w="9524">
            <a:solidFill>
              <a:srgbClr val="5ECB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138738" y="5514212"/>
            <a:ext cx="7150100" cy="4776470"/>
          </a:xfrm>
          <a:custGeom>
            <a:avLst/>
            <a:gdLst/>
            <a:ahLst/>
            <a:cxnLst/>
            <a:rect l="l" t="t" r="r" b="b"/>
            <a:pathLst>
              <a:path w="7150100" h="4776470">
                <a:moveTo>
                  <a:pt x="7149605" y="7785"/>
                </a:moveTo>
                <a:lnTo>
                  <a:pt x="7148906" y="6743"/>
                </a:lnTo>
                <a:lnTo>
                  <a:pt x="7149503" y="6337"/>
                </a:lnTo>
                <a:lnTo>
                  <a:pt x="7145261" y="0"/>
                </a:lnTo>
                <a:lnTo>
                  <a:pt x="0" y="4769624"/>
                </a:lnTo>
                <a:lnTo>
                  <a:pt x="4241" y="4775962"/>
                </a:lnTo>
                <a:lnTo>
                  <a:pt x="9779" y="4772266"/>
                </a:lnTo>
                <a:lnTo>
                  <a:pt x="10477" y="4773320"/>
                </a:lnTo>
                <a:lnTo>
                  <a:pt x="7149605" y="7785"/>
                </a:lnTo>
                <a:close/>
              </a:path>
            </a:pathLst>
          </a:custGeom>
          <a:solidFill>
            <a:srgbClr val="5ECB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3772907" y="0"/>
            <a:ext cx="4510405" cy="10285095"/>
          </a:xfrm>
          <a:custGeom>
            <a:avLst/>
            <a:gdLst/>
            <a:ahLst/>
            <a:cxnLst/>
            <a:rect l="l" t="t" r="r" b="b"/>
            <a:pathLst>
              <a:path w="4510405" h="10285095">
                <a:moveTo>
                  <a:pt x="4510338" y="10284613"/>
                </a:moveTo>
                <a:lnTo>
                  <a:pt x="0" y="10284613"/>
                </a:lnTo>
                <a:lnTo>
                  <a:pt x="3063815" y="0"/>
                </a:lnTo>
                <a:lnTo>
                  <a:pt x="4510331" y="0"/>
                </a:lnTo>
                <a:lnTo>
                  <a:pt x="4510338" y="10284613"/>
                </a:lnTo>
                <a:close/>
              </a:path>
            </a:pathLst>
          </a:custGeom>
          <a:solidFill>
            <a:srgbClr val="5ECBEF">
              <a:alpha val="3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4407388" y="0"/>
            <a:ext cx="3881120" cy="10284460"/>
          </a:xfrm>
          <a:custGeom>
            <a:avLst/>
            <a:gdLst/>
            <a:ahLst/>
            <a:cxnLst/>
            <a:rect l="l" t="t" r="r" b="b"/>
            <a:pathLst>
              <a:path w="3881119" h="10284460">
                <a:moveTo>
                  <a:pt x="3880611" y="10284448"/>
                </a:moveTo>
                <a:lnTo>
                  <a:pt x="1811544" y="10284448"/>
                </a:lnTo>
                <a:lnTo>
                  <a:pt x="0" y="0"/>
                </a:lnTo>
                <a:lnTo>
                  <a:pt x="3880615" y="0"/>
                </a:lnTo>
                <a:lnTo>
                  <a:pt x="3880611" y="10284448"/>
                </a:lnTo>
                <a:close/>
              </a:path>
            </a:pathLst>
          </a:custGeom>
          <a:solidFill>
            <a:srgbClr val="5ECBE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3398489" y="4571999"/>
            <a:ext cx="4889500" cy="5715000"/>
          </a:xfrm>
          <a:custGeom>
            <a:avLst/>
            <a:gdLst/>
            <a:ahLst/>
            <a:cxnLst/>
            <a:rect l="l" t="t" r="r" b="b"/>
            <a:pathLst>
              <a:path w="4889500" h="5715000">
                <a:moveTo>
                  <a:pt x="4889479" y="5714999"/>
                </a:moveTo>
                <a:lnTo>
                  <a:pt x="0" y="5714999"/>
                </a:lnTo>
                <a:lnTo>
                  <a:pt x="4889479" y="0"/>
                </a:lnTo>
                <a:lnTo>
                  <a:pt x="4889479" y="5714999"/>
                </a:lnTo>
                <a:close/>
              </a:path>
            </a:pathLst>
          </a:custGeom>
          <a:solidFill>
            <a:srgbClr val="17B0E3">
              <a:alpha val="6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4006318" y="0"/>
            <a:ext cx="4277360" cy="10287000"/>
          </a:xfrm>
          <a:custGeom>
            <a:avLst/>
            <a:gdLst/>
            <a:ahLst/>
            <a:cxnLst/>
            <a:rect l="l" t="t" r="r" b="b"/>
            <a:pathLst>
              <a:path w="4277359" h="10287000">
                <a:moveTo>
                  <a:pt x="4276926" y="10286969"/>
                </a:moveTo>
                <a:lnTo>
                  <a:pt x="3701524" y="10286999"/>
                </a:lnTo>
                <a:lnTo>
                  <a:pt x="0" y="0"/>
                </a:lnTo>
                <a:lnTo>
                  <a:pt x="4276926" y="0"/>
                </a:lnTo>
                <a:lnTo>
                  <a:pt x="4276926" y="10286969"/>
                </a:lnTo>
                <a:close/>
              </a:path>
            </a:pathLst>
          </a:custGeom>
          <a:solidFill>
            <a:srgbClr val="17B0E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6348095" y="0"/>
            <a:ext cx="1935480" cy="10287000"/>
          </a:xfrm>
          <a:custGeom>
            <a:avLst/>
            <a:gdLst/>
            <a:ahLst/>
            <a:cxnLst/>
            <a:rect l="l" t="t" r="r" b="b"/>
            <a:pathLst>
              <a:path w="1935480" h="10287000">
                <a:moveTo>
                  <a:pt x="1935179" y="10286999"/>
                </a:moveTo>
                <a:lnTo>
                  <a:pt x="0" y="10286999"/>
                </a:lnTo>
                <a:lnTo>
                  <a:pt x="1527727" y="0"/>
                </a:lnTo>
                <a:lnTo>
                  <a:pt x="1935179" y="0"/>
                </a:lnTo>
                <a:lnTo>
                  <a:pt x="1935179" y="10286999"/>
                </a:lnTo>
                <a:close/>
              </a:path>
            </a:pathLst>
          </a:custGeom>
          <a:solidFill>
            <a:srgbClr val="2E82C2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6410561" y="0"/>
            <a:ext cx="1873250" cy="10283825"/>
          </a:xfrm>
          <a:custGeom>
            <a:avLst/>
            <a:gdLst/>
            <a:ahLst/>
            <a:cxnLst/>
            <a:rect l="l" t="t" r="r" b="b"/>
            <a:pathLst>
              <a:path w="1873250" h="10283825">
                <a:moveTo>
                  <a:pt x="1872687" y="10283701"/>
                </a:moveTo>
                <a:lnTo>
                  <a:pt x="1661501" y="10283701"/>
                </a:lnTo>
                <a:lnTo>
                  <a:pt x="0" y="0"/>
                </a:lnTo>
                <a:lnTo>
                  <a:pt x="1872671" y="0"/>
                </a:lnTo>
                <a:lnTo>
                  <a:pt x="1872687" y="10283701"/>
                </a:lnTo>
                <a:close/>
              </a:path>
            </a:pathLst>
          </a:custGeom>
          <a:solidFill>
            <a:srgbClr val="236191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5558397" y="5384797"/>
            <a:ext cx="2725420" cy="4900930"/>
          </a:xfrm>
          <a:custGeom>
            <a:avLst/>
            <a:gdLst/>
            <a:ahLst/>
            <a:cxnLst/>
            <a:rect l="l" t="t" r="r" b="b"/>
            <a:pathLst>
              <a:path w="2725419" h="4900930">
                <a:moveTo>
                  <a:pt x="2724876" y="4900634"/>
                </a:moveTo>
                <a:lnTo>
                  <a:pt x="0" y="4900634"/>
                </a:lnTo>
                <a:lnTo>
                  <a:pt x="2724883" y="0"/>
                </a:lnTo>
                <a:lnTo>
                  <a:pt x="2724876" y="4900634"/>
                </a:lnTo>
                <a:close/>
              </a:path>
            </a:pathLst>
          </a:custGeom>
          <a:solidFill>
            <a:srgbClr val="17B0E3">
              <a:alpha val="6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6019799"/>
            <a:ext cx="673735" cy="4267200"/>
          </a:xfrm>
          <a:custGeom>
            <a:avLst/>
            <a:gdLst/>
            <a:ahLst/>
            <a:cxnLst/>
            <a:rect l="l" t="t" r="r" b="b"/>
            <a:pathLst>
              <a:path w="673735" h="4267200">
                <a:moveTo>
                  <a:pt x="673132" y="4267199"/>
                </a:moveTo>
                <a:lnTo>
                  <a:pt x="0" y="4267199"/>
                </a:lnTo>
                <a:lnTo>
                  <a:pt x="0" y="0"/>
                </a:lnTo>
                <a:lnTo>
                  <a:pt x="673132" y="4267199"/>
                </a:lnTo>
                <a:close/>
              </a:path>
            </a:pathLst>
          </a:custGeom>
          <a:solidFill>
            <a:srgbClr val="5ECBE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4031686" y="804597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7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685799" y="0"/>
                </a:lnTo>
                <a:lnTo>
                  <a:pt x="685799" y="685799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0039188" y="2549832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479621" y="479621"/>
                </a:moveTo>
                <a:lnTo>
                  <a:pt x="0" y="479621"/>
                </a:lnTo>
                <a:lnTo>
                  <a:pt x="0" y="0"/>
                </a:lnTo>
                <a:lnTo>
                  <a:pt x="479621" y="0"/>
                </a:lnTo>
                <a:lnTo>
                  <a:pt x="479621" y="479621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4031686" y="8846610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09">
                <a:moveTo>
                  <a:pt x="269967" y="269967"/>
                </a:moveTo>
                <a:lnTo>
                  <a:pt x="0" y="269967"/>
                </a:lnTo>
                <a:lnTo>
                  <a:pt x="0" y="0"/>
                </a:lnTo>
                <a:lnTo>
                  <a:pt x="269967" y="0"/>
                </a:lnTo>
                <a:lnTo>
                  <a:pt x="269967" y="269967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050204" y="-2444"/>
            <a:ext cx="1841500" cy="10292080"/>
          </a:xfrm>
          <a:custGeom>
            <a:avLst/>
            <a:gdLst/>
            <a:ahLst/>
            <a:cxnLst/>
            <a:rect l="l" t="t" r="r" b="b"/>
            <a:pathLst>
              <a:path w="1841500" h="10292080">
                <a:moveTo>
                  <a:pt x="0" y="0"/>
                </a:moveTo>
                <a:lnTo>
                  <a:pt x="1841418" y="10291869"/>
                </a:lnTo>
              </a:path>
            </a:pathLst>
          </a:custGeom>
          <a:ln w="9524">
            <a:solidFill>
              <a:srgbClr val="5ECB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138738" y="5514212"/>
            <a:ext cx="7150100" cy="4776470"/>
          </a:xfrm>
          <a:custGeom>
            <a:avLst/>
            <a:gdLst/>
            <a:ahLst/>
            <a:cxnLst/>
            <a:rect l="l" t="t" r="r" b="b"/>
            <a:pathLst>
              <a:path w="7150100" h="4776470">
                <a:moveTo>
                  <a:pt x="7149605" y="7785"/>
                </a:moveTo>
                <a:lnTo>
                  <a:pt x="7148906" y="6743"/>
                </a:lnTo>
                <a:lnTo>
                  <a:pt x="7149503" y="6337"/>
                </a:lnTo>
                <a:lnTo>
                  <a:pt x="7145261" y="0"/>
                </a:lnTo>
                <a:lnTo>
                  <a:pt x="0" y="4769624"/>
                </a:lnTo>
                <a:lnTo>
                  <a:pt x="4241" y="4775962"/>
                </a:lnTo>
                <a:lnTo>
                  <a:pt x="9779" y="4772266"/>
                </a:lnTo>
                <a:lnTo>
                  <a:pt x="10477" y="4773320"/>
                </a:lnTo>
                <a:lnTo>
                  <a:pt x="7149605" y="7785"/>
                </a:lnTo>
                <a:close/>
              </a:path>
            </a:pathLst>
          </a:custGeom>
          <a:solidFill>
            <a:srgbClr val="5ECB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3772907" y="0"/>
            <a:ext cx="4510405" cy="10285095"/>
          </a:xfrm>
          <a:custGeom>
            <a:avLst/>
            <a:gdLst/>
            <a:ahLst/>
            <a:cxnLst/>
            <a:rect l="l" t="t" r="r" b="b"/>
            <a:pathLst>
              <a:path w="4510405" h="10285095">
                <a:moveTo>
                  <a:pt x="4510338" y="10284613"/>
                </a:moveTo>
                <a:lnTo>
                  <a:pt x="0" y="10284613"/>
                </a:lnTo>
                <a:lnTo>
                  <a:pt x="3063815" y="0"/>
                </a:lnTo>
                <a:lnTo>
                  <a:pt x="4510331" y="0"/>
                </a:lnTo>
                <a:lnTo>
                  <a:pt x="4510338" y="10284613"/>
                </a:lnTo>
                <a:close/>
              </a:path>
            </a:pathLst>
          </a:custGeom>
          <a:solidFill>
            <a:srgbClr val="5ECBEF">
              <a:alpha val="3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4407388" y="0"/>
            <a:ext cx="3881120" cy="10284460"/>
          </a:xfrm>
          <a:custGeom>
            <a:avLst/>
            <a:gdLst/>
            <a:ahLst/>
            <a:cxnLst/>
            <a:rect l="l" t="t" r="r" b="b"/>
            <a:pathLst>
              <a:path w="3881119" h="10284460">
                <a:moveTo>
                  <a:pt x="3880611" y="10284448"/>
                </a:moveTo>
                <a:lnTo>
                  <a:pt x="1811544" y="10284448"/>
                </a:lnTo>
                <a:lnTo>
                  <a:pt x="0" y="0"/>
                </a:lnTo>
                <a:lnTo>
                  <a:pt x="3880615" y="0"/>
                </a:lnTo>
                <a:lnTo>
                  <a:pt x="3880611" y="10284448"/>
                </a:lnTo>
                <a:close/>
              </a:path>
            </a:pathLst>
          </a:custGeom>
          <a:solidFill>
            <a:srgbClr val="5ECBE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3398489" y="4571999"/>
            <a:ext cx="4889500" cy="5715000"/>
          </a:xfrm>
          <a:custGeom>
            <a:avLst/>
            <a:gdLst/>
            <a:ahLst/>
            <a:cxnLst/>
            <a:rect l="l" t="t" r="r" b="b"/>
            <a:pathLst>
              <a:path w="4889500" h="5715000">
                <a:moveTo>
                  <a:pt x="4889479" y="5714999"/>
                </a:moveTo>
                <a:lnTo>
                  <a:pt x="0" y="5714999"/>
                </a:lnTo>
                <a:lnTo>
                  <a:pt x="4889479" y="0"/>
                </a:lnTo>
                <a:lnTo>
                  <a:pt x="4889479" y="5714999"/>
                </a:lnTo>
                <a:close/>
              </a:path>
            </a:pathLst>
          </a:custGeom>
          <a:solidFill>
            <a:srgbClr val="17B0E3">
              <a:alpha val="6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4006318" y="0"/>
            <a:ext cx="4277360" cy="10287000"/>
          </a:xfrm>
          <a:custGeom>
            <a:avLst/>
            <a:gdLst/>
            <a:ahLst/>
            <a:cxnLst/>
            <a:rect l="l" t="t" r="r" b="b"/>
            <a:pathLst>
              <a:path w="4277359" h="10287000">
                <a:moveTo>
                  <a:pt x="4276926" y="10286969"/>
                </a:moveTo>
                <a:lnTo>
                  <a:pt x="3701524" y="10286999"/>
                </a:lnTo>
                <a:lnTo>
                  <a:pt x="0" y="0"/>
                </a:lnTo>
                <a:lnTo>
                  <a:pt x="4276926" y="0"/>
                </a:lnTo>
                <a:lnTo>
                  <a:pt x="4276926" y="10286969"/>
                </a:lnTo>
                <a:close/>
              </a:path>
            </a:pathLst>
          </a:custGeom>
          <a:solidFill>
            <a:srgbClr val="17B0E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6348095" y="0"/>
            <a:ext cx="1935480" cy="10287000"/>
          </a:xfrm>
          <a:custGeom>
            <a:avLst/>
            <a:gdLst/>
            <a:ahLst/>
            <a:cxnLst/>
            <a:rect l="l" t="t" r="r" b="b"/>
            <a:pathLst>
              <a:path w="1935480" h="10287000">
                <a:moveTo>
                  <a:pt x="1935179" y="10286999"/>
                </a:moveTo>
                <a:lnTo>
                  <a:pt x="0" y="10286999"/>
                </a:lnTo>
                <a:lnTo>
                  <a:pt x="1527727" y="0"/>
                </a:lnTo>
                <a:lnTo>
                  <a:pt x="1935179" y="0"/>
                </a:lnTo>
                <a:lnTo>
                  <a:pt x="1935179" y="10286999"/>
                </a:lnTo>
                <a:close/>
              </a:path>
            </a:pathLst>
          </a:custGeom>
          <a:solidFill>
            <a:srgbClr val="2E82C2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6410561" y="0"/>
            <a:ext cx="1873250" cy="10283825"/>
          </a:xfrm>
          <a:custGeom>
            <a:avLst/>
            <a:gdLst/>
            <a:ahLst/>
            <a:cxnLst/>
            <a:rect l="l" t="t" r="r" b="b"/>
            <a:pathLst>
              <a:path w="1873250" h="10283825">
                <a:moveTo>
                  <a:pt x="1872687" y="10283701"/>
                </a:moveTo>
                <a:lnTo>
                  <a:pt x="1661501" y="10283701"/>
                </a:lnTo>
                <a:lnTo>
                  <a:pt x="0" y="0"/>
                </a:lnTo>
                <a:lnTo>
                  <a:pt x="1872671" y="0"/>
                </a:lnTo>
                <a:lnTo>
                  <a:pt x="1872687" y="10283701"/>
                </a:lnTo>
                <a:close/>
              </a:path>
            </a:pathLst>
          </a:custGeom>
          <a:solidFill>
            <a:srgbClr val="236191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5558397" y="5384797"/>
            <a:ext cx="2725420" cy="4900930"/>
          </a:xfrm>
          <a:custGeom>
            <a:avLst/>
            <a:gdLst/>
            <a:ahLst/>
            <a:cxnLst/>
            <a:rect l="l" t="t" r="r" b="b"/>
            <a:pathLst>
              <a:path w="2725419" h="4900930">
                <a:moveTo>
                  <a:pt x="2724876" y="4900634"/>
                </a:moveTo>
                <a:lnTo>
                  <a:pt x="0" y="4900634"/>
                </a:lnTo>
                <a:lnTo>
                  <a:pt x="2724883" y="0"/>
                </a:lnTo>
                <a:lnTo>
                  <a:pt x="2724876" y="4900634"/>
                </a:lnTo>
                <a:close/>
              </a:path>
            </a:pathLst>
          </a:custGeom>
          <a:solidFill>
            <a:srgbClr val="17B0E3">
              <a:alpha val="6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6019799"/>
            <a:ext cx="673735" cy="4267200"/>
          </a:xfrm>
          <a:custGeom>
            <a:avLst/>
            <a:gdLst/>
            <a:ahLst/>
            <a:cxnLst/>
            <a:rect l="l" t="t" r="r" b="b"/>
            <a:pathLst>
              <a:path w="673735" h="4267200">
                <a:moveTo>
                  <a:pt x="673132" y="4267199"/>
                </a:moveTo>
                <a:lnTo>
                  <a:pt x="0" y="4267199"/>
                </a:lnTo>
                <a:lnTo>
                  <a:pt x="0" y="0"/>
                </a:lnTo>
                <a:lnTo>
                  <a:pt x="673132" y="4267199"/>
                </a:lnTo>
                <a:close/>
              </a:path>
            </a:pathLst>
          </a:custGeom>
          <a:solidFill>
            <a:srgbClr val="5ECBE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935" y="209613"/>
            <a:ext cx="12620537" cy="14386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2032" y="3955117"/>
            <a:ext cx="13294360" cy="3578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 u="sng">
                <a:solidFill>
                  <a:schemeClr val="hlink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ainids-pdas.streamlit.app/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1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ERSONAL-PROJECTS-2000/AINIDS" TargetMode="External"/><Relationship Id="rId3" Type="http://schemas.openxmlformats.org/officeDocument/2006/relationships/hyperlink" Target="https://ainids-pdas.streamlit.app/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10462" y="2074212"/>
            <a:ext cx="1844675" cy="1590040"/>
          </a:xfrm>
          <a:custGeom>
            <a:avLst/>
            <a:gdLst/>
            <a:ahLst/>
            <a:cxnLst/>
            <a:rect l="l" t="t" r="r" b="b"/>
            <a:pathLst>
              <a:path w="1844675" h="1590039">
                <a:moveTo>
                  <a:pt x="1446848" y="1589909"/>
                </a:moveTo>
                <a:lnTo>
                  <a:pt x="397477" y="1589909"/>
                </a:lnTo>
                <a:lnTo>
                  <a:pt x="0" y="794954"/>
                </a:lnTo>
                <a:lnTo>
                  <a:pt x="397477" y="0"/>
                </a:lnTo>
                <a:lnTo>
                  <a:pt x="1446848" y="0"/>
                </a:lnTo>
                <a:lnTo>
                  <a:pt x="1844326" y="794954"/>
                </a:lnTo>
                <a:lnTo>
                  <a:pt x="1446848" y="1589909"/>
                </a:lnTo>
                <a:close/>
              </a:path>
            </a:pathLst>
          </a:custGeom>
          <a:solidFill>
            <a:srgbClr val="5ECB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632551" y="1791928"/>
            <a:ext cx="2499360" cy="2154555"/>
          </a:xfrm>
          <a:custGeom>
            <a:avLst/>
            <a:gdLst/>
            <a:ahLst/>
            <a:cxnLst/>
            <a:rect l="l" t="t" r="r" b="b"/>
            <a:pathLst>
              <a:path w="2499359" h="2154554">
                <a:moveTo>
                  <a:pt x="1960625" y="2154560"/>
                </a:moveTo>
                <a:lnTo>
                  <a:pt x="538642" y="2154560"/>
                </a:lnTo>
                <a:lnTo>
                  <a:pt x="0" y="1077278"/>
                </a:lnTo>
                <a:lnTo>
                  <a:pt x="538642" y="0"/>
                </a:lnTo>
                <a:lnTo>
                  <a:pt x="1960625" y="0"/>
                </a:lnTo>
                <a:lnTo>
                  <a:pt x="2499268" y="1077278"/>
                </a:lnTo>
                <a:lnTo>
                  <a:pt x="1960625" y="2154560"/>
                </a:lnTo>
                <a:close/>
              </a:path>
            </a:pathLst>
          </a:custGeom>
          <a:solidFill>
            <a:srgbClr val="41D0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707501" y="7849758"/>
            <a:ext cx="1077595" cy="929005"/>
          </a:xfrm>
          <a:custGeom>
            <a:avLst/>
            <a:gdLst/>
            <a:ahLst/>
            <a:cxnLst/>
            <a:rect l="l" t="t" r="r" b="b"/>
            <a:pathLst>
              <a:path w="1077595" h="929004">
                <a:moveTo>
                  <a:pt x="845149" y="928786"/>
                </a:moveTo>
                <a:lnTo>
                  <a:pt x="232227" y="928786"/>
                </a:lnTo>
                <a:lnTo>
                  <a:pt x="0" y="464454"/>
                </a:lnTo>
                <a:lnTo>
                  <a:pt x="232227" y="0"/>
                </a:lnTo>
                <a:lnTo>
                  <a:pt x="845149" y="0"/>
                </a:lnTo>
                <a:lnTo>
                  <a:pt x="1077376" y="464454"/>
                </a:lnTo>
                <a:lnTo>
                  <a:pt x="845149" y="928786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028700" y="1043996"/>
            <a:ext cx="14239875" cy="8202930"/>
            <a:chOff x="1028700" y="1043996"/>
            <a:chExt cx="14239875" cy="8202930"/>
          </a:xfrm>
        </p:grpSpPr>
        <p:sp>
          <p:nvSpPr>
            <p:cNvPr id="6" name="object 6" descr=""/>
            <p:cNvSpPr/>
            <p:nvPr/>
          </p:nvSpPr>
          <p:spPr>
            <a:xfrm>
              <a:off x="2756754" y="1651957"/>
              <a:ext cx="977900" cy="842644"/>
            </a:xfrm>
            <a:custGeom>
              <a:avLst/>
              <a:gdLst/>
              <a:ahLst/>
              <a:cxnLst/>
              <a:rect l="l" t="t" r="r" b="b"/>
              <a:pathLst>
                <a:path w="977900" h="842644">
                  <a:moveTo>
                    <a:pt x="766764" y="842583"/>
                  </a:moveTo>
                  <a:lnTo>
                    <a:pt x="210693" y="842583"/>
                  </a:lnTo>
                  <a:lnTo>
                    <a:pt x="0" y="421291"/>
                  </a:lnTo>
                  <a:lnTo>
                    <a:pt x="210693" y="0"/>
                  </a:lnTo>
                  <a:lnTo>
                    <a:pt x="766764" y="0"/>
                  </a:lnTo>
                  <a:lnTo>
                    <a:pt x="977441" y="421291"/>
                  </a:lnTo>
                  <a:lnTo>
                    <a:pt x="766764" y="842583"/>
                  </a:lnTo>
                  <a:close/>
                </a:path>
              </a:pathLst>
            </a:custGeom>
            <a:solidFill>
              <a:srgbClr val="2E9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28700" y="1043996"/>
              <a:ext cx="14239875" cy="8202930"/>
            </a:xfrm>
            <a:custGeom>
              <a:avLst/>
              <a:gdLst/>
              <a:ahLst/>
              <a:cxnLst/>
              <a:rect l="l" t="t" r="r" b="b"/>
              <a:pathLst>
                <a:path w="14239875" h="8202930">
                  <a:moveTo>
                    <a:pt x="14134505" y="8202898"/>
                  </a:moveTo>
                  <a:lnTo>
                    <a:pt x="105369" y="8202898"/>
                  </a:lnTo>
                  <a:lnTo>
                    <a:pt x="64348" y="8194617"/>
                  </a:lnTo>
                  <a:lnTo>
                    <a:pt x="30855" y="8172034"/>
                  </a:lnTo>
                  <a:lnTo>
                    <a:pt x="8278" y="8138534"/>
                  </a:lnTo>
                  <a:lnTo>
                    <a:pt x="0" y="8097502"/>
                  </a:lnTo>
                  <a:lnTo>
                    <a:pt x="0" y="105299"/>
                  </a:lnTo>
                  <a:lnTo>
                    <a:pt x="8278" y="64323"/>
                  </a:lnTo>
                  <a:lnTo>
                    <a:pt x="30855" y="30851"/>
                  </a:lnTo>
                  <a:lnTo>
                    <a:pt x="64348" y="8278"/>
                  </a:lnTo>
                  <a:lnTo>
                    <a:pt x="105369" y="0"/>
                  </a:lnTo>
                  <a:lnTo>
                    <a:pt x="14134505" y="0"/>
                  </a:lnTo>
                  <a:lnTo>
                    <a:pt x="14174792" y="8004"/>
                  </a:lnTo>
                  <a:lnTo>
                    <a:pt x="14209007" y="30875"/>
                  </a:lnTo>
                  <a:lnTo>
                    <a:pt x="14231872" y="65097"/>
                  </a:lnTo>
                  <a:lnTo>
                    <a:pt x="14239874" y="105395"/>
                  </a:lnTo>
                  <a:lnTo>
                    <a:pt x="14239874" y="8097502"/>
                  </a:lnTo>
                  <a:lnTo>
                    <a:pt x="14231596" y="8138534"/>
                  </a:lnTo>
                  <a:lnTo>
                    <a:pt x="14209018" y="8172034"/>
                  </a:lnTo>
                  <a:lnTo>
                    <a:pt x="14175526" y="8194617"/>
                  </a:lnTo>
                  <a:lnTo>
                    <a:pt x="14134505" y="8202898"/>
                  </a:lnTo>
                  <a:close/>
                </a:path>
              </a:pathLst>
            </a:custGeom>
            <a:solidFill>
              <a:srgbClr val="FFFFFF">
                <a:alpha val="63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57319" y="1469148"/>
            <a:ext cx="11810365" cy="1972310"/>
          </a:xfrm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2195830" marR="5080" indent="-2183765">
              <a:lnSpc>
                <a:spcPts val="7650"/>
              </a:lnSpc>
              <a:spcBef>
                <a:spcPts val="225"/>
              </a:spcBef>
            </a:pPr>
            <a:r>
              <a:rPr dirty="0" sz="6400" spc="-25"/>
              <a:t>AI-</a:t>
            </a:r>
            <a:r>
              <a:rPr dirty="0" sz="6400"/>
              <a:t>BASED</a:t>
            </a:r>
            <a:r>
              <a:rPr dirty="0" sz="6400" spc="-190"/>
              <a:t> </a:t>
            </a:r>
            <a:r>
              <a:rPr dirty="0" sz="6400"/>
              <a:t>NETWORK</a:t>
            </a:r>
            <a:r>
              <a:rPr dirty="0" sz="6400" spc="-190"/>
              <a:t> </a:t>
            </a:r>
            <a:r>
              <a:rPr dirty="0" sz="6400" spc="-10"/>
              <a:t>INTRUSION </a:t>
            </a:r>
            <a:r>
              <a:rPr dirty="0" sz="6400"/>
              <a:t>DETECTION</a:t>
            </a:r>
            <a:r>
              <a:rPr dirty="0" sz="6400" spc="-195"/>
              <a:t> </a:t>
            </a:r>
            <a:r>
              <a:rPr dirty="0" sz="6400" spc="-10"/>
              <a:t>SYSTEM</a:t>
            </a:r>
            <a:endParaRPr sz="6400"/>
          </a:p>
        </p:txBody>
      </p:sp>
      <p:sp>
        <p:nvSpPr>
          <p:cNvPr id="9" name="object 9" descr=""/>
          <p:cNvSpPr txBox="1"/>
          <p:nvPr/>
        </p:nvSpPr>
        <p:spPr>
          <a:xfrm>
            <a:off x="1653610" y="4302109"/>
            <a:ext cx="13269594" cy="3467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80390">
              <a:lnSpc>
                <a:spcPct val="100000"/>
              </a:lnSpc>
              <a:spcBef>
                <a:spcPts val="100"/>
              </a:spcBef>
            </a:pPr>
            <a:r>
              <a:rPr dirty="0" sz="3000" spc="-25">
                <a:latin typeface="Trebuchet MS"/>
                <a:cs typeface="Trebuchet MS"/>
              </a:rPr>
              <a:t>BY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3000">
              <a:latin typeface="Trebuchet MS"/>
              <a:cs typeface="Trebuchet MS"/>
            </a:endParaRPr>
          </a:p>
          <a:p>
            <a:pPr algn="ctr" marR="106680">
              <a:lnSpc>
                <a:spcPct val="100000"/>
              </a:lnSpc>
            </a:pPr>
            <a:r>
              <a:rPr dirty="0" sz="3000" b="1">
                <a:latin typeface="Trebuchet MS"/>
                <a:cs typeface="Trebuchet MS"/>
              </a:rPr>
              <a:t>NAME: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PRIYADARSHINY</a:t>
            </a:r>
            <a:r>
              <a:rPr dirty="0" sz="3000" spc="-150">
                <a:latin typeface="Trebuchet MS"/>
                <a:cs typeface="Trebuchet MS"/>
              </a:rPr>
              <a:t> </a:t>
            </a:r>
            <a:r>
              <a:rPr dirty="0" sz="3000" spc="-25">
                <a:latin typeface="Trebuchet MS"/>
                <a:cs typeface="Trebuchet MS"/>
              </a:rPr>
              <a:t>DAS</a:t>
            </a:r>
            <a:endParaRPr sz="3000">
              <a:latin typeface="Trebuchet MS"/>
              <a:cs typeface="Trebuchet MS"/>
            </a:endParaRPr>
          </a:p>
          <a:p>
            <a:pPr algn="ctr" marR="106680">
              <a:lnSpc>
                <a:spcPct val="100000"/>
              </a:lnSpc>
              <a:spcBef>
                <a:spcPts val="1500"/>
              </a:spcBef>
            </a:pPr>
            <a:r>
              <a:rPr dirty="0" sz="3000" b="1">
                <a:latin typeface="Trebuchet MS"/>
                <a:cs typeface="Trebuchet MS"/>
              </a:rPr>
              <a:t>AICTE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ID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(VOIS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INTERNSHIP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APPLY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ID):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spc="-10">
                <a:latin typeface="Trebuchet MS"/>
                <a:cs typeface="Trebuchet MS"/>
              </a:rPr>
              <a:t>APPLY_1764363743692a0ddf007b0</a:t>
            </a:r>
            <a:endParaRPr sz="3000">
              <a:latin typeface="Trebuchet MS"/>
              <a:cs typeface="Trebuchet MS"/>
            </a:endParaRPr>
          </a:p>
          <a:p>
            <a:pPr algn="ctr" marR="106680">
              <a:lnSpc>
                <a:spcPct val="100000"/>
              </a:lnSpc>
              <a:spcBef>
                <a:spcPts val="1500"/>
              </a:spcBef>
            </a:pPr>
            <a:r>
              <a:rPr dirty="0" sz="3000" b="1">
                <a:latin typeface="Trebuchet MS"/>
                <a:cs typeface="Trebuchet MS"/>
              </a:rPr>
              <a:t>STREAM: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Computer</a:t>
            </a:r>
            <a:r>
              <a:rPr dirty="0" sz="3000" spc="-65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Science</a:t>
            </a:r>
            <a:r>
              <a:rPr dirty="0" sz="3000" spc="-65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And</a:t>
            </a:r>
            <a:r>
              <a:rPr dirty="0" sz="3000" spc="-60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Engineering-</a:t>
            </a:r>
            <a:r>
              <a:rPr dirty="0" sz="3000" spc="-65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Cyber</a:t>
            </a:r>
            <a:r>
              <a:rPr dirty="0" sz="3000" spc="-65">
                <a:latin typeface="Trebuchet MS"/>
                <a:cs typeface="Trebuchet MS"/>
              </a:rPr>
              <a:t> </a:t>
            </a:r>
            <a:r>
              <a:rPr dirty="0" sz="3000" spc="-10">
                <a:latin typeface="Trebuchet MS"/>
                <a:cs typeface="Trebuchet MS"/>
              </a:rPr>
              <a:t>Security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3000" b="1">
                <a:latin typeface="Trebuchet MS"/>
                <a:cs typeface="Trebuchet MS"/>
              </a:rPr>
              <a:t>NATIONAL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INTERNSHIP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PORTAL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STUDENT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ID: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spc="-10">
                <a:latin typeface="Trebuchet MS"/>
                <a:cs typeface="Trebuchet MS"/>
              </a:rPr>
              <a:t>STU6761195c3ea191734416732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31686" y="804597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7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685799" y="0"/>
                </a:lnTo>
                <a:lnTo>
                  <a:pt x="685799" y="685799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39188" y="2549832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479621" y="479621"/>
                </a:moveTo>
                <a:lnTo>
                  <a:pt x="0" y="479621"/>
                </a:lnTo>
                <a:lnTo>
                  <a:pt x="0" y="0"/>
                </a:lnTo>
                <a:lnTo>
                  <a:pt x="479621" y="0"/>
                </a:lnTo>
                <a:lnTo>
                  <a:pt x="479621" y="479621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28700" y="1043999"/>
            <a:ext cx="15108555" cy="8248650"/>
            <a:chOff x="1028700" y="1043999"/>
            <a:chExt cx="15108555" cy="8248650"/>
          </a:xfrm>
        </p:grpSpPr>
        <p:sp>
          <p:nvSpPr>
            <p:cNvPr id="5" name="object 5" descr=""/>
            <p:cNvSpPr/>
            <p:nvPr/>
          </p:nvSpPr>
          <p:spPr>
            <a:xfrm>
              <a:off x="14031686" y="8846610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269967" y="269967"/>
                  </a:moveTo>
                  <a:lnTo>
                    <a:pt x="0" y="269967"/>
                  </a:lnTo>
                  <a:lnTo>
                    <a:pt x="0" y="0"/>
                  </a:lnTo>
                  <a:lnTo>
                    <a:pt x="269967" y="0"/>
                  </a:lnTo>
                  <a:lnTo>
                    <a:pt x="269967" y="269967"/>
                  </a:lnTo>
                  <a:close/>
                </a:path>
              </a:pathLst>
            </a:custGeom>
            <a:solidFill>
              <a:srgbClr val="2E94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93514" y="4396252"/>
              <a:ext cx="4143359" cy="489584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028700" y="1043999"/>
              <a:ext cx="12372975" cy="8202930"/>
            </a:xfrm>
            <a:custGeom>
              <a:avLst/>
              <a:gdLst/>
              <a:ahLst/>
              <a:cxnLst/>
              <a:rect l="l" t="t" r="r" b="b"/>
              <a:pathLst>
                <a:path w="12372975" h="8202930">
                  <a:moveTo>
                    <a:pt x="12251579" y="8202871"/>
                  </a:moveTo>
                  <a:lnTo>
                    <a:pt x="121188" y="8202871"/>
                  </a:lnTo>
                  <a:lnTo>
                    <a:pt x="74036" y="8193338"/>
                  </a:lnTo>
                  <a:lnTo>
                    <a:pt x="35513" y="8167339"/>
                  </a:lnTo>
                  <a:lnTo>
                    <a:pt x="9530" y="8128779"/>
                  </a:lnTo>
                  <a:lnTo>
                    <a:pt x="0" y="8081563"/>
                  </a:lnTo>
                  <a:lnTo>
                    <a:pt x="0" y="121213"/>
                  </a:lnTo>
                  <a:lnTo>
                    <a:pt x="9530" y="74011"/>
                  </a:lnTo>
                  <a:lnTo>
                    <a:pt x="35513" y="35484"/>
                  </a:lnTo>
                  <a:lnTo>
                    <a:pt x="74036" y="9518"/>
                  </a:lnTo>
                  <a:lnTo>
                    <a:pt x="121188" y="0"/>
                  </a:lnTo>
                  <a:lnTo>
                    <a:pt x="12251674" y="0"/>
                  </a:lnTo>
                  <a:lnTo>
                    <a:pt x="12298866" y="9532"/>
                  </a:lnTo>
                  <a:lnTo>
                    <a:pt x="12337385" y="35520"/>
                  </a:lnTo>
                  <a:lnTo>
                    <a:pt x="12363346" y="74052"/>
                  </a:lnTo>
                  <a:lnTo>
                    <a:pt x="12372863" y="121213"/>
                  </a:lnTo>
                  <a:lnTo>
                    <a:pt x="12372863" y="8081563"/>
                  </a:lnTo>
                  <a:lnTo>
                    <a:pt x="12363633" y="8127947"/>
                  </a:lnTo>
                  <a:lnTo>
                    <a:pt x="12337326" y="8167327"/>
                  </a:lnTo>
                  <a:lnTo>
                    <a:pt x="12297990" y="8193640"/>
                  </a:lnTo>
                  <a:lnTo>
                    <a:pt x="12251579" y="8202871"/>
                  </a:lnTo>
                  <a:close/>
                </a:path>
              </a:pathLst>
            </a:custGeom>
            <a:solidFill>
              <a:srgbClr val="FFFFFF">
                <a:alpha val="6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49236" y="2586098"/>
              <a:ext cx="11871960" cy="6118860"/>
            </a:xfrm>
            <a:custGeom>
              <a:avLst/>
              <a:gdLst/>
              <a:ahLst/>
              <a:cxnLst/>
              <a:rect l="l" t="t" r="r" b="b"/>
              <a:pathLst>
                <a:path w="11871960" h="6118859">
                  <a:moveTo>
                    <a:pt x="126295" y="0"/>
                  </a:moveTo>
                  <a:lnTo>
                    <a:pt x="11745724" y="0"/>
                  </a:lnTo>
                  <a:lnTo>
                    <a:pt x="11770490" y="2453"/>
                  </a:lnTo>
                  <a:lnTo>
                    <a:pt x="11815773" y="21224"/>
                  </a:lnTo>
                  <a:lnTo>
                    <a:pt x="11850708" y="56186"/>
                  </a:lnTo>
                  <a:lnTo>
                    <a:pt x="11869471" y="101515"/>
                  </a:lnTo>
                  <a:lnTo>
                    <a:pt x="11871923" y="126252"/>
                  </a:lnTo>
                  <a:lnTo>
                    <a:pt x="11871923" y="5992572"/>
                  </a:lnTo>
                  <a:lnTo>
                    <a:pt x="11862304" y="6040929"/>
                  </a:lnTo>
                  <a:lnTo>
                    <a:pt x="11834968" y="6081854"/>
                  </a:lnTo>
                  <a:lnTo>
                    <a:pt x="11794025" y="6109201"/>
                  </a:lnTo>
                  <a:lnTo>
                    <a:pt x="11745724" y="6118825"/>
                  </a:lnTo>
                  <a:lnTo>
                    <a:pt x="126295" y="6118825"/>
                  </a:lnTo>
                  <a:lnTo>
                    <a:pt x="77958" y="6109201"/>
                  </a:lnTo>
                  <a:lnTo>
                    <a:pt x="37050" y="6081854"/>
                  </a:lnTo>
                  <a:lnTo>
                    <a:pt x="9667" y="6040929"/>
                  </a:lnTo>
                  <a:lnTo>
                    <a:pt x="0" y="5992572"/>
                  </a:lnTo>
                  <a:lnTo>
                    <a:pt x="0" y="126347"/>
                  </a:lnTo>
                  <a:lnTo>
                    <a:pt x="9619" y="77990"/>
                  </a:lnTo>
                  <a:lnTo>
                    <a:pt x="36955" y="37065"/>
                  </a:lnTo>
                  <a:lnTo>
                    <a:pt x="77910" y="9671"/>
                  </a:lnTo>
                  <a:lnTo>
                    <a:pt x="126295" y="0"/>
                  </a:lnTo>
                  <a:close/>
                </a:path>
              </a:pathLst>
            </a:custGeom>
            <a:ln w="95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59086" y="2991499"/>
            <a:ext cx="10932795" cy="5370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3820"/>
              </a:lnSpc>
              <a:spcBef>
                <a:spcPts val="240"/>
              </a:spcBef>
            </a:pPr>
            <a:r>
              <a:rPr dirty="0" sz="3200">
                <a:latin typeface="Trebuchet MS"/>
                <a:cs typeface="Trebuchet MS"/>
              </a:rPr>
              <a:t>In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today’s</a:t>
            </a:r>
            <a:r>
              <a:rPr dirty="0" sz="3200" spc="-120">
                <a:latin typeface="Trebuchet MS"/>
                <a:cs typeface="Trebuchet MS"/>
              </a:rPr>
              <a:t> </a:t>
            </a:r>
            <a:r>
              <a:rPr dirty="0" sz="3200" spc="-25">
                <a:latin typeface="Trebuchet MS"/>
                <a:cs typeface="Trebuchet MS"/>
              </a:rPr>
              <a:t>hyper-</a:t>
            </a:r>
            <a:r>
              <a:rPr dirty="0" sz="3200">
                <a:latin typeface="Trebuchet MS"/>
                <a:cs typeface="Trebuchet MS"/>
              </a:rPr>
              <a:t>connected</a:t>
            </a:r>
            <a:r>
              <a:rPr dirty="0" sz="3200" spc="-12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world,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unauthorized</a:t>
            </a:r>
            <a:r>
              <a:rPr dirty="0" sz="3200" spc="-120">
                <a:latin typeface="Trebuchet MS"/>
                <a:cs typeface="Trebuchet MS"/>
              </a:rPr>
              <a:t> </a:t>
            </a:r>
            <a:r>
              <a:rPr dirty="0" sz="3200" spc="-25">
                <a:latin typeface="Trebuchet MS"/>
                <a:cs typeface="Trebuchet MS"/>
              </a:rPr>
              <a:t>and </a:t>
            </a:r>
            <a:r>
              <a:rPr dirty="0" sz="3200">
                <a:latin typeface="Trebuchet MS"/>
                <a:cs typeface="Trebuchet MS"/>
              </a:rPr>
              <a:t>unethical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network</a:t>
            </a:r>
            <a:r>
              <a:rPr dirty="0" sz="3200" spc="-11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intrusions</a:t>
            </a:r>
            <a:r>
              <a:rPr dirty="0" sz="3200" spc="-11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pose</a:t>
            </a:r>
            <a:r>
              <a:rPr dirty="0" sz="3200" spc="-11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a</a:t>
            </a:r>
            <a:r>
              <a:rPr dirty="0" sz="3200" spc="-11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grave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danger</a:t>
            </a:r>
            <a:r>
              <a:rPr dirty="0" sz="3200" spc="-110">
                <a:latin typeface="Trebuchet MS"/>
                <a:cs typeface="Trebuchet MS"/>
              </a:rPr>
              <a:t> </a:t>
            </a:r>
            <a:r>
              <a:rPr dirty="0" sz="3200" spc="-25">
                <a:latin typeface="Trebuchet MS"/>
                <a:cs typeface="Trebuchet MS"/>
              </a:rPr>
              <a:t>to </a:t>
            </a:r>
            <a:r>
              <a:rPr dirty="0" sz="3200">
                <a:latin typeface="Trebuchet MS"/>
                <a:cs typeface="Trebuchet MS"/>
              </a:rPr>
              <a:t>everyone.</a:t>
            </a:r>
            <a:r>
              <a:rPr dirty="0" sz="3200" spc="-13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These</a:t>
            </a:r>
            <a:r>
              <a:rPr dirty="0" sz="3200" spc="-13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attacks,</a:t>
            </a:r>
            <a:r>
              <a:rPr dirty="0" sz="3200" spc="-13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ranging</a:t>
            </a:r>
            <a:r>
              <a:rPr dirty="0" sz="3200" spc="-13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from</a:t>
            </a:r>
            <a:r>
              <a:rPr dirty="0" sz="3200" spc="-13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ransomware</a:t>
            </a:r>
            <a:r>
              <a:rPr dirty="0" sz="3200" spc="-135">
                <a:latin typeface="Trebuchet MS"/>
                <a:cs typeface="Trebuchet MS"/>
              </a:rPr>
              <a:t> </a:t>
            </a:r>
            <a:r>
              <a:rPr dirty="0" sz="3200" spc="-25">
                <a:latin typeface="Trebuchet MS"/>
                <a:cs typeface="Trebuchet MS"/>
              </a:rPr>
              <a:t>to </a:t>
            </a:r>
            <a:r>
              <a:rPr dirty="0" sz="3200">
                <a:latin typeface="Trebuchet MS"/>
                <a:cs typeface="Trebuchet MS"/>
              </a:rPr>
              <a:t>distributed</a:t>
            </a:r>
            <a:r>
              <a:rPr dirty="0" sz="3200" spc="-13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denial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of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service,</a:t>
            </a:r>
            <a:r>
              <a:rPr dirty="0" sz="3200" spc="-13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constantly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harm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millions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 spc="-25">
                <a:latin typeface="Trebuchet MS"/>
                <a:cs typeface="Trebuchet MS"/>
              </a:rPr>
              <a:t>of </a:t>
            </a:r>
            <a:r>
              <a:rPr dirty="0" sz="3200">
                <a:latin typeface="Trebuchet MS"/>
                <a:cs typeface="Trebuchet MS"/>
              </a:rPr>
              <a:t>individuals</a:t>
            </a:r>
            <a:r>
              <a:rPr dirty="0" sz="3200" spc="-12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and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thousands</a:t>
            </a:r>
            <a:r>
              <a:rPr dirty="0" sz="3200" spc="-12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of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organizations</a:t>
            </a:r>
            <a:r>
              <a:rPr dirty="0" sz="3200" spc="-12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by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compromising </a:t>
            </a:r>
            <a:r>
              <a:rPr dirty="0" sz="3200">
                <a:latin typeface="Trebuchet MS"/>
                <a:cs typeface="Trebuchet MS"/>
              </a:rPr>
              <a:t>sensitive</a:t>
            </a:r>
            <a:r>
              <a:rPr dirty="0" sz="3200" spc="-13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information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and</a:t>
            </a:r>
            <a:r>
              <a:rPr dirty="0" sz="3200" spc="-13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vital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services.</a:t>
            </a:r>
            <a:r>
              <a:rPr dirty="0" sz="3200" spc="-13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Current</a:t>
            </a:r>
            <a:r>
              <a:rPr dirty="0" sz="3200" spc="-125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security </a:t>
            </a:r>
            <a:r>
              <a:rPr dirty="0" sz="3200">
                <a:latin typeface="Trebuchet MS"/>
                <a:cs typeface="Trebuchet MS"/>
              </a:rPr>
              <a:t>systems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struggle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to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handle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the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huge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volume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and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complexity </a:t>
            </a:r>
            <a:r>
              <a:rPr dirty="0" sz="3200">
                <a:latin typeface="Trebuchet MS"/>
                <a:cs typeface="Trebuchet MS"/>
              </a:rPr>
              <a:t>of</a:t>
            </a:r>
            <a:r>
              <a:rPr dirty="0" sz="3200" spc="-8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modern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network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data,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making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it</a:t>
            </a:r>
            <a:r>
              <a:rPr dirty="0" sz="3200" spc="-8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hard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to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spot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subtle </a:t>
            </a:r>
            <a:r>
              <a:rPr dirty="0" sz="3200">
                <a:latin typeface="Trebuchet MS"/>
                <a:cs typeface="Trebuchet MS"/>
              </a:rPr>
              <a:t>attacks</a:t>
            </a:r>
            <a:r>
              <a:rPr dirty="0" sz="3200" spc="-10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before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major</a:t>
            </a:r>
            <a:r>
              <a:rPr dirty="0" sz="3200" spc="-10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damage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occurs.</a:t>
            </a:r>
            <a:r>
              <a:rPr dirty="0" sz="3200" spc="-10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As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a</a:t>
            </a:r>
            <a:r>
              <a:rPr dirty="0" sz="3200" spc="-10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result,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victims </a:t>
            </a:r>
            <a:r>
              <a:rPr dirty="0" sz="3200">
                <a:latin typeface="Trebuchet MS"/>
                <a:cs typeface="Trebuchet MS"/>
              </a:rPr>
              <a:t>suffer</a:t>
            </a:r>
            <a:r>
              <a:rPr dirty="0" sz="3200" spc="-14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severe</a:t>
            </a:r>
            <a:r>
              <a:rPr dirty="0" sz="3200" spc="-14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financial</a:t>
            </a:r>
            <a:r>
              <a:rPr dirty="0" sz="3200" spc="-14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losses,</a:t>
            </a:r>
            <a:r>
              <a:rPr dirty="0" sz="3200" spc="-14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irreparable</a:t>
            </a:r>
            <a:r>
              <a:rPr dirty="0" sz="3200" spc="-14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damage</a:t>
            </a:r>
            <a:r>
              <a:rPr dirty="0" sz="3200" spc="-145">
                <a:latin typeface="Trebuchet MS"/>
                <a:cs typeface="Trebuchet MS"/>
              </a:rPr>
              <a:t> </a:t>
            </a:r>
            <a:r>
              <a:rPr dirty="0" sz="3200" spc="-25">
                <a:latin typeface="Trebuchet MS"/>
                <a:cs typeface="Trebuchet MS"/>
              </a:rPr>
              <a:t>to </a:t>
            </a:r>
            <a:r>
              <a:rPr dirty="0" sz="3200">
                <a:latin typeface="Trebuchet MS"/>
                <a:cs typeface="Trebuchet MS"/>
              </a:rPr>
              <a:t>reputation,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and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widespread</a:t>
            </a:r>
            <a:r>
              <a:rPr dirty="0" sz="3200" spc="-11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loss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of</a:t>
            </a:r>
            <a:r>
              <a:rPr dirty="0" sz="3200" spc="-11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public</a:t>
            </a:r>
            <a:r>
              <a:rPr dirty="0" sz="3200" spc="-114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trust.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340163" y="1202869"/>
            <a:ext cx="8662670" cy="1013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98290" algn="l"/>
              </a:tabLst>
            </a:pPr>
            <a:r>
              <a:rPr dirty="0" sz="6450" spc="-10"/>
              <a:t>PROBLEM</a:t>
            </a:r>
            <a:r>
              <a:rPr dirty="0" sz="6450"/>
              <a:t>	</a:t>
            </a:r>
            <a:r>
              <a:rPr dirty="0" sz="6450" spc="-10"/>
              <a:t>STATEMENT</a:t>
            </a:r>
            <a:endParaRPr sz="6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31686" y="804597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7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685799" y="0"/>
                </a:lnTo>
                <a:lnTo>
                  <a:pt x="685799" y="685799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39188" y="2549832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479621" y="479621"/>
                </a:moveTo>
                <a:lnTo>
                  <a:pt x="0" y="479621"/>
                </a:lnTo>
                <a:lnTo>
                  <a:pt x="0" y="0"/>
                </a:lnTo>
                <a:lnTo>
                  <a:pt x="479621" y="0"/>
                </a:lnTo>
                <a:lnTo>
                  <a:pt x="479621" y="479621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28736" y="708470"/>
            <a:ext cx="16230600" cy="9289415"/>
            <a:chOff x="1028736" y="708470"/>
            <a:chExt cx="16230600" cy="9289415"/>
          </a:xfrm>
        </p:grpSpPr>
        <p:sp>
          <p:nvSpPr>
            <p:cNvPr id="5" name="object 5" descr=""/>
            <p:cNvSpPr/>
            <p:nvPr/>
          </p:nvSpPr>
          <p:spPr>
            <a:xfrm>
              <a:off x="14031687" y="8846610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269967" y="269967"/>
                  </a:moveTo>
                  <a:lnTo>
                    <a:pt x="0" y="269967"/>
                  </a:lnTo>
                  <a:lnTo>
                    <a:pt x="0" y="0"/>
                  </a:lnTo>
                  <a:lnTo>
                    <a:pt x="269967" y="0"/>
                  </a:lnTo>
                  <a:lnTo>
                    <a:pt x="269967" y="269967"/>
                  </a:lnTo>
                  <a:close/>
                </a:path>
              </a:pathLst>
            </a:custGeom>
            <a:solidFill>
              <a:srgbClr val="2E9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28736" y="708470"/>
              <a:ext cx="16230600" cy="9289415"/>
            </a:xfrm>
            <a:custGeom>
              <a:avLst/>
              <a:gdLst/>
              <a:ahLst/>
              <a:cxnLst/>
              <a:rect l="l" t="t" r="r" b="b"/>
              <a:pathLst>
                <a:path w="16230600" h="9289415">
                  <a:moveTo>
                    <a:pt x="16138156" y="9288791"/>
                  </a:moveTo>
                  <a:lnTo>
                    <a:pt x="92392" y="9288791"/>
                  </a:lnTo>
                  <a:lnTo>
                    <a:pt x="56417" y="9281535"/>
                  </a:lnTo>
                  <a:lnTo>
                    <a:pt x="27050" y="9261741"/>
                  </a:lnTo>
                  <a:lnTo>
                    <a:pt x="7256" y="9232375"/>
                  </a:lnTo>
                  <a:lnTo>
                    <a:pt x="0" y="9196401"/>
                  </a:lnTo>
                  <a:lnTo>
                    <a:pt x="0" y="92295"/>
                  </a:lnTo>
                  <a:lnTo>
                    <a:pt x="7256" y="56376"/>
                  </a:lnTo>
                  <a:lnTo>
                    <a:pt x="27050" y="27038"/>
                  </a:lnTo>
                  <a:lnTo>
                    <a:pt x="56417" y="7255"/>
                  </a:lnTo>
                  <a:lnTo>
                    <a:pt x="92392" y="0"/>
                  </a:lnTo>
                  <a:lnTo>
                    <a:pt x="16138156" y="0"/>
                  </a:lnTo>
                  <a:lnTo>
                    <a:pt x="16174130" y="7256"/>
                  </a:lnTo>
                  <a:lnTo>
                    <a:pt x="16203497" y="27050"/>
                  </a:lnTo>
                  <a:lnTo>
                    <a:pt x="16223291" y="56416"/>
                  </a:lnTo>
                  <a:lnTo>
                    <a:pt x="16230548" y="92390"/>
                  </a:lnTo>
                  <a:lnTo>
                    <a:pt x="16230548" y="9196401"/>
                  </a:lnTo>
                  <a:lnTo>
                    <a:pt x="16215037" y="9247661"/>
                  </a:lnTo>
                  <a:lnTo>
                    <a:pt x="16173505" y="9281767"/>
                  </a:lnTo>
                  <a:lnTo>
                    <a:pt x="16138156" y="9288791"/>
                  </a:lnTo>
                  <a:close/>
                </a:path>
              </a:pathLst>
            </a:custGeom>
            <a:solidFill>
              <a:srgbClr val="FFFFFF">
                <a:alpha val="63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1676" rIns="0" bIns="0" rtlCol="0" vert="horz">
            <a:spAutoFit/>
          </a:bodyPr>
          <a:lstStyle/>
          <a:p>
            <a:pPr marL="1170305">
              <a:lnSpc>
                <a:spcPct val="100000"/>
              </a:lnSpc>
              <a:spcBef>
                <a:spcPts val="130"/>
              </a:spcBef>
            </a:pPr>
            <a:r>
              <a:rPr dirty="0" sz="6450"/>
              <a:t>Project</a:t>
            </a:r>
            <a:r>
              <a:rPr dirty="0" sz="6450" spc="-35"/>
              <a:t> </a:t>
            </a:r>
            <a:r>
              <a:rPr dirty="0" sz="6450" spc="-10"/>
              <a:t>Description</a:t>
            </a:r>
            <a:endParaRPr sz="6450"/>
          </a:p>
        </p:txBody>
      </p:sp>
      <p:grpSp>
        <p:nvGrpSpPr>
          <p:cNvPr id="8" name="object 8" descr=""/>
          <p:cNvGrpSpPr/>
          <p:nvPr/>
        </p:nvGrpSpPr>
        <p:grpSpPr>
          <a:xfrm>
            <a:off x="1065796" y="1981806"/>
            <a:ext cx="15834360" cy="7700009"/>
            <a:chOff x="1065796" y="1981806"/>
            <a:chExt cx="15834360" cy="7700009"/>
          </a:xfrm>
        </p:grpSpPr>
        <p:sp>
          <p:nvSpPr>
            <p:cNvPr id="9" name="object 9" descr=""/>
            <p:cNvSpPr/>
            <p:nvPr/>
          </p:nvSpPr>
          <p:spPr>
            <a:xfrm>
              <a:off x="1070559" y="1986568"/>
              <a:ext cx="15824835" cy="7690484"/>
            </a:xfrm>
            <a:custGeom>
              <a:avLst/>
              <a:gdLst/>
              <a:ahLst/>
              <a:cxnLst/>
              <a:rect l="l" t="t" r="r" b="b"/>
              <a:pathLst>
                <a:path w="15824835" h="7690484">
                  <a:moveTo>
                    <a:pt x="94796" y="0"/>
                  </a:moveTo>
                  <a:lnTo>
                    <a:pt x="15729885" y="0"/>
                  </a:lnTo>
                  <a:lnTo>
                    <a:pt x="15766763" y="7440"/>
                  </a:lnTo>
                  <a:lnTo>
                    <a:pt x="15796897" y="27737"/>
                  </a:lnTo>
                  <a:lnTo>
                    <a:pt x="15817225" y="57856"/>
                  </a:lnTo>
                  <a:lnTo>
                    <a:pt x="15824681" y="94761"/>
                  </a:lnTo>
                  <a:lnTo>
                    <a:pt x="15824681" y="7595738"/>
                  </a:lnTo>
                  <a:lnTo>
                    <a:pt x="15808765" y="7648291"/>
                  </a:lnTo>
                  <a:lnTo>
                    <a:pt x="15766219" y="7683189"/>
                  </a:lnTo>
                  <a:lnTo>
                    <a:pt x="15729980" y="7690403"/>
                  </a:lnTo>
                  <a:lnTo>
                    <a:pt x="94796" y="7690403"/>
                  </a:lnTo>
                  <a:lnTo>
                    <a:pt x="57918" y="7682963"/>
                  </a:lnTo>
                  <a:lnTo>
                    <a:pt x="27784" y="7662666"/>
                  </a:lnTo>
                  <a:lnTo>
                    <a:pt x="7456" y="7632547"/>
                  </a:lnTo>
                  <a:lnTo>
                    <a:pt x="0" y="7595642"/>
                  </a:lnTo>
                  <a:lnTo>
                    <a:pt x="0" y="94761"/>
                  </a:lnTo>
                  <a:lnTo>
                    <a:pt x="7443" y="57856"/>
                  </a:lnTo>
                  <a:lnTo>
                    <a:pt x="27748" y="27737"/>
                  </a:lnTo>
                  <a:lnTo>
                    <a:pt x="57878" y="7440"/>
                  </a:lnTo>
                  <a:lnTo>
                    <a:pt x="9479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9746" y="4276159"/>
              <a:ext cx="104775" cy="10477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9746" y="5000059"/>
              <a:ext cx="104775" cy="10477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9746" y="5723959"/>
              <a:ext cx="104775" cy="10477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9746" y="6762184"/>
              <a:ext cx="104775" cy="10477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9746" y="7486084"/>
              <a:ext cx="104775" cy="10477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9746" y="8209984"/>
              <a:ext cx="104775" cy="10477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9746" y="8933884"/>
              <a:ext cx="104775" cy="104775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457009" y="2144337"/>
            <a:ext cx="15272385" cy="7363459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just" marL="12700" marR="121285">
              <a:lnSpc>
                <a:spcPts val="2850"/>
              </a:lnSpc>
              <a:spcBef>
                <a:spcPts val="215"/>
              </a:spcBef>
            </a:pPr>
            <a:r>
              <a:rPr dirty="0" sz="2400">
                <a:latin typeface="Trebuchet MS"/>
                <a:cs typeface="Trebuchet MS"/>
              </a:rPr>
              <a:t>This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project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classify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incoming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network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traffic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either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safe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(0)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or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malicious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(1)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using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trained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Random </a:t>
            </a:r>
            <a:r>
              <a:rPr dirty="0" sz="2400">
                <a:latin typeface="Trebuchet MS"/>
                <a:cs typeface="Trebuchet MS"/>
              </a:rPr>
              <a:t>Forest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Classification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model.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It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implemented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interactive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dashboard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show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key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metrics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dataset corresponding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flag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network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packets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attack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based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on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packet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details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(user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inputs).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30"/>
              </a:spcBef>
              <a:tabLst>
                <a:tab pos="3973829" algn="l"/>
                <a:tab pos="8884920" algn="l"/>
              </a:tabLst>
            </a:pPr>
            <a:r>
              <a:rPr dirty="0" sz="2400" b="1">
                <a:latin typeface="Trebuchet MS"/>
                <a:cs typeface="Trebuchet MS"/>
              </a:rPr>
              <a:t>Language:</a:t>
            </a:r>
            <a:r>
              <a:rPr dirty="0" sz="2400" spc="-55" b="1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Python.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b="1">
                <a:latin typeface="Trebuchet MS"/>
                <a:cs typeface="Trebuchet MS"/>
              </a:rPr>
              <a:t>App</a:t>
            </a:r>
            <a:r>
              <a:rPr dirty="0" sz="2400" spc="-7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type:</a:t>
            </a:r>
            <a:r>
              <a:rPr dirty="0" sz="2400" spc="-65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Streamlit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app.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b="1">
                <a:latin typeface="Trebuchet MS"/>
                <a:cs typeface="Trebuchet MS"/>
              </a:rPr>
              <a:t>Deployment:</a:t>
            </a:r>
            <a:r>
              <a:rPr dirty="0" sz="2400" spc="-110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Streamlit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Community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Cloud.</a:t>
            </a:r>
            <a:endParaRPr sz="2400">
              <a:latin typeface="Trebuchet MS"/>
              <a:cs typeface="Trebuchet MS"/>
            </a:endParaRPr>
          </a:p>
          <a:p>
            <a:pPr marL="560705" marR="1372870">
              <a:lnSpc>
                <a:spcPts val="2850"/>
              </a:lnSpc>
              <a:spcBef>
                <a:spcPts val="1215"/>
              </a:spcBef>
            </a:pPr>
            <a:r>
              <a:rPr dirty="0" sz="2400" b="1">
                <a:latin typeface="Trebuchet MS"/>
                <a:cs typeface="Trebuchet MS"/>
              </a:rPr>
              <a:t>Goal:</a:t>
            </a:r>
            <a:r>
              <a:rPr dirty="0" sz="2400" spc="-75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detect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potential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cyberattacks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(like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DDoS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or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port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scans)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analyzing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key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network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packet characteristics.</a:t>
            </a:r>
            <a:endParaRPr sz="2400">
              <a:latin typeface="Trebuchet MS"/>
              <a:cs typeface="Trebuchet MS"/>
            </a:endParaRPr>
          </a:p>
          <a:p>
            <a:pPr marL="560705" marR="210820">
              <a:lnSpc>
                <a:spcPts val="2850"/>
              </a:lnSpc>
            </a:pPr>
            <a:r>
              <a:rPr dirty="0" sz="2400" b="1">
                <a:latin typeface="Trebuchet MS"/>
                <a:cs typeface="Trebuchet MS"/>
              </a:rPr>
              <a:t>Mode</a:t>
            </a:r>
            <a:r>
              <a:rPr dirty="0" sz="2400" spc="-6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of</a:t>
            </a:r>
            <a:r>
              <a:rPr dirty="0" sz="2400" spc="-6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operation:</a:t>
            </a:r>
            <a:r>
              <a:rPr dirty="0" sz="2400" spc="-60" b="1">
                <a:latin typeface="Trebuchet MS"/>
                <a:cs typeface="Trebuchet MS"/>
              </a:rPr>
              <a:t> </a:t>
            </a:r>
            <a:r>
              <a:rPr dirty="0" u="heavy" sz="24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Simulation</a:t>
            </a:r>
            <a:r>
              <a:rPr dirty="0" sz="2400" spc="-65" i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(using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synthetic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data)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u="heavy" sz="2400" spc="-2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Real-</a:t>
            </a:r>
            <a:r>
              <a:rPr dirty="0" u="heavy" sz="24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time</a:t>
            </a:r>
            <a:r>
              <a:rPr dirty="0" sz="2400" spc="-60" i="1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(downloading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real-</a:t>
            </a:r>
            <a:r>
              <a:rPr dirty="0" sz="2400">
                <a:latin typeface="Trebuchet MS"/>
                <a:cs typeface="Trebuchet MS"/>
              </a:rPr>
              <a:t>time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dataset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via </a:t>
            </a:r>
            <a:r>
              <a:rPr dirty="0" sz="2400" spc="-10">
                <a:latin typeface="Trebuchet MS"/>
                <a:cs typeface="Trebuchet MS"/>
              </a:rPr>
              <a:t>URL).</a:t>
            </a:r>
            <a:endParaRPr sz="2400">
              <a:latin typeface="Trebuchet MS"/>
              <a:cs typeface="Trebuchet MS"/>
            </a:endParaRPr>
          </a:p>
          <a:p>
            <a:pPr marL="560705">
              <a:lnSpc>
                <a:spcPts val="2760"/>
              </a:lnSpc>
            </a:pPr>
            <a:r>
              <a:rPr dirty="0" sz="2400" b="1">
                <a:latin typeface="Trebuchet MS"/>
                <a:cs typeface="Trebuchet MS"/>
              </a:rPr>
              <a:t>Core</a:t>
            </a:r>
            <a:r>
              <a:rPr dirty="0" sz="2400" spc="-9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algorithm:</a:t>
            </a:r>
            <a:r>
              <a:rPr dirty="0" sz="2400" spc="-90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Uses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u="heavy" sz="24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Random</a:t>
            </a:r>
            <a:r>
              <a:rPr dirty="0" u="heavy" sz="2400" spc="-9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24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Forest</a:t>
            </a:r>
            <a:r>
              <a:rPr dirty="0" u="heavy" sz="2400" spc="-9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24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Classifier</a:t>
            </a:r>
            <a:r>
              <a:rPr dirty="0" sz="2400" spc="-85" i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supervised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machine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learning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classification.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2600" b="1">
                <a:latin typeface="Trebuchet MS"/>
                <a:cs typeface="Trebuchet MS"/>
              </a:rPr>
              <a:t>Key</a:t>
            </a:r>
            <a:r>
              <a:rPr dirty="0" sz="2600" spc="-45" b="1">
                <a:latin typeface="Trebuchet MS"/>
                <a:cs typeface="Trebuchet MS"/>
              </a:rPr>
              <a:t> </a:t>
            </a:r>
            <a:r>
              <a:rPr dirty="0" sz="2600" spc="-10" b="1">
                <a:latin typeface="Trebuchet MS"/>
                <a:cs typeface="Trebuchet MS"/>
              </a:rPr>
              <a:t>features:-</a:t>
            </a:r>
            <a:endParaRPr sz="2600">
              <a:latin typeface="Trebuchet MS"/>
              <a:cs typeface="Trebuchet MS"/>
            </a:endParaRPr>
          </a:p>
          <a:p>
            <a:pPr marL="560705" marR="242570">
              <a:lnSpc>
                <a:spcPts val="2850"/>
              </a:lnSpc>
              <a:spcBef>
                <a:spcPts val="1100"/>
              </a:spcBef>
            </a:pPr>
            <a:r>
              <a:rPr dirty="0" sz="2400" b="1">
                <a:latin typeface="Trebuchet MS"/>
                <a:cs typeface="Trebuchet MS"/>
              </a:rPr>
              <a:t>Interactive</a:t>
            </a:r>
            <a:r>
              <a:rPr dirty="0" sz="2400" spc="-7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training:</a:t>
            </a:r>
            <a:r>
              <a:rPr dirty="0" sz="2400" spc="-60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Users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can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start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model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training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process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adjust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mode,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number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decision </a:t>
            </a:r>
            <a:r>
              <a:rPr dirty="0" sz="2400">
                <a:latin typeface="Trebuchet MS"/>
                <a:cs typeface="Trebuchet MS"/>
              </a:rPr>
              <a:t>trees,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percentage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training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data.</a:t>
            </a:r>
            <a:endParaRPr sz="2400">
              <a:latin typeface="Trebuchet MS"/>
              <a:cs typeface="Trebuchet MS"/>
            </a:endParaRPr>
          </a:p>
          <a:p>
            <a:pPr marL="560705" marR="67945">
              <a:lnSpc>
                <a:spcPts val="2850"/>
              </a:lnSpc>
            </a:pPr>
            <a:r>
              <a:rPr dirty="0" sz="2400" b="1">
                <a:latin typeface="Trebuchet MS"/>
                <a:cs typeface="Trebuchet MS"/>
              </a:rPr>
              <a:t>Performance</a:t>
            </a:r>
            <a:r>
              <a:rPr dirty="0" sz="2400" spc="-9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reporting:</a:t>
            </a:r>
            <a:r>
              <a:rPr dirty="0" sz="2400" spc="-95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Displays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live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metrics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including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training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test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accuracies,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mean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errors,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detailed </a:t>
            </a:r>
            <a:r>
              <a:rPr dirty="0" sz="2400">
                <a:latin typeface="Trebuchet MS"/>
                <a:cs typeface="Trebuchet MS"/>
              </a:rPr>
              <a:t>classification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reports,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visual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confusion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matrices.</a:t>
            </a:r>
            <a:endParaRPr sz="2400">
              <a:latin typeface="Trebuchet MS"/>
              <a:cs typeface="Trebuchet MS"/>
            </a:endParaRPr>
          </a:p>
          <a:p>
            <a:pPr marL="560705" marR="269240">
              <a:lnSpc>
                <a:spcPts val="2850"/>
              </a:lnSpc>
            </a:pPr>
            <a:r>
              <a:rPr dirty="0" sz="2400" b="1">
                <a:latin typeface="Trebuchet MS"/>
                <a:cs typeface="Trebuchet MS"/>
              </a:rPr>
              <a:t>Live</a:t>
            </a:r>
            <a:r>
              <a:rPr dirty="0" sz="2400" spc="-8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simulator: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interactive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section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allows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users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input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specific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packet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parameters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(e.g.,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Destination </a:t>
            </a:r>
            <a:r>
              <a:rPr dirty="0" sz="2400">
                <a:latin typeface="Trebuchet MS"/>
                <a:cs typeface="Trebuchet MS"/>
              </a:rPr>
              <a:t>Port,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Flow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Duration)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receive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instant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prediction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from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trained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model.</a:t>
            </a:r>
            <a:endParaRPr sz="2400">
              <a:latin typeface="Trebuchet MS"/>
              <a:cs typeface="Trebuchet MS"/>
            </a:endParaRPr>
          </a:p>
          <a:p>
            <a:pPr marL="560705" marR="5080">
              <a:lnSpc>
                <a:spcPts val="2850"/>
              </a:lnSpc>
            </a:pPr>
            <a:r>
              <a:rPr dirty="0" sz="2400" b="1">
                <a:latin typeface="Trebuchet MS"/>
                <a:cs typeface="Trebuchet MS"/>
              </a:rPr>
              <a:t>Traffic</a:t>
            </a:r>
            <a:r>
              <a:rPr dirty="0" sz="2400" spc="-8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features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used: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model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trains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on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five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network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features,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namely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'Destination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Port',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'Flow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Duration </a:t>
            </a:r>
            <a:r>
              <a:rPr dirty="0" sz="2400">
                <a:latin typeface="Trebuchet MS"/>
                <a:cs typeface="Trebuchet MS"/>
              </a:rPr>
              <a:t>(ms)',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'Total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Fwd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Packets',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'Packet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Length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Mean',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'Active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Mean'.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31686" y="804597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7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685799" y="0"/>
                </a:lnTo>
                <a:lnTo>
                  <a:pt x="685799" y="685799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39188" y="2549832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479621" y="479621"/>
                </a:moveTo>
                <a:lnTo>
                  <a:pt x="0" y="479621"/>
                </a:lnTo>
                <a:lnTo>
                  <a:pt x="0" y="0"/>
                </a:lnTo>
                <a:lnTo>
                  <a:pt x="479621" y="0"/>
                </a:lnTo>
                <a:lnTo>
                  <a:pt x="479621" y="479621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28715" y="678871"/>
            <a:ext cx="16230600" cy="9164955"/>
            <a:chOff x="1028715" y="678871"/>
            <a:chExt cx="16230600" cy="9164955"/>
          </a:xfrm>
        </p:grpSpPr>
        <p:sp>
          <p:nvSpPr>
            <p:cNvPr id="5" name="object 5" descr=""/>
            <p:cNvSpPr/>
            <p:nvPr/>
          </p:nvSpPr>
          <p:spPr>
            <a:xfrm>
              <a:off x="14031686" y="8846610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269967" y="269967"/>
                  </a:moveTo>
                  <a:lnTo>
                    <a:pt x="0" y="269967"/>
                  </a:lnTo>
                  <a:lnTo>
                    <a:pt x="0" y="0"/>
                  </a:lnTo>
                  <a:lnTo>
                    <a:pt x="269967" y="0"/>
                  </a:lnTo>
                  <a:lnTo>
                    <a:pt x="269967" y="269967"/>
                  </a:lnTo>
                  <a:close/>
                </a:path>
              </a:pathLst>
            </a:custGeom>
            <a:solidFill>
              <a:srgbClr val="2E9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28715" y="678871"/>
              <a:ext cx="16230600" cy="9164955"/>
            </a:xfrm>
            <a:custGeom>
              <a:avLst/>
              <a:gdLst/>
              <a:ahLst/>
              <a:cxnLst/>
              <a:rect l="l" t="t" r="r" b="b"/>
              <a:pathLst>
                <a:path w="16230600" h="9164955">
                  <a:moveTo>
                    <a:pt x="16138156" y="9164948"/>
                  </a:moveTo>
                  <a:lnTo>
                    <a:pt x="92392" y="9164948"/>
                  </a:lnTo>
                  <a:lnTo>
                    <a:pt x="74293" y="9163159"/>
                  </a:lnTo>
                  <a:lnTo>
                    <a:pt x="27050" y="9137893"/>
                  </a:lnTo>
                  <a:lnTo>
                    <a:pt x="1788" y="9090642"/>
                  </a:lnTo>
                  <a:lnTo>
                    <a:pt x="0" y="9072540"/>
                  </a:lnTo>
                  <a:lnTo>
                    <a:pt x="0" y="92313"/>
                  </a:lnTo>
                  <a:lnTo>
                    <a:pt x="7256" y="56387"/>
                  </a:lnTo>
                  <a:lnTo>
                    <a:pt x="27050" y="27043"/>
                  </a:lnTo>
                  <a:lnTo>
                    <a:pt x="56417" y="7256"/>
                  </a:lnTo>
                  <a:lnTo>
                    <a:pt x="92392" y="0"/>
                  </a:lnTo>
                  <a:lnTo>
                    <a:pt x="16138156" y="0"/>
                  </a:lnTo>
                  <a:lnTo>
                    <a:pt x="16174130" y="7258"/>
                  </a:lnTo>
                  <a:lnTo>
                    <a:pt x="16203497" y="27055"/>
                  </a:lnTo>
                  <a:lnTo>
                    <a:pt x="16223291" y="56427"/>
                  </a:lnTo>
                  <a:lnTo>
                    <a:pt x="16230548" y="92408"/>
                  </a:lnTo>
                  <a:lnTo>
                    <a:pt x="16230548" y="9072540"/>
                  </a:lnTo>
                  <a:lnTo>
                    <a:pt x="16223291" y="9108521"/>
                  </a:lnTo>
                  <a:lnTo>
                    <a:pt x="16203497" y="9137893"/>
                  </a:lnTo>
                  <a:lnTo>
                    <a:pt x="16174130" y="9157690"/>
                  </a:lnTo>
                  <a:lnTo>
                    <a:pt x="16138156" y="9164948"/>
                  </a:lnTo>
                  <a:close/>
                </a:path>
              </a:pathLst>
            </a:custGeom>
            <a:solidFill>
              <a:srgbClr val="FFFFFF">
                <a:alpha val="63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618573"/>
            <a:ext cx="7553959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880" algn="l"/>
                <a:tab pos="2868930" algn="l"/>
                <a:tab pos="4189095" algn="l"/>
                <a:tab pos="5518150" algn="l"/>
              </a:tabLst>
            </a:pPr>
            <a:r>
              <a:rPr dirty="0" sz="4800" spc="-25"/>
              <a:t>WHO</a:t>
            </a:r>
            <a:r>
              <a:rPr dirty="0" sz="4800"/>
              <a:t>	</a:t>
            </a:r>
            <a:r>
              <a:rPr dirty="0" sz="4800" spc="-25"/>
              <a:t>ARE</a:t>
            </a:r>
            <a:r>
              <a:rPr dirty="0" sz="4800"/>
              <a:t>	</a:t>
            </a:r>
            <a:r>
              <a:rPr dirty="0" sz="4800" spc="-25"/>
              <a:t>THE</a:t>
            </a:r>
            <a:r>
              <a:rPr dirty="0" sz="4800"/>
              <a:t>	</a:t>
            </a:r>
            <a:r>
              <a:rPr dirty="0" sz="4800" spc="-25"/>
              <a:t>END</a:t>
            </a:r>
            <a:r>
              <a:rPr dirty="0" sz="4800"/>
              <a:t>	</a:t>
            </a:r>
            <a:r>
              <a:rPr dirty="0" sz="4800" spc="-10"/>
              <a:t>USERS?</a:t>
            </a:r>
            <a:endParaRPr sz="4800"/>
          </a:p>
        </p:txBody>
      </p:sp>
      <p:grpSp>
        <p:nvGrpSpPr>
          <p:cNvPr id="8" name="object 8" descr=""/>
          <p:cNvGrpSpPr/>
          <p:nvPr/>
        </p:nvGrpSpPr>
        <p:grpSpPr>
          <a:xfrm>
            <a:off x="994914" y="1912604"/>
            <a:ext cx="15901035" cy="7481570"/>
            <a:chOff x="994914" y="1912604"/>
            <a:chExt cx="15901035" cy="7481570"/>
          </a:xfrm>
        </p:grpSpPr>
        <p:sp>
          <p:nvSpPr>
            <p:cNvPr id="9" name="object 9" descr=""/>
            <p:cNvSpPr/>
            <p:nvPr/>
          </p:nvSpPr>
          <p:spPr>
            <a:xfrm>
              <a:off x="999679" y="1917369"/>
              <a:ext cx="15891510" cy="7472045"/>
            </a:xfrm>
            <a:custGeom>
              <a:avLst/>
              <a:gdLst/>
              <a:ahLst/>
              <a:cxnLst/>
              <a:rect l="l" t="t" r="r" b="b"/>
              <a:pathLst>
                <a:path w="15891510" h="7472045">
                  <a:moveTo>
                    <a:pt x="94296" y="0"/>
                  </a:moveTo>
                  <a:lnTo>
                    <a:pt x="15797206" y="0"/>
                  </a:lnTo>
                  <a:lnTo>
                    <a:pt x="15815714" y="1825"/>
                  </a:lnTo>
                  <a:lnTo>
                    <a:pt x="15863880" y="27639"/>
                  </a:lnTo>
                  <a:lnTo>
                    <a:pt x="15889664" y="75888"/>
                  </a:lnTo>
                  <a:lnTo>
                    <a:pt x="15891502" y="94354"/>
                  </a:lnTo>
                  <a:lnTo>
                    <a:pt x="15891502" y="7377094"/>
                  </a:lnTo>
                  <a:lnTo>
                    <a:pt x="15875670" y="7429472"/>
                  </a:lnTo>
                  <a:lnTo>
                    <a:pt x="15833257" y="7464241"/>
                  </a:lnTo>
                  <a:lnTo>
                    <a:pt x="15797206" y="7471449"/>
                  </a:lnTo>
                  <a:lnTo>
                    <a:pt x="94296" y="7471449"/>
                  </a:lnTo>
                  <a:lnTo>
                    <a:pt x="57582" y="7464037"/>
                  </a:lnTo>
                  <a:lnTo>
                    <a:pt x="27610" y="7443821"/>
                  </a:lnTo>
                  <a:lnTo>
                    <a:pt x="7407" y="7413831"/>
                  </a:lnTo>
                  <a:lnTo>
                    <a:pt x="0" y="7377094"/>
                  </a:lnTo>
                  <a:lnTo>
                    <a:pt x="0" y="94354"/>
                  </a:lnTo>
                  <a:lnTo>
                    <a:pt x="15832" y="41977"/>
                  </a:lnTo>
                  <a:lnTo>
                    <a:pt x="58245" y="7207"/>
                  </a:lnTo>
                  <a:lnTo>
                    <a:pt x="94296" y="0"/>
                  </a:lnTo>
                  <a:close/>
                </a:path>
              </a:pathLst>
            </a:custGeom>
            <a:ln w="95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274" y="3357303"/>
              <a:ext cx="104775" cy="10477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274" y="4586028"/>
              <a:ext cx="104775" cy="10477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274" y="6176703"/>
              <a:ext cx="104775" cy="10477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0274" y="7405428"/>
              <a:ext cx="104775" cy="10477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0274" y="8272203"/>
              <a:ext cx="104775" cy="10477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287537" y="2092255"/>
            <a:ext cx="15356840" cy="7115809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417830">
              <a:lnSpc>
                <a:spcPts val="2850"/>
              </a:lnSpc>
              <a:spcBef>
                <a:spcPts val="215"/>
              </a:spcBef>
            </a:pP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potential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end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users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this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project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are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primarily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individuals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teams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responsible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network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security, </a:t>
            </a:r>
            <a:r>
              <a:rPr dirty="0" sz="2400">
                <a:latin typeface="Trebuchet MS"/>
                <a:cs typeface="Trebuchet MS"/>
              </a:rPr>
              <a:t>analysis,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system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development.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Trebuchet MS"/>
              <a:cs typeface="Trebuchet MS"/>
            </a:endParaRPr>
          </a:p>
          <a:p>
            <a:pPr marL="560705" marR="198755">
              <a:lnSpc>
                <a:spcPts val="2850"/>
              </a:lnSpc>
            </a:pPr>
            <a:r>
              <a:rPr dirty="0" sz="2400" b="1">
                <a:latin typeface="Trebuchet MS"/>
                <a:cs typeface="Trebuchet MS"/>
              </a:rPr>
              <a:t>Security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Analysts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(SOC</a:t>
            </a:r>
            <a:r>
              <a:rPr dirty="0" sz="2400" spc="-7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Team):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These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are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primary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operational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users.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They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would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dashboard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to </a:t>
            </a:r>
            <a:r>
              <a:rPr dirty="0" sz="2400">
                <a:latin typeface="Trebuchet MS"/>
                <a:cs typeface="Trebuchet MS"/>
              </a:rPr>
              <a:t>view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real-</a:t>
            </a:r>
            <a:r>
              <a:rPr dirty="0" sz="2400">
                <a:latin typeface="Trebuchet MS"/>
                <a:cs typeface="Trebuchet MS"/>
              </a:rPr>
              <a:t>time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predictions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check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metrics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quickly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assess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network's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security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status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and </a:t>
            </a:r>
            <a:r>
              <a:rPr dirty="0" sz="2400">
                <a:latin typeface="Trebuchet MS"/>
                <a:cs typeface="Trebuchet MS"/>
              </a:rPr>
              <a:t>validate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model's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alerts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before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escalating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incident.</a:t>
            </a:r>
            <a:endParaRPr sz="2400">
              <a:latin typeface="Trebuchet MS"/>
              <a:cs typeface="Trebuchet MS"/>
            </a:endParaRPr>
          </a:p>
          <a:p>
            <a:pPr marL="560705" marR="24130">
              <a:lnSpc>
                <a:spcPts val="2850"/>
              </a:lnSpc>
              <a:spcBef>
                <a:spcPts val="1125"/>
              </a:spcBef>
            </a:pPr>
            <a:r>
              <a:rPr dirty="0" sz="2400" b="1">
                <a:latin typeface="Trebuchet MS"/>
                <a:cs typeface="Trebuchet MS"/>
              </a:rPr>
              <a:t>Data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Scientists/Machine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Learning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Engineers:</a:t>
            </a:r>
            <a:r>
              <a:rPr dirty="0" sz="2400" spc="-80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They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would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dashboard's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interactive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features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(number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trees,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training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data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size,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mode)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detailed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performance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metrics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(detected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threats,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accuracy </a:t>
            </a:r>
            <a:r>
              <a:rPr dirty="0" sz="2400">
                <a:latin typeface="Trebuchet MS"/>
                <a:cs typeface="Trebuchet MS"/>
              </a:rPr>
              <a:t>scores,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mean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errors,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classification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reports,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confusion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matrices)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train,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tune,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validate,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compare </a:t>
            </a:r>
            <a:r>
              <a:rPr dirty="0" sz="2400">
                <a:latin typeface="Trebuchet MS"/>
                <a:cs typeface="Trebuchet MS"/>
              </a:rPr>
              <a:t>different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iterations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Random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Forest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model.</a:t>
            </a:r>
            <a:endParaRPr sz="2400">
              <a:latin typeface="Trebuchet MS"/>
              <a:cs typeface="Trebuchet MS"/>
            </a:endParaRPr>
          </a:p>
          <a:p>
            <a:pPr marL="560705" marR="499109">
              <a:lnSpc>
                <a:spcPts val="2850"/>
              </a:lnSpc>
              <a:spcBef>
                <a:spcPts val="1125"/>
              </a:spcBef>
            </a:pPr>
            <a:r>
              <a:rPr dirty="0" sz="2400" b="1">
                <a:latin typeface="Trebuchet MS"/>
                <a:cs typeface="Trebuchet MS"/>
              </a:rPr>
              <a:t>Network</a:t>
            </a:r>
            <a:r>
              <a:rPr dirty="0" sz="2400" spc="-65" b="1">
                <a:latin typeface="Trebuchet MS"/>
                <a:cs typeface="Trebuchet MS"/>
              </a:rPr>
              <a:t> </a:t>
            </a:r>
            <a:r>
              <a:rPr dirty="0" sz="2400" spc="-10" b="1">
                <a:latin typeface="Trebuchet MS"/>
                <a:cs typeface="Trebuchet MS"/>
              </a:rPr>
              <a:t>Engineers/Administrators:</a:t>
            </a:r>
            <a:r>
              <a:rPr dirty="0" sz="2400" spc="-60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They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would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primarily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dashboard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gain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high-</a:t>
            </a:r>
            <a:r>
              <a:rPr dirty="0" sz="2400">
                <a:latin typeface="Trebuchet MS"/>
                <a:cs typeface="Trebuchet MS"/>
              </a:rPr>
              <a:t>level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visibility </a:t>
            </a:r>
            <a:r>
              <a:rPr dirty="0" sz="2400">
                <a:latin typeface="Trebuchet MS"/>
                <a:cs typeface="Trebuchet MS"/>
              </a:rPr>
              <a:t>into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network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traffic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patterns,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especially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using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Live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Traffic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Simulator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test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how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specific,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known- </a:t>
            </a:r>
            <a:r>
              <a:rPr dirty="0" sz="2400">
                <a:latin typeface="Trebuchet MS"/>
                <a:cs typeface="Trebuchet MS"/>
              </a:rPr>
              <a:t>suspicious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packet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characteristics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would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flagged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by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AI.</a:t>
            </a:r>
            <a:endParaRPr sz="2400">
              <a:latin typeface="Trebuchet MS"/>
              <a:cs typeface="Trebuchet MS"/>
            </a:endParaRPr>
          </a:p>
          <a:p>
            <a:pPr marL="560705" marR="451484">
              <a:lnSpc>
                <a:spcPts val="2850"/>
              </a:lnSpc>
              <a:spcBef>
                <a:spcPts val="1125"/>
              </a:spcBef>
            </a:pPr>
            <a:r>
              <a:rPr dirty="0" sz="2400" b="1">
                <a:latin typeface="Trebuchet MS"/>
                <a:cs typeface="Trebuchet MS"/>
              </a:rPr>
              <a:t>Project</a:t>
            </a:r>
            <a:r>
              <a:rPr dirty="0" sz="2400" spc="-70" b="1">
                <a:latin typeface="Trebuchet MS"/>
                <a:cs typeface="Trebuchet MS"/>
              </a:rPr>
              <a:t> </a:t>
            </a:r>
            <a:r>
              <a:rPr dirty="0" sz="2400" spc="-10" b="1">
                <a:latin typeface="Trebuchet MS"/>
                <a:cs typeface="Trebuchet MS"/>
              </a:rPr>
              <a:t>Managers/Stakeholders</a:t>
            </a:r>
            <a:r>
              <a:rPr dirty="0" sz="2400" spc="-10">
                <a:latin typeface="Trebuchet MS"/>
                <a:cs typeface="Trebuchet MS"/>
              </a:rPr>
              <a:t>: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They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would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review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high-</a:t>
            </a:r>
            <a:r>
              <a:rPr dirty="0" sz="2400">
                <a:latin typeface="Trebuchet MS"/>
                <a:cs typeface="Trebuchet MS"/>
              </a:rPr>
              <a:t>level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performance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metrics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(Test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Accuracy, </a:t>
            </a:r>
            <a:r>
              <a:rPr dirty="0" sz="2400">
                <a:latin typeface="Trebuchet MS"/>
                <a:cs typeface="Trebuchet MS"/>
              </a:rPr>
              <a:t>Threats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Detected)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assess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effectiveness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readiness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intrusion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detection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capability.</a:t>
            </a:r>
            <a:endParaRPr sz="2400">
              <a:latin typeface="Trebuchet MS"/>
              <a:cs typeface="Trebuchet MS"/>
            </a:endParaRPr>
          </a:p>
          <a:p>
            <a:pPr marL="560705" marR="5080">
              <a:lnSpc>
                <a:spcPts val="2850"/>
              </a:lnSpc>
              <a:spcBef>
                <a:spcPts val="1125"/>
              </a:spcBef>
            </a:pPr>
            <a:r>
              <a:rPr dirty="0" sz="2400" spc="-10" b="1">
                <a:latin typeface="Trebuchet MS"/>
                <a:cs typeface="Trebuchet MS"/>
              </a:rPr>
              <a:t>Students/Researchers:</a:t>
            </a:r>
            <a:r>
              <a:rPr dirty="0" sz="2400" spc="-75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Given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its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dashboard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format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simulation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mode,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it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excellent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educational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or </a:t>
            </a:r>
            <a:r>
              <a:rPr dirty="0" sz="2400">
                <a:latin typeface="Trebuchet MS"/>
                <a:cs typeface="Trebuchet MS"/>
              </a:rPr>
              <a:t>research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tool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those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studying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machine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learning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cybersecurity,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allowing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them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easily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load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data,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train,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test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NIDS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model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without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complex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setup.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044245" y="664893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542925" h="542925">
                <a:moveTo>
                  <a:pt x="271454" y="542924"/>
                </a:moveTo>
                <a:lnTo>
                  <a:pt x="222657" y="538551"/>
                </a:lnTo>
                <a:lnTo>
                  <a:pt x="176731" y="525941"/>
                </a:lnTo>
                <a:lnTo>
                  <a:pt x="134441" y="505862"/>
                </a:lnTo>
                <a:lnTo>
                  <a:pt x="96555" y="479079"/>
                </a:lnTo>
                <a:lnTo>
                  <a:pt x="63839" y="446361"/>
                </a:lnTo>
                <a:lnTo>
                  <a:pt x="37059" y="408473"/>
                </a:lnTo>
                <a:lnTo>
                  <a:pt x="16981" y="366183"/>
                </a:lnTo>
                <a:lnTo>
                  <a:pt x="4373" y="320256"/>
                </a:lnTo>
                <a:lnTo>
                  <a:pt x="0" y="271460"/>
                </a:lnTo>
                <a:lnTo>
                  <a:pt x="4373" y="222665"/>
                </a:lnTo>
                <a:lnTo>
                  <a:pt x="16981" y="176740"/>
                </a:lnTo>
                <a:lnTo>
                  <a:pt x="37059" y="134450"/>
                </a:lnTo>
                <a:lnTo>
                  <a:pt x="63839" y="96562"/>
                </a:lnTo>
                <a:lnTo>
                  <a:pt x="96555" y="63844"/>
                </a:lnTo>
                <a:lnTo>
                  <a:pt x="134441" y="37062"/>
                </a:lnTo>
                <a:lnTo>
                  <a:pt x="176731" y="16983"/>
                </a:lnTo>
                <a:lnTo>
                  <a:pt x="222657" y="4373"/>
                </a:lnTo>
                <a:lnTo>
                  <a:pt x="271454" y="0"/>
                </a:lnTo>
                <a:lnTo>
                  <a:pt x="320252" y="4373"/>
                </a:lnTo>
                <a:lnTo>
                  <a:pt x="366178" y="16983"/>
                </a:lnTo>
                <a:lnTo>
                  <a:pt x="408468" y="37062"/>
                </a:lnTo>
                <a:lnTo>
                  <a:pt x="446354" y="63844"/>
                </a:lnTo>
                <a:lnTo>
                  <a:pt x="479070" y="96562"/>
                </a:lnTo>
                <a:lnTo>
                  <a:pt x="505850" y="134450"/>
                </a:lnTo>
                <a:lnTo>
                  <a:pt x="525928" y="176740"/>
                </a:lnTo>
                <a:lnTo>
                  <a:pt x="538536" y="222665"/>
                </a:lnTo>
                <a:lnTo>
                  <a:pt x="542909" y="271460"/>
                </a:lnTo>
                <a:lnTo>
                  <a:pt x="538536" y="320256"/>
                </a:lnTo>
                <a:lnTo>
                  <a:pt x="525928" y="366183"/>
                </a:lnTo>
                <a:lnTo>
                  <a:pt x="505850" y="408473"/>
                </a:lnTo>
                <a:lnTo>
                  <a:pt x="479070" y="446361"/>
                </a:lnTo>
                <a:lnTo>
                  <a:pt x="446354" y="479079"/>
                </a:lnTo>
                <a:lnTo>
                  <a:pt x="408468" y="505862"/>
                </a:lnTo>
                <a:lnTo>
                  <a:pt x="366178" y="525941"/>
                </a:lnTo>
                <a:lnTo>
                  <a:pt x="320252" y="538551"/>
                </a:lnTo>
                <a:lnTo>
                  <a:pt x="271454" y="54292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510865" y="8409004"/>
            <a:ext cx="981710" cy="981710"/>
          </a:xfrm>
          <a:custGeom>
            <a:avLst/>
            <a:gdLst/>
            <a:ahLst/>
            <a:cxnLst/>
            <a:rect l="l" t="t" r="r" b="b"/>
            <a:pathLst>
              <a:path w="981709" h="981709">
                <a:moveTo>
                  <a:pt x="490636" y="981242"/>
                </a:moveTo>
                <a:lnTo>
                  <a:pt x="443385" y="978996"/>
                </a:lnTo>
                <a:lnTo>
                  <a:pt x="397405" y="972396"/>
                </a:lnTo>
                <a:lnTo>
                  <a:pt x="352901" y="961647"/>
                </a:lnTo>
                <a:lnTo>
                  <a:pt x="310078" y="946955"/>
                </a:lnTo>
                <a:lnTo>
                  <a:pt x="269144" y="928525"/>
                </a:lnTo>
                <a:lnTo>
                  <a:pt x="230302" y="906562"/>
                </a:lnTo>
                <a:lnTo>
                  <a:pt x="193759" y="881273"/>
                </a:lnTo>
                <a:lnTo>
                  <a:pt x="159721" y="852863"/>
                </a:lnTo>
                <a:lnTo>
                  <a:pt x="128392" y="821537"/>
                </a:lnTo>
                <a:lnTo>
                  <a:pt x="99980" y="787502"/>
                </a:lnTo>
                <a:lnTo>
                  <a:pt x="74688" y="750961"/>
                </a:lnTo>
                <a:lnTo>
                  <a:pt x="52723" y="712122"/>
                </a:lnTo>
                <a:lnTo>
                  <a:pt x="34291" y="671189"/>
                </a:lnTo>
                <a:lnTo>
                  <a:pt x="19597" y="628369"/>
                </a:lnTo>
                <a:lnTo>
                  <a:pt x="8847" y="583866"/>
                </a:lnTo>
                <a:lnTo>
                  <a:pt x="2246" y="537887"/>
                </a:lnTo>
                <a:lnTo>
                  <a:pt x="0" y="490636"/>
                </a:lnTo>
                <a:lnTo>
                  <a:pt x="2246" y="443380"/>
                </a:lnTo>
                <a:lnTo>
                  <a:pt x="8847" y="397396"/>
                </a:lnTo>
                <a:lnTo>
                  <a:pt x="19597" y="352890"/>
                </a:lnTo>
                <a:lnTo>
                  <a:pt x="34291" y="310066"/>
                </a:lnTo>
                <a:lnTo>
                  <a:pt x="52723" y="269130"/>
                </a:lnTo>
                <a:lnTo>
                  <a:pt x="74688" y="230289"/>
                </a:lnTo>
                <a:lnTo>
                  <a:pt x="99980" y="193746"/>
                </a:lnTo>
                <a:lnTo>
                  <a:pt x="128392" y="159709"/>
                </a:lnTo>
                <a:lnTo>
                  <a:pt x="159721" y="128382"/>
                </a:lnTo>
                <a:lnTo>
                  <a:pt x="193759" y="99970"/>
                </a:lnTo>
                <a:lnTo>
                  <a:pt x="230302" y="74681"/>
                </a:lnTo>
                <a:lnTo>
                  <a:pt x="269144" y="52718"/>
                </a:lnTo>
                <a:lnTo>
                  <a:pt x="310078" y="34287"/>
                </a:lnTo>
                <a:lnTo>
                  <a:pt x="352901" y="19595"/>
                </a:lnTo>
                <a:lnTo>
                  <a:pt x="397405" y="8845"/>
                </a:lnTo>
                <a:lnTo>
                  <a:pt x="443385" y="2245"/>
                </a:lnTo>
                <a:lnTo>
                  <a:pt x="490636" y="0"/>
                </a:lnTo>
                <a:lnTo>
                  <a:pt x="537892" y="2245"/>
                </a:lnTo>
                <a:lnTo>
                  <a:pt x="583876" y="8845"/>
                </a:lnTo>
                <a:lnTo>
                  <a:pt x="628382" y="19595"/>
                </a:lnTo>
                <a:lnTo>
                  <a:pt x="671206" y="34287"/>
                </a:lnTo>
                <a:lnTo>
                  <a:pt x="712142" y="52718"/>
                </a:lnTo>
                <a:lnTo>
                  <a:pt x="750983" y="74681"/>
                </a:lnTo>
                <a:lnTo>
                  <a:pt x="787526" y="99970"/>
                </a:lnTo>
                <a:lnTo>
                  <a:pt x="821563" y="128382"/>
                </a:lnTo>
                <a:lnTo>
                  <a:pt x="852890" y="159709"/>
                </a:lnTo>
                <a:lnTo>
                  <a:pt x="881302" y="193746"/>
                </a:lnTo>
                <a:lnTo>
                  <a:pt x="906591" y="230289"/>
                </a:lnTo>
                <a:lnTo>
                  <a:pt x="928554" y="269130"/>
                </a:lnTo>
                <a:lnTo>
                  <a:pt x="946985" y="310066"/>
                </a:lnTo>
                <a:lnTo>
                  <a:pt x="961678" y="352890"/>
                </a:lnTo>
                <a:lnTo>
                  <a:pt x="972427" y="397396"/>
                </a:lnTo>
                <a:lnTo>
                  <a:pt x="979027" y="443380"/>
                </a:lnTo>
                <a:lnTo>
                  <a:pt x="981273" y="490636"/>
                </a:lnTo>
                <a:lnTo>
                  <a:pt x="979027" y="537887"/>
                </a:lnTo>
                <a:lnTo>
                  <a:pt x="972427" y="583866"/>
                </a:lnTo>
                <a:lnTo>
                  <a:pt x="961678" y="628369"/>
                </a:lnTo>
                <a:lnTo>
                  <a:pt x="946985" y="671189"/>
                </a:lnTo>
                <a:lnTo>
                  <a:pt x="928554" y="712122"/>
                </a:lnTo>
                <a:lnTo>
                  <a:pt x="906591" y="750961"/>
                </a:lnTo>
                <a:lnTo>
                  <a:pt x="881302" y="787502"/>
                </a:lnTo>
                <a:lnTo>
                  <a:pt x="852890" y="821537"/>
                </a:lnTo>
                <a:lnTo>
                  <a:pt x="821563" y="852863"/>
                </a:lnTo>
                <a:lnTo>
                  <a:pt x="787526" y="881273"/>
                </a:lnTo>
                <a:lnTo>
                  <a:pt x="750983" y="906562"/>
                </a:lnTo>
                <a:lnTo>
                  <a:pt x="712142" y="928525"/>
                </a:lnTo>
                <a:lnTo>
                  <a:pt x="671206" y="946955"/>
                </a:lnTo>
                <a:lnTo>
                  <a:pt x="628382" y="961647"/>
                </a:lnTo>
                <a:lnTo>
                  <a:pt x="583876" y="972396"/>
                </a:lnTo>
                <a:lnTo>
                  <a:pt x="537892" y="978996"/>
                </a:lnTo>
                <a:lnTo>
                  <a:pt x="490636" y="981242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025682" y="919865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396" y="376702"/>
                </a:moveTo>
                <a:lnTo>
                  <a:pt x="138378" y="369984"/>
                </a:lnTo>
                <a:lnTo>
                  <a:pt x="93380" y="351020"/>
                </a:lnTo>
                <a:lnTo>
                  <a:pt x="55243" y="321594"/>
                </a:lnTo>
                <a:lnTo>
                  <a:pt x="25764" y="283492"/>
                </a:lnTo>
                <a:lnTo>
                  <a:pt x="6746" y="238498"/>
                </a:lnTo>
                <a:lnTo>
                  <a:pt x="0" y="188396"/>
                </a:lnTo>
                <a:lnTo>
                  <a:pt x="6726" y="138299"/>
                </a:lnTo>
                <a:lnTo>
                  <a:pt x="25712" y="93291"/>
                </a:lnTo>
                <a:lnTo>
                  <a:pt x="55164" y="55164"/>
                </a:lnTo>
                <a:lnTo>
                  <a:pt x="93291" y="25712"/>
                </a:lnTo>
                <a:lnTo>
                  <a:pt x="138299" y="6726"/>
                </a:lnTo>
                <a:lnTo>
                  <a:pt x="188396" y="0"/>
                </a:lnTo>
                <a:lnTo>
                  <a:pt x="238500" y="6726"/>
                </a:lnTo>
                <a:lnTo>
                  <a:pt x="283500" y="25712"/>
                </a:lnTo>
                <a:lnTo>
                  <a:pt x="321609" y="55164"/>
                </a:lnTo>
                <a:lnTo>
                  <a:pt x="351042" y="93291"/>
                </a:lnTo>
                <a:lnTo>
                  <a:pt x="370012" y="138299"/>
                </a:lnTo>
                <a:lnTo>
                  <a:pt x="376732" y="188396"/>
                </a:lnTo>
                <a:lnTo>
                  <a:pt x="370006" y="238498"/>
                </a:lnTo>
                <a:lnTo>
                  <a:pt x="351022" y="283492"/>
                </a:lnTo>
                <a:lnTo>
                  <a:pt x="321575" y="321594"/>
                </a:lnTo>
                <a:lnTo>
                  <a:pt x="283459" y="351020"/>
                </a:lnTo>
                <a:lnTo>
                  <a:pt x="238468" y="369984"/>
                </a:lnTo>
                <a:lnTo>
                  <a:pt x="188396" y="376702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6200" y="472496"/>
            <a:ext cx="16335375" cy="9772650"/>
            <a:chOff x="76200" y="472496"/>
            <a:chExt cx="16335375" cy="977265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5730239"/>
              <a:ext cx="2590799" cy="45148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04" y="472496"/>
              <a:ext cx="15382877" cy="936503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58900" y="393065"/>
            <a:ext cx="725741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73980" algn="l"/>
              </a:tabLst>
            </a:pPr>
            <a:r>
              <a:rPr dirty="0" sz="7200" spc="-10"/>
              <a:t>Technology</a:t>
            </a:r>
            <a:r>
              <a:rPr dirty="0" sz="7200"/>
              <a:t>	</a:t>
            </a:r>
            <a:r>
              <a:rPr dirty="0" sz="7200" spc="-20"/>
              <a:t>Used</a:t>
            </a:r>
            <a:endParaRPr sz="7200"/>
          </a:p>
        </p:txBody>
      </p:sp>
      <p:sp>
        <p:nvSpPr>
          <p:cNvPr id="9" name="object 9" descr=""/>
          <p:cNvSpPr txBox="1"/>
          <p:nvPr/>
        </p:nvSpPr>
        <p:spPr>
          <a:xfrm>
            <a:off x="9281771" y="2390909"/>
            <a:ext cx="6483985" cy="673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3855" indent="-351155">
              <a:lnSpc>
                <a:spcPts val="3329"/>
              </a:lnSpc>
              <a:spcBef>
                <a:spcPts val="100"/>
              </a:spcBef>
              <a:buFont typeface="Trebuchet MS"/>
              <a:buAutoNum type="arabicPeriod"/>
              <a:tabLst>
                <a:tab pos="363855" algn="l"/>
              </a:tabLst>
            </a:pPr>
            <a:r>
              <a:rPr dirty="0" sz="2800" b="1">
                <a:latin typeface="Trebuchet MS"/>
                <a:cs typeface="Trebuchet MS"/>
              </a:rPr>
              <a:t>LANGUAGE:</a:t>
            </a:r>
            <a:r>
              <a:rPr dirty="0" sz="2800" spc="-135" b="1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Python</a:t>
            </a:r>
            <a:endParaRPr sz="2800">
              <a:latin typeface="Trebuchet MS"/>
              <a:cs typeface="Trebuchet MS"/>
            </a:endParaRPr>
          </a:p>
          <a:p>
            <a:pPr marL="363855" indent="-351155">
              <a:lnSpc>
                <a:spcPts val="3300"/>
              </a:lnSpc>
              <a:buFont typeface="Trebuchet MS"/>
              <a:buAutoNum type="arabicPeriod"/>
              <a:tabLst>
                <a:tab pos="363855" algn="l"/>
              </a:tabLst>
            </a:pPr>
            <a:r>
              <a:rPr dirty="0" sz="2800" b="1">
                <a:latin typeface="Trebuchet MS"/>
                <a:cs typeface="Trebuchet MS"/>
              </a:rPr>
              <a:t>ALGORITHM</a:t>
            </a:r>
            <a:r>
              <a:rPr dirty="0" sz="2800" spc="-100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FOR</a:t>
            </a:r>
            <a:r>
              <a:rPr dirty="0" sz="2800" spc="-100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MACHINE</a:t>
            </a:r>
            <a:r>
              <a:rPr dirty="0" sz="2800" spc="-100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LEARNING</a:t>
            </a:r>
            <a:endParaRPr sz="2800">
              <a:latin typeface="Trebuchet MS"/>
              <a:cs typeface="Trebuchet MS"/>
            </a:endParaRPr>
          </a:p>
          <a:p>
            <a:pPr marL="365125" marR="48895">
              <a:lnSpc>
                <a:spcPts val="3300"/>
              </a:lnSpc>
              <a:spcBef>
                <a:spcPts val="130"/>
              </a:spcBef>
            </a:pPr>
            <a:r>
              <a:rPr dirty="0" sz="2800" b="1">
                <a:latin typeface="Trebuchet MS"/>
                <a:cs typeface="Trebuchet MS"/>
              </a:rPr>
              <a:t>AND</a:t>
            </a:r>
            <a:r>
              <a:rPr dirty="0" sz="2800" spc="-75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CLASSIFICATION:</a:t>
            </a:r>
            <a:r>
              <a:rPr dirty="0" sz="2800" spc="-70" b="1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Random</a:t>
            </a:r>
            <a:r>
              <a:rPr dirty="0" sz="2800" spc="-7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Forest Classifier</a:t>
            </a:r>
            <a:endParaRPr sz="2800">
              <a:latin typeface="Trebuchet MS"/>
              <a:cs typeface="Trebuchet MS"/>
            </a:endParaRPr>
          </a:p>
          <a:p>
            <a:pPr marL="363855" marR="269240" indent="-351155">
              <a:lnSpc>
                <a:spcPts val="3300"/>
              </a:lnSpc>
              <a:buFont typeface="Trebuchet MS"/>
              <a:buAutoNum type="arabicPeriod" startAt="3"/>
              <a:tabLst>
                <a:tab pos="365125" algn="l"/>
              </a:tabLst>
            </a:pPr>
            <a:r>
              <a:rPr dirty="0" sz="2800" b="1">
                <a:latin typeface="Trebuchet MS"/>
                <a:cs typeface="Trebuchet MS"/>
              </a:rPr>
              <a:t>DEPLOYMENT:</a:t>
            </a:r>
            <a:r>
              <a:rPr dirty="0" sz="2800" spc="-140" b="1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Streamlit</a:t>
            </a:r>
            <a:r>
              <a:rPr dirty="0" sz="2800" spc="-13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Community 	Cloud</a:t>
            </a:r>
            <a:endParaRPr sz="2800">
              <a:latin typeface="Trebuchet MS"/>
              <a:cs typeface="Trebuchet MS"/>
            </a:endParaRPr>
          </a:p>
          <a:p>
            <a:pPr marL="363855" indent="-351155">
              <a:lnSpc>
                <a:spcPts val="3170"/>
              </a:lnSpc>
              <a:buFont typeface="Trebuchet MS"/>
              <a:buAutoNum type="arabicPeriod" startAt="3"/>
              <a:tabLst>
                <a:tab pos="363855" algn="l"/>
              </a:tabLst>
            </a:pPr>
            <a:r>
              <a:rPr dirty="0" sz="2800" b="1">
                <a:latin typeface="Trebuchet MS"/>
                <a:cs typeface="Trebuchet MS"/>
              </a:rPr>
              <a:t>DATASET</a:t>
            </a:r>
            <a:r>
              <a:rPr dirty="0" sz="2800" spc="-85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STORAGE:</a:t>
            </a:r>
            <a:r>
              <a:rPr dirty="0" sz="2800" spc="-75" b="1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Google</a:t>
            </a:r>
            <a:r>
              <a:rPr dirty="0" sz="2800" spc="-8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Drive</a:t>
            </a:r>
            <a:endParaRPr sz="2800">
              <a:latin typeface="Trebuchet MS"/>
              <a:cs typeface="Trebuchet MS"/>
            </a:endParaRPr>
          </a:p>
          <a:p>
            <a:pPr marL="363855" marR="1174750" indent="-351155">
              <a:lnSpc>
                <a:spcPts val="3300"/>
              </a:lnSpc>
              <a:spcBef>
                <a:spcPts val="130"/>
              </a:spcBef>
              <a:buFont typeface="Trebuchet MS"/>
              <a:buAutoNum type="arabicPeriod" startAt="3"/>
              <a:tabLst>
                <a:tab pos="365125" algn="l"/>
              </a:tabLst>
            </a:pPr>
            <a:r>
              <a:rPr dirty="0" sz="2800" b="1">
                <a:latin typeface="Trebuchet MS"/>
                <a:cs typeface="Trebuchet MS"/>
              </a:rPr>
              <a:t>DATASETS</a:t>
            </a:r>
            <a:r>
              <a:rPr dirty="0" sz="2800" spc="-105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FOR</a:t>
            </a:r>
            <a:r>
              <a:rPr dirty="0" sz="2800" spc="-100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TRAINING</a:t>
            </a:r>
            <a:r>
              <a:rPr dirty="0" sz="2800" spc="-100" b="1">
                <a:latin typeface="Trebuchet MS"/>
                <a:cs typeface="Trebuchet MS"/>
              </a:rPr>
              <a:t> </a:t>
            </a:r>
            <a:r>
              <a:rPr dirty="0" sz="2800" spc="-25" b="1">
                <a:latin typeface="Trebuchet MS"/>
                <a:cs typeface="Trebuchet MS"/>
              </a:rPr>
              <a:t>AND </a:t>
            </a:r>
            <a:r>
              <a:rPr dirty="0" sz="2800" spc="-25" b="1">
                <a:latin typeface="Trebuchet MS"/>
                <a:cs typeface="Trebuchet MS"/>
              </a:rPr>
              <a:t>	</a:t>
            </a:r>
            <a:r>
              <a:rPr dirty="0" sz="2800" spc="-10" b="1">
                <a:latin typeface="Trebuchet MS"/>
                <a:cs typeface="Trebuchet MS"/>
              </a:rPr>
              <a:t>TESTING:-</a:t>
            </a:r>
            <a:endParaRPr sz="2800">
              <a:latin typeface="Trebuchet MS"/>
              <a:cs typeface="Trebuchet MS"/>
            </a:endParaRPr>
          </a:p>
          <a:p>
            <a:pPr marL="365125" marR="5080">
              <a:lnSpc>
                <a:spcPts val="3300"/>
              </a:lnSpc>
            </a:pPr>
            <a:r>
              <a:rPr dirty="0" sz="2800">
                <a:latin typeface="Trebuchet MS"/>
                <a:cs typeface="Trebuchet MS"/>
              </a:rPr>
              <a:t>Instantaneous</a:t>
            </a:r>
            <a:r>
              <a:rPr dirty="0" sz="2800" spc="-13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simulated</a:t>
            </a:r>
            <a:r>
              <a:rPr dirty="0" sz="2800" spc="-13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dataset </a:t>
            </a:r>
            <a:r>
              <a:rPr dirty="0" sz="2800">
                <a:latin typeface="Trebuchet MS"/>
                <a:cs typeface="Trebuchet MS"/>
              </a:rPr>
              <a:t>Intrusion</a:t>
            </a:r>
            <a:r>
              <a:rPr dirty="0" sz="2800" spc="-10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detection</a:t>
            </a:r>
            <a:r>
              <a:rPr dirty="0" sz="2800" spc="-10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evaluation</a:t>
            </a:r>
            <a:r>
              <a:rPr dirty="0" sz="2800" spc="-9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dataset </a:t>
            </a:r>
            <a:r>
              <a:rPr dirty="0" sz="2800" spc="-20">
                <a:latin typeface="Trebuchet MS"/>
                <a:cs typeface="Trebuchet MS"/>
              </a:rPr>
              <a:t>(CIC-</a:t>
            </a:r>
            <a:r>
              <a:rPr dirty="0" sz="2800">
                <a:latin typeface="Trebuchet MS"/>
                <a:cs typeface="Trebuchet MS"/>
              </a:rPr>
              <a:t>IDS2017):</a:t>
            </a:r>
            <a:r>
              <a:rPr dirty="0" sz="2800" spc="30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Friday-</a:t>
            </a:r>
            <a:r>
              <a:rPr dirty="0" sz="2800" spc="-10">
                <a:latin typeface="Trebuchet MS"/>
                <a:cs typeface="Trebuchet MS"/>
              </a:rPr>
              <a:t>WorkingHours- Afternoon-DDos.pcap_ISCX.csv</a:t>
            </a:r>
            <a:endParaRPr sz="2800">
              <a:latin typeface="Trebuchet MS"/>
              <a:cs typeface="Trebuchet MS"/>
            </a:endParaRPr>
          </a:p>
          <a:p>
            <a:pPr marL="363855" indent="-351155">
              <a:lnSpc>
                <a:spcPts val="3170"/>
              </a:lnSpc>
              <a:buFont typeface="Trebuchet MS"/>
              <a:buAutoNum type="arabicPeriod" startAt="6"/>
              <a:tabLst>
                <a:tab pos="363855" algn="l"/>
              </a:tabLst>
            </a:pPr>
            <a:r>
              <a:rPr dirty="0" sz="2800" b="1">
                <a:latin typeface="Trebuchet MS"/>
                <a:cs typeface="Trebuchet MS"/>
              </a:rPr>
              <a:t>VERSION</a:t>
            </a:r>
            <a:r>
              <a:rPr dirty="0" sz="2800" spc="-105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CONTROL</a:t>
            </a:r>
            <a:r>
              <a:rPr dirty="0" sz="2800" spc="-105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SYSTEM:</a:t>
            </a:r>
            <a:r>
              <a:rPr dirty="0" sz="2800" spc="-105" b="1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Git</a:t>
            </a:r>
            <a:endParaRPr sz="2800">
              <a:latin typeface="Trebuchet MS"/>
              <a:cs typeface="Trebuchet MS"/>
            </a:endParaRPr>
          </a:p>
          <a:p>
            <a:pPr marL="363855" indent="-351155">
              <a:lnSpc>
                <a:spcPts val="3300"/>
              </a:lnSpc>
              <a:buFont typeface="Trebuchet MS"/>
              <a:buAutoNum type="arabicPeriod" startAt="6"/>
              <a:tabLst>
                <a:tab pos="363855" algn="l"/>
              </a:tabLst>
            </a:pPr>
            <a:r>
              <a:rPr dirty="0" sz="2800" b="1">
                <a:latin typeface="Trebuchet MS"/>
                <a:cs typeface="Trebuchet MS"/>
              </a:rPr>
              <a:t>PROJECT</a:t>
            </a:r>
            <a:r>
              <a:rPr dirty="0" sz="2800" spc="-80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CODE</a:t>
            </a:r>
            <a:r>
              <a:rPr dirty="0" sz="2800" spc="-80" b="1">
                <a:latin typeface="Trebuchet MS"/>
                <a:cs typeface="Trebuchet MS"/>
              </a:rPr>
              <a:t> </a:t>
            </a:r>
            <a:r>
              <a:rPr dirty="0" sz="2800" b="1">
                <a:latin typeface="Trebuchet MS"/>
                <a:cs typeface="Trebuchet MS"/>
              </a:rPr>
              <a:t>STORAGE:</a:t>
            </a:r>
            <a:r>
              <a:rPr dirty="0" sz="2800" spc="-75" b="1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GitHub</a:t>
            </a:r>
            <a:endParaRPr sz="2800">
              <a:latin typeface="Trebuchet MS"/>
              <a:cs typeface="Trebuchet MS"/>
            </a:endParaRPr>
          </a:p>
          <a:p>
            <a:pPr marL="363855" indent="-351155">
              <a:lnSpc>
                <a:spcPts val="3329"/>
              </a:lnSpc>
              <a:buFont typeface="Trebuchet MS"/>
              <a:buAutoNum type="arabicPeriod" startAt="6"/>
              <a:tabLst>
                <a:tab pos="363855" algn="l"/>
              </a:tabLst>
            </a:pPr>
            <a:r>
              <a:rPr dirty="0" sz="2800" b="1">
                <a:latin typeface="Trebuchet MS"/>
                <a:cs typeface="Trebuchet MS"/>
              </a:rPr>
              <a:t>IDE:</a:t>
            </a:r>
            <a:r>
              <a:rPr dirty="0" sz="2800" spc="-65" b="1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Visual</a:t>
            </a:r>
            <a:r>
              <a:rPr dirty="0" sz="2800" spc="-6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Studio</a:t>
            </a:r>
            <a:r>
              <a:rPr dirty="0" sz="2800" spc="-65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Code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95990" y="2227106"/>
            <a:ext cx="2754630" cy="496633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4000" spc="-10" b="1">
                <a:latin typeface="Trebuchet MS"/>
                <a:cs typeface="Trebuchet MS"/>
              </a:rPr>
              <a:t>LIBRARIES:-</a:t>
            </a:r>
            <a:endParaRPr sz="4000">
              <a:latin typeface="Trebuchet MS"/>
              <a:cs typeface="Trebuchet MS"/>
            </a:endParaRPr>
          </a:p>
          <a:p>
            <a:pPr marL="743585" marR="153035">
              <a:lnSpc>
                <a:spcPts val="3829"/>
              </a:lnSpc>
              <a:spcBef>
                <a:spcPts val="1690"/>
              </a:spcBef>
            </a:pPr>
            <a:r>
              <a:rPr dirty="0" sz="3200" spc="-10">
                <a:latin typeface="Trebuchet MS"/>
                <a:cs typeface="Trebuchet MS"/>
              </a:rPr>
              <a:t>Numpy Pandas Matplotlib Scikit- learn Requests </a:t>
            </a:r>
            <a:r>
              <a:rPr dirty="0" sz="3200" spc="-25">
                <a:latin typeface="Trebuchet MS"/>
                <a:cs typeface="Trebuchet MS"/>
              </a:rPr>
              <a:t>IO</a:t>
            </a:r>
            <a:endParaRPr sz="3200">
              <a:latin typeface="Trebuchet MS"/>
              <a:cs typeface="Trebuchet MS"/>
            </a:endParaRPr>
          </a:p>
          <a:p>
            <a:pPr marL="743585">
              <a:lnSpc>
                <a:spcPts val="3670"/>
              </a:lnSpc>
            </a:pPr>
            <a:r>
              <a:rPr dirty="0" sz="3200" spc="-10">
                <a:latin typeface="Trebuchet MS"/>
                <a:cs typeface="Trebuchet MS"/>
              </a:rPr>
              <a:t>Streamlit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97515" y="2473434"/>
            <a:ext cx="3479800" cy="580580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65405">
              <a:lnSpc>
                <a:spcPts val="4730"/>
              </a:lnSpc>
              <a:spcBef>
                <a:spcPts val="315"/>
              </a:spcBef>
            </a:pPr>
            <a:r>
              <a:rPr dirty="0" sz="4000" b="1">
                <a:latin typeface="Trebuchet MS"/>
                <a:cs typeface="Trebuchet MS"/>
              </a:rPr>
              <a:t>KEY</a:t>
            </a:r>
            <a:r>
              <a:rPr dirty="0" sz="4000" spc="-40" b="1">
                <a:latin typeface="Trebuchet MS"/>
                <a:cs typeface="Trebuchet MS"/>
              </a:rPr>
              <a:t> </a:t>
            </a:r>
            <a:r>
              <a:rPr dirty="0" sz="4000" spc="-10" b="1">
                <a:latin typeface="Trebuchet MS"/>
                <a:cs typeface="Trebuchet MS"/>
              </a:rPr>
              <a:t>METRICS EVALUATION:-</a:t>
            </a:r>
            <a:endParaRPr sz="4000">
              <a:latin typeface="Trebuchet MS"/>
              <a:cs typeface="Trebuchet MS"/>
            </a:endParaRPr>
          </a:p>
          <a:p>
            <a:pPr algn="just" marL="743585" marR="5080">
              <a:lnSpc>
                <a:spcPts val="3829"/>
              </a:lnSpc>
              <a:spcBef>
                <a:spcPts val="1535"/>
              </a:spcBef>
            </a:pPr>
            <a:r>
              <a:rPr dirty="0" sz="3200">
                <a:latin typeface="Trebuchet MS"/>
                <a:cs typeface="Trebuchet MS"/>
              </a:rPr>
              <a:t>Accuracy</a:t>
            </a:r>
            <a:r>
              <a:rPr dirty="0" sz="3200" spc="-135">
                <a:latin typeface="Trebuchet MS"/>
                <a:cs typeface="Trebuchet MS"/>
              </a:rPr>
              <a:t> </a:t>
            </a:r>
            <a:r>
              <a:rPr dirty="0" sz="3200" spc="-20">
                <a:latin typeface="Trebuchet MS"/>
                <a:cs typeface="Trebuchet MS"/>
              </a:rPr>
              <a:t>score </a:t>
            </a:r>
            <a:r>
              <a:rPr dirty="0" sz="3200">
                <a:latin typeface="Trebuchet MS"/>
                <a:cs typeface="Trebuchet MS"/>
              </a:rPr>
              <a:t>Mean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Absolute Error</a:t>
            </a:r>
            <a:endParaRPr sz="3200">
              <a:latin typeface="Trebuchet MS"/>
              <a:cs typeface="Trebuchet MS"/>
            </a:endParaRPr>
          </a:p>
          <a:p>
            <a:pPr algn="just" marL="743585">
              <a:lnSpc>
                <a:spcPts val="3679"/>
              </a:lnSpc>
            </a:pPr>
            <a:r>
              <a:rPr dirty="0" sz="3200">
                <a:latin typeface="Trebuchet MS"/>
                <a:cs typeface="Trebuchet MS"/>
              </a:rPr>
              <a:t>Mean</a:t>
            </a:r>
            <a:r>
              <a:rPr dirty="0" sz="3200" spc="-95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Squared</a:t>
            </a:r>
            <a:endParaRPr sz="3200">
              <a:latin typeface="Trebuchet MS"/>
              <a:cs typeface="Trebuchet MS"/>
            </a:endParaRPr>
          </a:p>
          <a:p>
            <a:pPr marL="743585" marR="308610">
              <a:lnSpc>
                <a:spcPts val="3829"/>
              </a:lnSpc>
              <a:spcBef>
                <a:spcPts val="80"/>
              </a:spcBef>
            </a:pPr>
            <a:r>
              <a:rPr dirty="0" sz="3200" spc="-10">
                <a:latin typeface="Trebuchet MS"/>
                <a:cs typeface="Trebuchet MS"/>
              </a:rPr>
              <a:t>Error Classification Report Confusion Matrix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31686" y="804597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7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685799" y="0"/>
                </a:lnTo>
                <a:lnTo>
                  <a:pt x="685799" y="685799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39188" y="2549832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479621" y="479621"/>
                </a:moveTo>
                <a:lnTo>
                  <a:pt x="0" y="479621"/>
                </a:lnTo>
                <a:lnTo>
                  <a:pt x="0" y="0"/>
                </a:lnTo>
                <a:lnTo>
                  <a:pt x="479621" y="0"/>
                </a:lnTo>
                <a:lnTo>
                  <a:pt x="479621" y="479621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68255" y="1028699"/>
            <a:ext cx="16951960" cy="9082405"/>
            <a:chOff x="668255" y="1028699"/>
            <a:chExt cx="16951960" cy="9082405"/>
          </a:xfrm>
        </p:grpSpPr>
        <p:sp>
          <p:nvSpPr>
            <p:cNvPr id="5" name="object 5" descr=""/>
            <p:cNvSpPr/>
            <p:nvPr/>
          </p:nvSpPr>
          <p:spPr>
            <a:xfrm>
              <a:off x="14031686" y="8846610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269967" y="269967"/>
                  </a:moveTo>
                  <a:lnTo>
                    <a:pt x="0" y="269967"/>
                  </a:lnTo>
                  <a:lnTo>
                    <a:pt x="0" y="0"/>
                  </a:lnTo>
                  <a:lnTo>
                    <a:pt x="269967" y="0"/>
                  </a:lnTo>
                  <a:lnTo>
                    <a:pt x="269967" y="269967"/>
                  </a:lnTo>
                  <a:close/>
                </a:path>
              </a:pathLst>
            </a:custGeom>
            <a:solidFill>
              <a:srgbClr val="2E94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255" y="1028699"/>
              <a:ext cx="16951451" cy="908215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5783" y="209613"/>
            <a:ext cx="259334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0"/>
              <a:t>RESULTS</a:t>
            </a:r>
            <a:endParaRPr sz="5000"/>
          </a:p>
        </p:txBody>
      </p:sp>
      <p:sp>
        <p:nvSpPr>
          <p:cNvPr id="8" name="object 8" descr=""/>
          <p:cNvSpPr txBox="1"/>
          <p:nvPr/>
        </p:nvSpPr>
        <p:spPr>
          <a:xfrm>
            <a:off x="5388233" y="366777"/>
            <a:ext cx="66757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Trebuchet MS"/>
                <a:cs typeface="Trebuchet MS"/>
              </a:rPr>
              <a:t>App</a:t>
            </a:r>
            <a:r>
              <a:rPr dirty="0" sz="3200" spc="-20" b="1">
                <a:latin typeface="Trebuchet MS"/>
                <a:cs typeface="Trebuchet MS"/>
              </a:rPr>
              <a:t> </a:t>
            </a:r>
            <a:r>
              <a:rPr dirty="0" sz="3200" b="1">
                <a:latin typeface="Trebuchet MS"/>
                <a:cs typeface="Trebuchet MS"/>
              </a:rPr>
              <a:t>link:</a:t>
            </a:r>
            <a:r>
              <a:rPr dirty="0" sz="3200" spc="-10" b="1">
                <a:latin typeface="Trebuchet MS"/>
                <a:cs typeface="Trebuchet MS"/>
              </a:rPr>
              <a:t> </a:t>
            </a:r>
            <a:r>
              <a:rPr dirty="0" u="sng" sz="32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ainids-pdas.streamlit.app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31686" y="804597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7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685799" y="0"/>
                </a:lnTo>
                <a:lnTo>
                  <a:pt x="685799" y="685799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39188" y="2549832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479621" y="479621"/>
                </a:moveTo>
                <a:lnTo>
                  <a:pt x="0" y="479621"/>
                </a:lnTo>
                <a:lnTo>
                  <a:pt x="0" y="0"/>
                </a:lnTo>
                <a:lnTo>
                  <a:pt x="479621" y="0"/>
                </a:lnTo>
                <a:lnTo>
                  <a:pt x="479621" y="479621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031686" y="8846610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09">
                <a:moveTo>
                  <a:pt x="269967" y="269967"/>
                </a:moveTo>
                <a:lnTo>
                  <a:pt x="0" y="269967"/>
                </a:lnTo>
                <a:lnTo>
                  <a:pt x="0" y="0"/>
                </a:lnTo>
                <a:lnTo>
                  <a:pt x="269967" y="0"/>
                </a:lnTo>
                <a:lnTo>
                  <a:pt x="269967" y="269967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9467" y="1614896"/>
            <a:ext cx="18081625" cy="8501380"/>
            <a:chOff x="79467" y="1614896"/>
            <a:chExt cx="18081625" cy="850138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67" y="1614896"/>
              <a:ext cx="2797042" cy="478541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6645" y="1614897"/>
              <a:ext cx="15284286" cy="85011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3857" y="273227"/>
            <a:ext cx="8150225" cy="9302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565"/>
              </a:lnSpc>
              <a:spcBef>
                <a:spcPts val="95"/>
              </a:spcBef>
              <a:tabLst>
                <a:tab pos="3652520" algn="l"/>
              </a:tabLst>
            </a:pPr>
            <a:r>
              <a:rPr dirty="0" sz="3000"/>
              <a:t>MODE:</a:t>
            </a:r>
            <a:r>
              <a:rPr dirty="0" sz="3000" spc="-90"/>
              <a:t> </a:t>
            </a:r>
            <a:r>
              <a:rPr dirty="0" sz="3000" spc="-10" b="0">
                <a:latin typeface="Trebuchet MS"/>
                <a:cs typeface="Trebuchet MS"/>
              </a:rPr>
              <a:t>Simulation</a:t>
            </a:r>
            <a:r>
              <a:rPr dirty="0" sz="3000" b="0">
                <a:latin typeface="Trebuchet MS"/>
                <a:cs typeface="Trebuchet MS"/>
              </a:rPr>
              <a:t>	</a:t>
            </a:r>
            <a:r>
              <a:rPr dirty="0" sz="3000"/>
              <a:t>TRAINING</a:t>
            </a:r>
            <a:r>
              <a:rPr dirty="0" sz="3000" spc="-85"/>
              <a:t> </a:t>
            </a:r>
            <a:r>
              <a:rPr dirty="0" sz="3000"/>
              <a:t>DATA</a:t>
            </a:r>
            <a:r>
              <a:rPr dirty="0" sz="3000" spc="-85"/>
              <a:t> </a:t>
            </a:r>
            <a:r>
              <a:rPr dirty="0" sz="3000"/>
              <a:t>SIZE:</a:t>
            </a:r>
            <a:r>
              <a:rPr dirty="0" sz="3000" spc="-85"/>
              <a:t> </a:t>
            </a:r>
            <a:r>
              <a:rPr dirty="0" sz="3000" spc="-25" b="0">
                <a:latin typeface="Trebuchet MS"/>
                <a:cs typeface="Trebuchet MS"/>
              </a:rPr>
              <a:t>80%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ts val="3565"/>
              </a:lnSpc>
            </a:pPr>
            <a:r>
              <a:rPr dirty="0" sz="3000"/>
              <a:t>NUMBER</a:t>
            </a:r>
            <a:r>
              <a:rPr dirty="0" sz="3000" spc="-110"/>
              <a:t> </a:t>
            </a:r>
            <a:r>
              <a:rPr dirty="0" sz="3000"/>
              <a:t>OF</a:t>
            </a:r>
            <a:r>
              <a:rPr dirty="0" sz="3000" spc="-110"/>
              <a:t> </a:t>
            </a:r>
            <a:r>
              <a:rPr dirty="0" sz="3000"/>
              <a:t>TREES</a:t>
            </a:r>
            <a:r>
              <a:rPr dirty="0" sz="3000" spc="-110"/>
              <a:t> </a:t>
            </a:r>
            <a:r>
              <a:rPr dirty="0" sz="3000"/>
              <a:t>(RANDOM</a:t>
            </a:r>
            <a:r>
              <a:rPr dirty="0" sz="3000" spc="-110"/>
              <a:t> </a:t>
            </a:r>
            <a:r>
              <a:rPr dirty="0" sz="3000"/>
              <a:t>FOREST):</a:t>
            </a:r>
            <a:r>
              <a:rPr dirty="0" sz="3000" spc="-105"/>
              <a:t> </a:t>
            </a:r>
            <a:r>
              <a:rPr dirty="0" sz="3000" spc="-25" b="0">
                <a:latin typeface="Trebuchet MS"/>
                <a:cs typeface="Trebuchet MS"/>
              </a:rPr>
              <a:t>100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2253" y="134934"/>
            <a:ext cx="14920264" cy="432275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5862" y="4532071"/>
            <a:ext cx="12729779" cy="562389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88791" y="168729"/>
            <a:ext cx="2683510" cy="237426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10"/>
              </a:spcBef>
            </a:pPr>
            <a:r>
              <a:rPr dirty="0" sz="2600" b="1">
                <a:latin typeface="Trebuchet MS"/>
                <a:cs typeface="Trebuchet MS"/>
              </a:rPr>
              <a:t>MODE:</a:t>
            </a:r>
            <a:r>
              <a:rPr dirty="0" sz="2600" spc="-65" b="1">
                <a:latin typeface="Trebuchet MS"/>
                <a:cs typeface="Trebuchet MS"/>
              </a:rPr>
              <a:t> </a:t>
            </a:r>
            <a:r>
              <a:rPr dirty="0" sz="2600" spc="-10">
                <a:latin typeface="Trebuchet MS"/>
                <a:cs typeface="Trebuchet MS"/>
              </a:rPr>
              <a:t>Simulation </a:t>
            </a:r>
            <a:r>
              <a:rPr dirty="0" sz="2600" b="1">
                <a:latin typeface="Trebuchet MS"/>
                <a:cs typeface="Trebuchet MS"/>
              </a:rPr>
              <a:t>TRAINING</a:t>
            </a:r>
            <a:r>
              <a:rPr dirty="0" sz="2600" spc="-140" b="1">
                <a:latin typeface="Trebuchet MS"/>
                <a:cs typeface="Trebuchet MS"/>
              </a:rPr>
              <a:t> </a:t>
            </a:r>
            <a:r>
              <a:rPr dirty="0" sz="2600" spc="-20" b="1">
                <a:latin typeface="Trebuchet MS"/>
                <a:cs typeface="Trebuchet MS"/>
              </a:rPr>
              <a:t>DATA </a:t>
            </a:r>
            <a:r>
              <a:rPr dirty="0" sz="2600" b="1">
                <a:latin typeface="Trebuchet MS"/>
                <a:cs typeface="Trebuchet MS"/>
              </a:rPr>
              <a:t>SIZE:</a:t>
            </a:r>
            <a:r>
              <a:rPr dirty="0" sz="2600" spc="-30" b="1">
                <a:latin typeface="Trebuchet MS"/>
                <a:cs typeface="Trebuchet MS"/>
              </a:rPr>
              <a:t> </a:t>
            </a:r>
            <a:r>
              <a:rPr dirty="0" sz="2600" spc="-25">
                <a:latin typeface="Trebuchet MS"/>
                <a:cs typeface="Trebuchet MS"/>
              </a:rPr>
              <a:t>80% </a:t>
            </a:r>
            <a:r>
              <a:rPr dirty="0" sz="2600" b="1">
                <a:latin typeface="Trebuchet MS"/>
                <a:cs typeface="Trebuchet MS"/>
              </a:rPr>
              <a:t>NUMBER</a:t>
            </a:r>
            <a:r>
              <a:rPr dirty="0" sz="2600" spc="-125" b="1">
                <a:latin typeface="Trebuchet MS"/>
                <a:cs typeface="Trebuchet MS"/>
              </a:rPr>
              <a:t> </a:t>
            </a:r>
            <a:r>
              <a:rPr dirty="0" sz="2600" spc="-35" b="1">
                <a:latin typeface="Trebuchet MS"/>
                <a:cs typeface="Trebuchet MS"/>
              </a:rPr>
              <a:t>OF </a:t>
            </a:r>
            <a:r>
              <a:rPr dirty="0" sz="2600" b="1">
                <a:latin typeface="Trebuchet MS"/>
                <a:cs typeface="Trebuchet MS"/>
              </a:rPr>
              <a:t>TREES</a:t>
            </a:r>
            <a:r>
              <a:rPr dirty="0" sz="2600" spc="-45" b="1">
                <a:latin typeface="Trebuchet MS"/>
                <a:cs typeface="Trebuchet MS"/>
              </a:rPr>
              <a:t> </a:t>
            </a:r>
            <a:r>
              <a:rPr dirty="0" sz="2600" spc="-10" b="1">
                <a:latin typeface="Trebuchet MS"/>
                <a:cs typeface="Trebuchet MS"/>
              </a:rPr>
              <a:t>(RANDOM </a:t>
            </a:r>
            <a:r>
              <a:rPr dirty="0" sz="2600" b="1">
                <a:latin typeface="Trebuchet MS"/>
                <a:cs typeface="Trebuchet MS"/>
              </a:rPr>
              <a:t>FOREST):</a:t>
            </a:r>
            <a:r>
              <a:rPr dirty="0" sz="2600" spc="-60" b="1">
                <a:latin typeface="Trebuchet MS"/>
                <a:cs typeface="Trebuchet MS"/>
              </a:rPr>
              <a:t> </a:t>
            </a:r>
            <a:r>
              <a:rPr dirty="0" sz="2600" spc="-25">
                <a:latin typeface="Trebuchet MS"/>
                <a:cs typeface="Trebuchet MS"/>
              </a:rPr>
              <a:t>100</a:t>
            </a:r>
            <a:endParaRPr sz="260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4196" y="4492111"/>
            <a:ext cx="3287266" cy="56239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357" y="268728"/>
            <a:ext cx="16772472" cy="51279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358" y="5514965"/>
            <a:ext cx="16769210" cy="460107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20011" y="659045"/>
            <a:ext cx="394335" cy="25819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945"/>
              </a:lnSpc>
            </a:pPr>
            <a:r>
              <a:rPr dirty="0" sz="2500" b="1">
                <a:latin typeface="Trebuchet MS"/>
                <a:cs typeface="Trebuchet MS"/>
              </a:rPr>
              <a:t>MODE:</a:t>
            </a:r>
            <a:r>
              <a:rPr dirty="0" sz="2500" spc="-70" b="1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Simulation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0011" y="3693348"/>
            <a:ext cx="394335" cy="37630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945"/>
              </a:lnSpc>
            </a:pPr>
            <a:r>
              <a:rPr dirty="0" sz="2500" b="1">
                <a:latin typeface="Trebuchet MS"/>
                <a:cs typeface="Trebuchet MS"/>
              </a:rPr>
              <a:t>TRAINING</a:t>
            </a:r>
            <a:r>
              <a:rPr dirty="0" sz="2500" spc="-65" b="1">
                <a:latin typeface="Trebuchet MS"/>
                <a:cs typeface="Trebuchet MS"/>
              </a:rPr>
              <a:t> </a:t>
            </a:r>
            <a:r>
              <a:rPr dirty="0" sz="2500" b="1">
                <a:latin typeface="Trebuchet MS"/>
                <a:cs typeface="Trebuchet MS"/>
              </a:rPr>
              <a:t>DATA</a:t>
            </a:r>
            <a:r>
              <a:rPr dirty="0" sz="2500" spc="-60" b="1">
                <a:latin typeface="Trebuchet MS"/>
                <a:cs typeface="Trebuchet MS"/>
              </a:rPr>
              <a:t> </a:t>
            </a:r>
            <a:r>
              <a:rPr dirty="0" sz="2500" b="1">
                <a:latin typeface="Trebuchet MS"/>
                <a:cs typeface="Trebuchet MS"/>
              </a:rPr>
              <a:t>SIZE:</a:t>
            </a:r>
            <a:r>
              <a:rPr dirty="0" sz="2500" spc="-60" b="1">
                <a:latin typeface="Trebuchet MS"/>
                <a:cs typeface="Trebuchet MS"/>
              </a:rPr>
              <a:t> </a:t>
            </a:r>
            <a:r>
              <a:rPr dirty="0" sz="2500" spc="-25">
                <a:latin typeface="Trebuchet MS"/>
                <a:cs typeface="Trebuchet MS"/>
              </a:rPr>
              <a:t>80%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8536" y="659045"/>
            <a:ext cx="394335" cy="63074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945"/>
              </a:lnSpc>
            </a:pPr>
            <a:r>
              <a:rPr dirty="0" sz="2500" b="1">
                <a:latin typeface="Trebuchet MS"/>
                <a:cs typeface="Trebuchet MS"/>
              </a:rPr>
              <a:t>NUMBER</a:t>
            </a:r>
            <a:r>
              <a:rPr dirty="0" sz="2500" spc="-70" b="1">
                <a:latin typeface="Trebuchet MS"/>
                <a:cs typeface="Trebuchet MS"/>
              </a:rPr>
              <a:t> </a:t>
            </a:r>
            <a:r>
              <a:rPr dirty="0" sz="2500" b="1">
                <a:latin typeface="Trebuchet MS"/>
                <a:cs typeface="Trebuchet MS"/>
              </a:rPr>
              <a:t>OF</a:t>
            </a:r>
            <a:r>
              <a:rPr dirty="0" sz="2500" spc="-65" b="1">
                <a:latin typeface="Trebuchet MS"/>
                <a:cs typeface="Trebuchet MS"/>
              </a:rPr>
              <a:t> </a:t>
            </a:r>
            <a:r>
              <a:rPr dirty="0" sz="2500" b="1">
                <a:latin typeface="Trebuchet MS"/>
                <a:cs typeface="Trebuchet MS"/>
              </a:rPr>
              <a:t>TREES</a:t>
            </a:r>
            <a:r>
              <a:rPr dirty="0" sz="2500" spc="-65" b="1">
                <a:latin typeface="Trebuchet MS"/>
                <a:cs typeface="Trebuchet MS"/>
              </a:rPr>
              <a:t> </a:t>
            </a:r>
            <a:r>
              <a:rPr dirty="0" sz="2500" b="1">
                <a:latin typeface="Trebuchet MS"/>
                <a:cs typeface="Trebuchet MS"/>
              </a:rPr>
              <a:t>(RANDOM</a:t>
            </a:r>
            <a:r>
              <a:rPr dirty="0" sz="2500" spc="-65" b="1">
                <a:latin typeface="Trebuchet MS"/>
                <a:cs typeface="Trebuchet MS"/>
              </a:rPr>
              <a:t> </a:t>
            </a:r>
            <a:r>
              <a:rPr dirty="0" sz="2500" b="1">
                <a:latin typeface="Trebuchet MS"/>
                <a:cs typeface="Trebuchet MS"/>
              </a:rPr>
              <a:t>FOREST):</a:t>
            </a:r>
            <a:r>
              <a:rPr dirty="0" sz="2500" spc="-60" b="1">
                <a:latin typeface="Trebuchet MS"/>
                <a:cs typeface="Trebuchet MS"/>
              </a:rPr>
              <a:t> </a:t>
            </a:r>
            <a:r>
              <a:rPr dirty="0" sz="2500" spc="-25">
                <a:latin typeface="Trebuchet MS"/>
                <a:cs typeface="Trebuchet MS"/>
              </a:rPr>
              <a:t>100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31686" y="804597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7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685799" y="0"/>
                </a:lnTo>
                <a:lnTo>
                  <a:pt x="685799" y="685799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39188" y="2549832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479621" y="479621"/>
                </a:moveTo>
                <a:lnTo>
                  <a:pt x="0" y="479621"/>
                </a:lnTo>
                <a:lnTo>
                  <a:pt x="0" y="0"/>
                </a:lnTo>
                <a:lnTo>
                  <a:pt x="479621" y="0"/>
                </a:lnTo>
                <a:lnTo>
                  <a:pt x="479621" y="479621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031686" y="8846610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09">
                <a:moveTo>
                  <a:pt x="269967" y="269967"/>
                </a:moveTo>
                <a:lnTo>
                  <a:pt x="0" y="269967"/>
                </a:lnTo>
                <a:lnTo>
                  <a:pt x="0" y="0"/>
                </a:lnTo>
                <a:lnTo>
                  <a:pt x="269967" y="0"/>
                </a:lnTo>
                <a:lnTo>
                  <a:pt x="269967" y="269967"/>
                </a:lnTo>
                <a:close/>
              </a:path>
            </a:pathLst>
          </a:custGeom>
          <a:solidFill>
            <a:srgbClr val="2E946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48218" y="1748619"/>
            <a:ext cx="18002885" cy="8368030"/>
            <a:chOff x="148218" y="1748619"/>
            <a:chExt cx="18002885" cy="836803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218" y="1748619"/>
              <a:ext cx="2954148" cy="522341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2376" y="1748619"/>
              <a:ext cx="15048249" cy="836741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3857" y="353999"/>
            <a:ext cx="8150225" cy="9302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565"/>
              </a:lnSpc>
              <a:spcBef>
                <a:spcPts val="95"/>
              </a:spcBef>
              <a:tabLst>
                <a:tab pos="3652520" algn="l"/>
              </a:tabLst>
            </a:pPr>
            <a:r>
              <a:rPr dirty="0" sz="3000"/>
              <a:t>MODE:</a:t>
            </a:r>
            <a:r>
              <a:rPr dirty="0" sz="3000" spc="-90"/>
              <a:t> </a:t>
            </a:r>
            <a:r>
              <a:rPr dirty="0" sz="3000" spc="-10" b="0">
                <a:latin typeface="Trebuchet MS"/>
                <a:cs typeface="Trebuchet MS"/>
              </a:rPr>
              <a:t>Simulation</a:t>
            </a:r>
            <a:r>
              <a:rPr dirty="0" sz="3000" b="0">
                <a:latin typeface="Trebuchet MS"/>
                <a:cs typeface="Trebuchet MS"/>
              </a:rPr>
              <a:t>	</a:t>
            </a:r>
            <a:r>
              <a:rPr dirty="0" sz="3000"/>
              <a:t>TRAINING</a:t>
            </a:r>
            <a:r>
              <a:rPr dirty="0" sz="3000" spc="-85"/>
              <a:t> </a:t>
            </a:r>
            <a:r>
              <a:rPr dirty="0" sz="3000"/>
              <a:t>DATA</a:t>
            </a:r>
            <a:r>
              <a:rPr dirty="0" sz="3000" spc="-85"/>
              <a:t> </a:t>
            </a:r>
            <a:r>
              <a:rPr dirty="0" sz="3000"/>
              <a:t>SIZE:</a:t>
            </a:r>
            <a:r>
              <a:rPr dirty="0" sz="3000" spc="-85"/>
              <a:t> </a:t>
            </a:r>
            <a:r>
              <a:rPr dirty="0" sz="3000" spc="-25" b="0">
                <a:latin typeface="Trebuchet MS"/>
                <a:cs typeface="Trebuchet MS"/>
              </a:rPr>
              <a:t>90%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ts val="3565"/>
              </a:lnSpc>
            </a:pPr>
            <a:r>
              <a:rPr dirty="0" sz="3000"/>
              <a:t>NUMBER</a:t>
            </a:r>
            <a:r>
              <a:rPr dirty="0" sz="3000" spc="-110"/>
              <a:t> </a:t>
            </a:r>
            <a:r>
              <a:rPr dirty="0" sz="3000"/>
              <a:t>OF</a:t>
            </a:r>
            <a:r>
              <a:rPr dirty="0" sz="3000" spc="-110"/>
              <a:t> </a:t>
            </a:r>
            <a:r>
              <a:rPr dirty="0" sz="3000"/>
              <a:t>TREES</a:t>
            </a:r>
            <a:r>
              <a:rPr dirty="0" sz="3000" spc="-110"/>
              <a:t> </a:t>
            </a:r>
            <a:r>
              <a:rPr dirty="0" sz="3000"/>
              <a:t>(RANDOM</a:t>
            </a:r>
            <a:r>
              <a:rPr dirty="0" sz="3000" spc="-110"/>
              <a:t> </a:t>
            </a:r>
            <a:r>
              <a:rPr dirty="0" sz="3000"/>
              <a:t>FOREST):</a:t>
            </a:r>
            <a:r>
              <a:rPr dirty="0" sz="3000" spc="-105"/>
              <a:t> </a:t>
            </a:r>
            <a:r>
              <a:rPr dirty="0" sz="3000" spc="-25" b="0">
                <a:latin typeface="Trebuchet MS"/>
                <a:cs typeface="Trebuchet MS"/>
              </a:rPr>
              <a:t>200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5869" y="170200"/>
            <a:ext cx="15046085" cy="42417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5082" y="4526310"/>
            <a:ext cx="12710921" cy="56937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5135" y="4526310"/>
            <a:ext cx="3220120" cy="568984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6557" y="138610"/>
            <a:ext cx="2782570" cy="3616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565"/>
              </a:lnSpc>
              <a:spcBef>
                <a:spcPts val="95"/>
              </a:spcBef>
            </a:pPr>
            <a:r>
              <a:rPr dirty="0" sz="3000" spc="-10" b="1">
                <a:latin typeface="Trebuchet MS"/>
                <a:cs typeface="Trebuchet MS"/>
              </a:rPr>
              <a:t>MODE: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ts val="3529"/>
              </a:lnSpc>
              <a:spcBef>
                <a:spcPts val="105"/>
              </a:spcBef>
            </a:pPr>
            <a:r>
              <a:rPr dirty="0" sz="3000" spc="-10">
                <a:latin typeface="Trebuchet MS"/>
                <a:cs typeface="Trebuchet MS"/>
              </a:rPr>
              <a:t>Simulation </a:t>
            </a:r>
            <a:r>
              <a:rPr dirty="0" sz="3000" b="1">
                <a:latin typeface="Trebuchet MS"/>
                <a:cs typeface="Trebuchet MS"/>
              </a:rPr>
              <a:t>TRAINING</a:t>
            </a:r>
            <a:r>
              <a:rPr dirty="0" sz="3000" spc="-114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DATA </a:t>
            </a:r>
            <a:r>
              <a:rPr dirty="0" sz="3000" b="1">
                <a:latin typeface="Trebuchet MS"/>
                <a:cs typeface="Trebuchet MS"/>
              </a:rPr>
              <a:t>SIZE: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spc="-25">
                <a:latin typeface="Trebuchet MS"/>
                <a:cs typeface="Trebuchet MS"/>
              </a:rPr>
              <a:t>90% </a:t>
            </a:r>
            <a:r>
              <a:rPr dirty="0" sz="3000" b="1">
                <a:latin typeface="Trebuchet MS"/>
                <a:cs typeface="Trebuchet MS"/>
              </a:rPr>
              <a:t>NUMBER</a:t>
            </a:r>
            <a:r>
              <a:rPr dirty="0" sz="3000" spc="-130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OF </a:t>
            </a:r>
            <a:r>
              <a:rPr dirty="0" sz="3000" spc="-10" b="1">
                <a:latin typeface="Trebuchet MS"/>
                <a:cs typeface="Trebuchet MS"/>
              </a:rPr>
              <a:t>TREES (RANDOM </a:t>
            </a:r>
            <a:r>
              <a:rPr dirty="0" sz="3000" b="1">
                <a:latin typeface="Trebuchet MS"/>
                <a:cs typeface="Trebuchet MS"/>
              </a:rPr>
              <a:t>FOREST):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-25">
                <a:latin typeface="Trebuchet MS"/>
                <a:cs typeface="Trebuchet MS"/>
              </a:rPr>
              <a:t>200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623" y="238791"/>
            <a:ext cx="16780214" cy="45876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1623" y="4938674"/>
            <a:ext cx="16778873" cy="517736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61508" y="241721"/>
            <a:ext cx="467995" cy="30924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515"/>
              </a:lnSpc>
            </a:pPr>
            <a:r>
              <a:rPr dirty="0" sz="3000" b="1">
                <a:latin typeface="Trebuchet MS"/>
                <a:cs typeface="Trebuchet MS"/>
              </a:rPr>
              <a:t>MODE: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spc="-10">
                <a:latin typeface="Trebuchet MS"/>
                <a:cs typeface="Trebuchet MS"/>
              </a:rPr>
              <a:t>Simulation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1508" y="3882205"/>
            <a:ext cx="467995" cy="450977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515"/>
              </a:lnSpc>
            </a:pPr>
            <a:r>
              <a:rPr dirty="0" sz="3000" b="1">
                <a:latin typeface="Trebuchet MS"/>
                <a:cs typeface="Trebuchet MS"/>
              </a:rPr>
              <a:t>TRAINING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DATA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SIZE: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spc="-25">
                <a:latin typeface="Trebuchet MS"/>
                <a:cs typeface="Trebuchet MS"/>
              </a:rPr>
              <a:t>90%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13833" y="241721"/>
            <a:ext cx="467995" cy="75622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515"/>
              </a:lnSpc>
            </a:pPr>
            <a:r>
              <a:rPr dirty="0" sz="3000" b="1">
                <a:latin typeface="Trebuchet MS"/>
                <a:cs typeface="Trebuchet MS"/>
              </a:rPr>
              <a:t>NUMBER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OF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TREES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(RANDOM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FOREST):</a:t>
            </a:r>
            <a:r>
              <a:rPr dirty="0" sz="3000" spc="-105" b="1">
                <a:latin typeface="Trebuchet MS"/>
                <a:cs typeface="Trebuchet MS"/>
              </a:rPr>
              <a:t> </a:t>
            </a:r>
            <a:r>
              <a:rPr dirty="0" sz="3000" spc="-25">
                <a:latin typeface="Trebuchet MS"/>
                <a:cs typeface="Trebuchet MS"/>
              </a:rPr>
              <a:t>200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31686" y="804597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7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685799" y="0"/>
                </a:lnTo>
                <a:lnTo>
                  <a:pt x="685799" y="685799"/>
                </a:lnTo>
                <a:close/>
              </a:path>
            </a:pathLst>
          </a:custGeom>
          <a:solidFill>
            <a:srgbClr val="41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39188" y="2549832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479621" y="479621"/>
                </a:moveTo>
                <a:lnTo>
                  <a:pt x="0" y="479621"/>
                </a:lnTo>
                <a:lnTo>
                  <a:pt x="0" y="0"/>
                </a:lnTo>
                <a:lnTo>
                  <a:pt x="479621" y="0"/>
                </a:lnTo>
                <a:lnTo>
                  <a:pt x="479621" y="479621"/>
                </a:lnTo>
                <a:close/>
              </a:path>
            </a:pathLst>
          </a:custGeom>
          <a:solidFill>
            <a:srgbClr val="2E82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29635" y="1581027"/>
            <a:ext cx="18020030" cy="8261350"/>
            <a:chOff x="129635" y="1581027"/>
            <a:chExt cx="18020030" cy="8261350"/>
          </a:xfrm>
        </p:grpSpPr>
        <p:sp>
          <p:nvSpPr>
            <p:cNvPr id="5" name="object 5" descr=""/>
            <p:cNvSpPr/>
            <p:nvPr/>
          </p:nvSpPr>
          <p:spPr>
            <a:xfrm>
              <a:off x="14031687" y="8846610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>
                  <a:moveTo>
                    <a:pt x="269967" y="269967"/>
                  </a:moveTo>
                  <a:lnTo>
                    <a:pt x="0" y="269967"/>
                  </a:lnTo>
                  <a:lnTo>
                    <a:pt x="0" y="0"/>
                  </a:lnTo>
                  <a:lnTo>
                    <a:pt x="269967" y="0"/>
                  </a:lnTo>
                  <a:lnTo>
                    <a:pt x="269967" y="269967"/>
                  </a:lnTo>
                  <a:close/>
                </a:path>
              </a:pathLst>
            </a:custGeom>
            <a:solidFill>
              <a:srgbClr val="2E94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0692" y="1581027"/>
              <a:ext cx="14818735" cy="826116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635" y="1581027"/>
              <a:ext cx="3201070" cy="553771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6935" y="351835"/>
            <a:ext cx="8014970" cy="9302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565"/>
              </a:lnSpc>
              <a:spcBef>
                <a:spcPts val="95"/>
              </a:spcBef>
              <a:tabLst>
                <a:tab pos="3517265" algn="l"/>
              </a:tabLst>
            </a:pPr>
            <a:r>
              <a:rPr dirty="0" sz="3000"/>
              <a:t>MODE:</a:t>
            </a:r>
            <a:r>
              <a:rPr dirty="0" sz="3000" spc="-55"/>
              <a:t> </a:t>
            </a:r>
            <a:r>
              <a:rPr dirty="0" sz="3000" spc="-20" b="0">
                <a:latin typeface="Trebuchet MS"/>
                <a:cs typeface="Trebuchet MS"/>
              </a:rPr>
              <a:t>Real-time</a:t>
            </a:r>
            <a:r>
              <a:rPr dirty="0" sz="3000" b="0">
                <a:latin typeface="Trebuchet MS"/>
                <a:cs typeface="Trebuchet MS"/>
              </a:rPr>
              <a:t>	</a:t>
            </a:r>
            <a:r>
              <a:rPr dirty="0" sz="3000"/>
              <a:t>TRAINING</a:t>
            </a:r>
            <a:r>
              <a:rPr dirty="0" sz="3000" spc="-85"/>
              <a:t> </a:t>
            </a:r>
            <a:r>
              <a:rPr dirty="0" sz="3000"/>
              <a:t>DATA</a:t>
            </a:r>
            <a:r>
              <a:rPr dirty="0" sz="3000" spc="-85"/>
              <a:t> </a:t>
            </a:r>
            <a:r>
              <a:rPr dirty="0" sz="3000"/>
              <a:t>SIZE:</a:t>
            </a:r>
            <a:r>
              <a:rPr dirty="0" sz="3000" spc="-85"/>
              <a:t> </a:t>
            </a:r>
            <a:r>
              <a:rPr dirty="0" sz="3000" spc="-25" b="0">
                <a:latin typeface="Trebuchet MS"/>
                <a:cs typeface="Trebuchet MS"/>
              </a:rPr>
              <a:t>80%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ts val="3565"/>
              </a:lnSpc>
            </a:pPr>
            <a:r>
              <a:rPr dirty="0" sz="3000"/>
              <a:t>NUMBER</a:t>
            </a:r>
            <a:r>
              <a:rPr dirty="0" sz="3000" spc="-110"/>
              <a:t> </a:t>
            </a:r>
            <a:r>
              <a:rPr dirty="0" sz="3000"/>
              <a:t>OF</a:t>
            </a:r>
            <a:r>
              <a:rPr dirty="0" sz="3000" spc="-110"/>
              <a:t> </a:t>
            </a:r>
            <a:r>
              <a:rPr dirty="0" sz="3000"/>
              <a:t>TREES</a:t>
            </a:r>
            <a:r>
              <a:rPr dirty="0" sz="3000" spc="-110"/>
              <a:t> </a:t>
            </a:r>
            <a:r>
              <a:rPr dirty="0" sz="3000"/>
              <a:t>(RANDOM</a:t>
            </a:r>
            <a:r>
              <a:rPr dirty="0" sz="3000" spc="-110"/>
              <a:t> </a:t>
            </a:r>
            <a:r>
              <a:rPr dirty="0" sz="3000"/>
              <a:t>FOREST):</a:t>
            </a:r>
            <a:r>
              <a:rPr dirty="0" sz="3000" spc="-105"/>
              <a:t> </a:t>
            </a:r>
            <a:r>
              <a:rPr dirty="0" sz="3000" spc="-25" b="0">
                <a:latin typeface="Trebuchet MS"/>
                <a:cs typeface="Trebuchet MS"/>
              </a:rPr>
              <a:t>100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9828" y="157002"/>
            <a:ext cx="15314584" cy="44149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7910" y="4661245"/>
            <a:ext cx="12845704" cy="554403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283" y="4661245"/>
            <a:ext cx="3201070" cy="553771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1958" y="125427"/>
            <a:ext cx="2385695" cy="406400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216535">
              <a:lnSpc>
                <a:spcPts val="3529"/>
              </a:lnSpc>
              <a:spcBef>
                <a:spcPts val="275"/>
              </a:spcBef>
            </a:pPr>
            <a:r>
              <a:rPr dirty="0" sz="3000" b="1">
                <a:latin typeface="Trebuchet MS"/>
                <a:cs typeface="Trebuchet MS"/>
              </a:rPr>
              <a:t>MODE: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spc="-20">
                <a:latin typeface="Trebuchet MS"/>
                <a:cs typeface="Trebuchet MS"/>
              </a:rPr>
              <a:t>Real- time </a:t>
            </a:r>
            <a:r>
              <a:rPr dirty="0" sz="3000" spc="-10" b="1">
                <a:latin typeface="Trebuchet MS"/>
                <a:cs typeface="Trebuchet MS"/>
              </a:rPr>
              <a:t>TRAINING </a:t>
            </a:r>
            <a:r>
              <a:rPr dirty="0" sz="3000" b="1">
                <a:latin typeface="Trebuchet MS"/>
                <a:cs typeface="Trebuchet MS"/>
              </a:rPr>
              <a:t>DATA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SIZE: </a:t>
            </a:r>
            <a:r>
              <a:rPr dirty="0" sz="3000" spc="-25">
                <a:latin typeface="Trebuchet MS"/>
                <a:cs typeface="Trebuchet MS"/>
              </a:rPr>
              <a:t>80% </a:t>
            </a:r>
            <a:r>
              <a:rPr dirty="0" sz="3000" b="1">
                <a:latin typeface="Trebuchet MS"/>
                <a:cs typeface="Trebuchet MS"/>
              </a:rPr>
              <a:t>NUMBER</a:t>
            </a:r>
            <a:r>
              <a:rPr dirty="0" sz="3000" spc="-130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OF </a:t>
            </a:r>
            <a:r>
              <a:rPr dirty="0" sz="3000" spc="-10" b="1">
                <a:latin typeface="Trebuchet MS"/>
                <a:cs typeface="Trebuchet MS"/>
              </a:rPr>
              <a:t>TREES (RANDOM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ts val="3385"/>
              </a:lnSpc>
            </a:pPr>
            <a:r>
              <a:rPr dirty="0" sz="3000" b="1">
                <a:latin typeface="Trebuchet MS"/>
                <a:cs typeface="Trebuchet MS"/>
              </a:rPr>
              <a:t>FOREST):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-25">
                <a:latin typeface="Trebuchet MS"/>
                <a:cs typeface="Trebuchet MS"/>
              </a:rPr>
              <a:t>100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262" y="418368"/>
            <a:ext cx="17743443" cy="485212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654" y="5384810"/>
            <a:ext cx="17726100" cy="483609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8834" y="-10122"/>
            <a:ext cx="256667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latin typeface="Trebuchet MS"/>
                <a:cs typeface="Trebuchet MS"/>
              </a:rPr>
              <a:t>MODE:</a:t>
            </a:r>
            <a:r>
              <a:rPr dirty="0" sz="2600" spc="-40" b="1">
                <a:latin typeface="Trebuchet MS"/>
                <a:cs typeface="Trebuchet MS"/>
              </a:rPr>
              <a:t> </a:t>
            </a:r>
            <a:r>
              <a:rPr dirty="0" sz="2600" spc="-10">
                <a:latin typeface="Trebuchet MS"/>
                <a:cs typeface="Trebuchet MS"/>
              </a:rPr>
              <a:t>Real-</a:t>
            </a:r>
            <a:r>
              <a:rPr dirty="0" sz="2600" spc="-20">
                <a:latin typeface="Trebuchet MS"/>
                <a:cs typeface="Trebuchet MS"/>
              </a:rPr>
              <a:t>time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06709" y="-10122"/>
            <a:ext cx="391223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latin typeface="Trebuchet MS"/>
                <a:cs typeface="Trebuchet MS"/>
              </a:rPr>
              <a:t>TRAINING</a:t>
            </a:r>
            <a:r>
              <a:rPr dirty="0" sz="2600" spc="-85" b="1">
                <a:latin typeface="Trebuchet MS"/>
                <a:cs typeface="Trebuchet MS"/>
              </a:rPr>
              <a:t> </a:t>
            </a:r>
            <a:r>
              <a:rPr dirty="0" sz="2600" b="1">
                <a:latin typeface="Trebuchet MS"/>
                <a:cs typeface="Trebuchet MS"/>
              </a:rPr>
              <a:t>DATA</a:t>
            </a:r>
            <a:r>
              <a:rPr dirty="0" sz="2600" spc="-80" b="1">
                <a:latin typeface="Trebuchet MS"/>
                <a:cs typeface="Trebuchet MS"/>
              </a:rPr>
              <a:t> </a:t>
            </a:r>
            <a:r>
              <a:rPr dirty="0" sz="2600" b="1">
                <a:latin typeface="Trebuchet MS"/>
                <a:cs typeface="Trebuchet MS"/>
              </a:rPr>
              <a:t>SIZE:</a:t>
            </a:r>
            <a:r>
              <a:rPr dirty="0" sz="2600" spc="-80" b="1">
                <a:latin typeface="Trebuchet MS"/>
                <a:cs typeface="Trebuchet MS"/>
              </a:rPr>
              <a:t> </a:t>
            </a:r>
            <a:r>
              <a:rPr dirty="0" sz="2600" spc="-25">
                <a:latin typeface="Trebuchet MS"/>
                <a:cs typeface="Trebuchet MS"/>
              </a:rPr>
              <a:t>80%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90152" y="-10122"/>
            <a:ext cx="655764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latin typeface="Trebuchet MS"/>
                <a:cs typeface="Trebuchet MS"/>
              </a:rPr>
              <a:t>NUMBER</a:t>
            </a:r>
            <a:r>
              <a:rPr dirty="0" sz="2600" spc="-80" b="1">
                <a:latin typeface="Trebuchet MS"/>
                <a:cs typeface="Trebuchet MS"/>
              </a:rPr>
              <a:t> </a:t>
            </a:r>
            <a:r>
              <a:rPr dirty="0" sz="2600" b="1">
                <a:latin typeface="Trebuchet MS"/>
                <a:cs typeface="Trebuchet MS"/>
              </a:rPr>
              <a:t>OF</a:t>
            </a:r>
            <a:r>
              <a:rPr dirty="0" sz="2600" spc="-70" b="1">
                <a:latin typeface="Trebuchet MS"/>
                <a:cs typeface="Trebuchet MS"/>
              </a:rPr>
              <a:t> </a:t>
            </a:r>
            <a:r>
              <a:rPr dirty="0" sz="2600" b="1">
                <a:latin typeface="Trebuchet MS"/>
                <a:cs typeface="Trebuchet MS"/>
              </a:rPr>
              <a:t>TREES</a:t>
            </a:r>
            <a:r>
              <a:rPr dirty="0" sz="2600" spc="-65" b="1">
                <a:latin typeface="Trebuchet MS"/>
                <a:cs typeface="Trebuchet MS"/>
              </a:rPr>
              <a:t> </a:t>
            </a:r>
            <a:r>
              <a:rPr dirty="0" sz="2600" b="1">
                <a:latin typeface="Trebuchet MS"/>
                <a:cs typeface="Trebuchet MS"/>
              </a:rPr>
              <a:t>(RANDOM</a:t>
            </a:r>
            <a:r>
              <a:rPr dirty="0" sz="2600" spc="-70" b="1">
                <a:latin typeface="Trebuchet MS"/>
                <a:cs typeface="Trebuchet MS"/>
              </a:rPr>
              <a:t> </a:t>
            </a:r>
            <a:r>
              <a:rPr dirty="0" sz="2600" b="1">
                <a:latin typeface="Trebuchet MS"/>
                <a:cs typeface="Trebuchet MS"/>
              </a:rPr>
              <a:t>FOREST):</a:t>
            </a:r>
            <a:r>
              <a:rPr dirty="0" sz="2600" spc="-70" b="1">
                <a:latin typeface="Trebuchet MS"/>
                <a:cs typeface="Trebuchet MS"/>
              </a:rPr>
              <a:t> </a:t>
            </a:r>
            <a:r>
              <a:rPr dirty="0" sz="2600" spc="-25">
                <a:latin typeface="Trebuchet MS"/>
                <a:cs typeface="Trebuchet MS"/>
              </a:rPr>
              <a:t>100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312316"/>
            <a:ext cx="12448946" cy="88037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486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90"/>
              </a:spcBef>
            </a:pPr>
            <a:r>
              <a:rPr dirty="0"/>
              <a:t>Certificate</a:t>
            </a:r>
            <a:r>
              <a:rPr dirty="0" spc="-155"/>
              <a:t> </a:t>
            </a:r>
            <a:r>
              <a:rPr dirty="0"/>
              <a:t>-</a:t>
            </a:r>
            <a:r>
              <a:rPr dirty="0" spc="-150"/>
              <a:t> </a:t>
            </a:r>
            <a:r>
              <a:rPr dirty="0"/>
              <a:t>Introduction</a:t>
            </a:r>
            <a:r>
              <a:rPr dirty="0" spc="-150"/>
              <a:t> </a:t>
            </a:r>
            <a:r>
              <a:rPr dirty="0"/>
              <a:t>to</a:t>
            </a:r>
            <a:r>
              <a:rPr dirty="0" spc="-155"/>
              <a:t> </a:t>
            </a:r>
            <a:r>
              <a:rPr dirty="0"/>
              <a:t>System</a:t>
            </a:r>
            <a:r>
              <a:rPr dirty="0" spc="-150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312544"/>
            <a:ext cx="12449281" cy="88039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486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90"/>
              </a:spcBef>
            </a:pPr>
            <a:r>
              <a:rPr dirty="0"/>
              <a:t>Certificate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60"/>
              <a:t> </a:t>
            </a:r>
            <a:r>
              <a:rPr dirty="0"/>
              <a:t>Protection</a:t>
            </a:r>
            <a:r>
              <a:rPr dirty="0" spc="-155"/>
              <a:t> </a:t>
            </a:r>
            <a:r>
              <a:rPr dirty="0"/>
              <a:t>from</a:t>
            </a:r>
            <a:r>
              <a:rPr dirty="0" spc="-160"/>
              <a:t> </a:t>
            </a:r>
            <a:r>
              <a:rPr dirty="0"/>
              <a:t>Browser</a:t>
            </a:r>
            <a:r>
              <a:rPr dirty="0" spc="-155"/>
              <a:t> </a:t>
            </a:r>
            <a:r>
              <a:rPr dirty="0" spc="-10"/>
              <a:t>Attacks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46218" y="9698547"/>
            <a:ext cx="28956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>
                <a:solidFill>
                  <a:srgbClr val="2E946A"/>
                </a:solidFill>
                <a:latin typeface="Trebuchet MS"/>
                <a:cs typeface="Trebuchet MS"/>
              </a:rPr>
              <a:t>‹#›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312544"/>
            <a:ext cx="12449281" cy="88039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486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90"/>
              </a:spcBef>
            </a:pPr>
            <a:r>
              <a:rPr dirty="0"/>
              <a:t>Certificate</a:t>
            </a:r>
            <a:r>
              <a:rPr dirty="0" spc="-165"/>
              <a:t> </a:t>
            </a:r>
            <a:r>
              <a:rPr dirty="0"/>
              <a:t>-</a:t>
            </a:r>
            <a:r>
              <a:rPr dirty="0" spc="-165"/>
              <a:t> </a:t>
            </a:r>
            <a:r>
              <a:rPr dirty="0"/>
              <a:t>Securing</a:t>
            </a:r>
            <a:r>
              <a:rPr dirty="0" spc="-165"/>
              <a:t> </a:t>
            </a:r>
            <a:r>
              <a:rPr dirty="0"/>
              <a:t>Android</a:t>
            </a:r>
            <a:r>
              <a:rPr dirty="0" spc="-165"/>
              <a:t> </a:t>
            </a:r>
            <a:r>
              <a:rPr dirty="0" spc="-10"/>
              <a:t>Devices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138749" y="-7207"/>
            <a:ext cx="7150100" cy="10301605"/>
            <a:chOff x="11138749" y="-7207"/>
            <a:chExt cx="7150100" cy="10301605"/>
          </a:xfrm>
        </p:grpSpPr>
        <p:sp>
          <p:nvSpPr>
            <p:cNvPr id="3" name="object 3" descr=""/>
            <p:cNvSpPr/>
            <p:nvPr/>
          </p:nvSpPr>
          <p:spPr>
            <a:xfrm>
              <a:off x="14050204" y="-2444"/>
              <a:ext cx="1841500" cy="10292080"/>
            </a:xfrm>
            <a:custGeom>
              <a:avLst/>
              <a:gdLst/>
              <a:ahLst/>
              <a:cxnLst/>
              <a:rect l="l" t="t" r="r" b="b"/>
              <a:pathLst>
                <a:path w="1841500" h="10292080">
                  <a:moveTo>
                    <a:pt x="0" y="0"/>
                  </a:moveTo>
                  <a:lnTo>
                    <a:pt x="1841418" y="10291869"/>
                  </a:lnTo>
                </a:path>
              </a:pathLst>
            </a:custGeom>
            <a:ln w="9524">
              <a:solidFill>
                <a:srgbClr val="5ECB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138738" y="5514212"/>
              <a:ext cx="7150100" cy="4776470"/>
            </a:xfrm>
            <a:custGeom>
              <a:avLst/>
              <a:gdLst/>
              <a:ahLst/>
              <a:cxnLst/>
              <a:rect l="l" t="t" r="r" b="b"/>
              <a:pathLst>
                <a:path w="7150100" h="4776470">
                  <a:moveTo>
                    <a:pt x="7149605" y="7785"/>
                  </a:moveTo>
                  <a:lnTo>
                    <a:pt x="7148906" y="6743"/>
                  </a:lnTo>
                  <a:lnTo>
                    <a:pt x="7149503" y="6337"/>
                  </a:lnTo>
                  <a:lnTo>
                    <a:pt x="7145261" y="0"/>
                  </a:lnTo>
                  <a:lnTo>
                    <a:pt x="0" y="4769624"/>
                  </a:lnTo>
                  <a:lnTo>
                    <a:pt x="4241" y="4775962"/>
                  </a:lnTo>
                  <a:lnTo>
                    <a:pt x="9779" y="4772266"/>
                  </a:lnTo>
                  <a:lnTo>
                    <a:pt x="10477" y="4773320"/>
                  </a:lnTo>
                  <a:lnTo>
                    <a:pt x="7149605" y="7785"/>
                  </a:lnTo>
                  <a:close/>
                </a:path>
              </a:pathLst>
            </a:custGeom>
            <a:solidFill>
              <a:srgbClr val="5EC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72907" y="0"/>
              <a:ext cx="4510405" cy="10285095"/>
            </a:xfrm>
            <a:custGeom>
              <a:avLst/>
              <a:gdLst/>
              <a:ahLst/>
              <a:cxnLst/>
              <a:rect l="l" t="t" r="r" b="b"/>
              <a:pathLst>
                <a:path w="4510405" h="10285095">
                  <a:moveTo>
                    <a:pt x="4510338" y="10284613"/>
                  </a:moveTo>
                  <a:lnTo>
                    <a:pt x="0" y="10284613"/>
                  </a:lnTo>
                  <a:lnTo>
                    <a:pt x="3063815" y="0"/>
                  </a:lnTo>
                  <a:lnTo>
                    <a:pt x="4510331" y="0"/>
                  </a:lnTo>
                  <a:lnTo>
                    <a:pt x="4510338" y="10284613"/>
                  </a:lnTo>
                  <a:close/>
                </a:path>
              </a:pathLst>
            </a:custGeom>
            <a:solidFill>
              <a:srgbClr val="5ECBEF">
                <a:alpha val="3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407388" y="0"/>
              <a:ext cx="3881120" cy="10284460"/>
            </a:xfrm>
            <a:custGeom>
              <a:avLst/>
              <a:gdLst/>
              <a:ahLst/>
              <a:cxnLst/>
              <a:rect l="l" t="t" r="r" b="b"/>
              <a:pathLst>
                <a:path w="3881119" h="10284460">
                  <a:moveTo>
                    <a:pt x="3880611" y="10284448"/>
                  </a:moveTo>
                  <a:lnTo>
                    <a:pt x="1811544" y="10284448"/>
                  </a:lnTo>
                  <a:lnTo>
                    <a:pt x="0" y="0"/>
                  </a:lnTo>
                  <a:lnTo>
                    <a:pt x="3880615" y="0"/>
                  </a:lnTo>
                  <a:lnTo>
                    <a:pt x="3880611" y="10284448"/>
                  </a:lnTo>
                  <a:close/>
                </a:path>
              </a:pathLst>
            </a:custGeom>
            <a:solidFill>
              <a:srgbClr val="5ECB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398489" y="4571999"/>
              <a:ext cx="4889500" cy="5715000"/>
            </a:xfrm>
            <a:custGeom>
              <a:avLst/>
              <a:gdLst/>
              <a:ahLst/>
              <a:cxnLst/>
              <a:rect l="l" t="t" r="r" b="b"/>
              <a:pathLst>
                <a:path w="4889500" h="5715000">
                  <a:moveTo>
                    <a:pt x="4889479" y="5714999"/>
                  </a:moveTo>
                  <a:lnTo>
                    <a:pt x="0" y="5714999"/>
                  </a:lnTo>
                  <a:lnTo>
                    <a:pt x="4889479" y="0"/>
                  </a:lnTo>
                  <a:lnTo>
                    <a:pt x="4889479" y="5714999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006318" y="0"/>
              <a:ext cx="4277360" cy="10287000"/>
            </a:xfrm>
            <a:custGeom>
              <a:avLst/>
              <a:gdLst/>
              <a:ahLst/>
              <a:cxnLst/>
              <a:rect l="l" t="t" r="r" b="b"/>
              <a:pathLst>
                <a:path w="4277359" h="10287000">
                  <a:moveTo>
                    <a:pt x="4276926" y="10286969"/>
                  </a:moveTo>
                  <a:lnTo>
                    <a:pt x="3701524" y="10286999"/>
                  </a:lnTo>
                  <a:lnTo>
                    <a:pt x="0" y="0"/>
                  </a:lnTo>
                  <a:lnTo>
                    <a:pt x="4276926" y="0"/>
                  </a:lnTo>
                  <a:lnTo>
                    <a:pt x="4276926" y="10286969"/>
                  </a:lnTo>
                  <a:close/>
                </a:path>
              </a:pathLst>
            </a:custGeom>
            <a:solidFill>
              <a:srgbClr val="17B0E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673102" y="1250928"/>
            <a:ext cx="14239875" cy="7098665"/>
          </a:xfrm>
          <a:custGeom>
            <a:avLst/>
            <a:gdLst/>
            <a:ahLst/>
            <a:cxnLst/>
            <a:rect l="l" t="t" r="r" b="b"/>
            <a:pathLst>
              <a:path w="14239875" h="7098665">
                <a:moveTo>
                  <a:pt x="14134505" y="7098126"/>
                </a:moveTo>
                <a:lnTo>
                  <a:pt x="105369" y="7098126"/>
                </a:lnTo>
                <a:lnTo>
                  <a:pt x="84739" y="7096090"/>
                </a:lnTo>
                <a:lnTo>
                  <a:pt x="46943" y="7080450"/>
                </a:lnTo>
                <a:lnTo>
                  <a:pt x="17684" y="7051206"/>
                </a:lnTo>
                <a:lnTo>
                  <a:pt x="2036" y="7013429"/>
                </a:lnTo>
                <a:lnTo>
                  <a:pt x="0" y="6992809"/>
                </a:lnTo>
                <a:lnTo>
                  <a:pt x="0" y="105221"/>
                </a:lnTo>
                <a:lnTo>
                  <a:pt x="8278" y="64275"/>
                </a:lnTo>
                <a:lnTo>
                  <a:pt x="30855" y="30828"/>
                </a:lnTo>
                <a:lnTo>
                  <a:pt x="64348" y="8272"/>
                </a:lnTo>
                <a:lnTo>
                  <a:pt x="105369" y="0"/>
                </a:lnTo>
                <a:lnTo>
                  <a:pt x="14134505" y="0"/>
                </a:lnTo>
                <a:lnTo>
                  <a:pt x="14174792" y="7998"/>
                </a:lnTo>
                <a:lnTo>
                  <a:pt x="14209007" y="30852"/>
                </a:lnTo>
                <a:lnTo>
                  <a:pt x="14231872" y="65049"/>
                </a:lnTo>
                <a:lnTo>
                  <a:pt x="14239874" y="105316"/>
                </a:lnTo>
                <a:lnTo>
                  <a:pt x="14239874" y="6992809"/>
                </a:lnTo>
                <a:lnTo>
                  <a:pt x="14231596" y="7033810"/>
                </a:lnTo>
                <a:lnTo>
                  <a:pt x="14209018" y="7067285"/>
                </a:lnTo>
                <a:lnTo>
                  <a:pt x="14175526" y="7089852"/>
                </a:lnTo>
                <a:lnTo>
                  <a:pt x="14134505" y="7098126"/>
                </a:lnTo>
                <a:close/>
              </a:path>
            </a:pathLst>
          </a:custGeom>
          <a:solidFill>
            <a:srgbClr val="FFFFFF">
              <a:alpha val="63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5558397" y="0"/>
            <a:ext cx="2725420" cy="10287000"/>
            <a:chOff x="15558397" y="0"/>
            <a:chExt cx="2725420" cy="10287000"/>
          </a:xfrm>
        </p:grpSpPr>
        <p:sp>
          <p:nvSpPr>
            <p:cNvPr id="11" name="object 11" descr=""/>
            <p:cNvSpPr/>
            <p:nvPr/>
          </p:nvSpPr>
          <p:spPr>
            <a:xfrm>
              <a:off x="16348095" y="0"/>
              <a:ext cx="1935480" cy="10287000"/>
            </a:xfrm>
            <a:custGeom>
              <a:avLst/>
              <a:gdLst/>
              <a:ahLst/>
              <a:cxnLst/>
              <a:rect l="l" t="t" r="r" b="b"/>
              <a:pathLst>
                <a:path w="1935480" h="10287000">
                  <a:moveTo>
                    <a:pt x="1935179" y="10286999"/>
                  </a:moveTo>
                  <a:lnTo>
                    <a:pt x="0" y="10286999"/>
                  </a:lnTo>
                  <a:lnTo>
                    <a:pt x="1527727" y="0"/>
                  </a:lnTo>
                  <a:lnTo>
                    <a:pt x="1935179" y="0"/>
                  </a:lnTo>
                  <a:lnTo>
                    <a:pt x="1935179" y="10286999"/>
                  </a:lnTo>
                  <a:close/>
                </a:path>
              </a:pathLst>
            </a:custGeom>
            <a:solidFill>
              <a:srgbClr val="2E82C2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410561" y="0"/>
              <a:ext cx="1873250" cy="10283825"/>
            </a:xfrm>
            <a:custGeom>
              <a:avLst/>
              <a:gdLst/>
              <a:ahLst/>
              <a:cxnLst/>
              <a:rect l="l" t="t" r="r" b="b"/>
              <a:pathLst>
                <a:path w="1873250" h="10283825">
                  <a:moveTo>
                    <a:pt x="1872687" y="10283701"/>
                  </a:moveTo>
                  <a:lnTo>
                    <a:pt x="1661501" y="10283701"/>
                  </a:lnTo>
                  <a:lnTo>
                    <a:pt x="0" y="0"/>
                  </a:lnTo>
                  <a:lnTo>
                    <a:pt x="1872671" y="0"/>
                  </a:lnTo>
                  <a:lnTo>
                    <a:pt x="1872687" y="10283701"/>
                  </a:lnTo>
                  <a:close/>
                </a:path>
              </a:pathLst>
            </a:custGeom>
            <a:solidFill>
              <a:srgbClr val="236191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558397" y="5384797"/>
              <a:ext cx="2725420" cy="4900930"/>
            </a:xfrm>
            <a:custGeom>
              <a:avLst/>
              <a:gdLst/>
              <a:ahLst/>
              <a:cxnLst/>
              <a:rect l="l" t="t" r="r" b="b"/>
              <a:pathLst>
                <a:path w="2725419" h="4900930">
                  <a:moveTo>
                    <a:pt x="2724876" y="4900634"/>
                  </a:moveTo>
                  <a:lnTo>
                    <a:pt x="0" y="4900634"/>
                  </a:lnTo>
                  <a:lnTo>
                    <a:pt x="2724883" y="0"/>
                  </a:lnTo>
                  <a:lnTo>
                    <a:pt x="2724876" y="4900634"/>
                  </a:lnTo>
                  <a:close/>
                </a:path>
              </a:pathLst>
            </a:custGeom>
            <a:solidFill>
              <a:srgbClr val="17B0E3">
                <a:alpha val="65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72032" y="1650307"/>
            <a:ext cx="362966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8875" algn="l"/>
              </a:tabLst>
            </a:pPr>
            <a:r>
              <a:rPr dirty="0" sz="5400" spc="-10"/>
              <a:t>GitHub</a:t>
            </a:r>
            <a:r>
              <a:rPr dirty="0" sz="5400"/>
              <a:t>	</a:t>
            </a:r>
            <a:r>
              <a:rPr dirty="0" sz="5400" spc="-20"/>
              <a:t>link</a:t>
            </a:r>
            <a:endParaRPr sz="5400"/>
          </a:p>
        </p:txBody>
      </p:sp>
      <p:sp>
        <p:nvSpPr>
          <p:cNvPr id="15" name="object 15" descr=""/>
          <p:cNvSpPr/>
          <p:nvPr/>
        </p:nvSpPr>
        <p:spPr>
          <a:xfrm>
            <a:off x="768598" y="3754597"/>
            <a:ext cx="13805535" cy="4052570"/>
          </a:xfrm>
          <a:custGeom>
            <a:avLst/>
            <a:gdLst/>
            <a:ahLst/>
            <a:cxnLst/>
            <a:rect l="l" t="t" r="r" b="b"/>
            <a:pathLst>
              <a:path w="13805535" h="4052570">
                <a:moveTo>
                  <a:pt x="108588" y="0"/>
                </a:moveTo>
                <a:lnTo>
                  <a:pt x="13696721" y="0"/>
                </a:lnTo>
                <a:lnTo>
                  <a:pt x="13717987" y="2104"/>
                </a:lnTo>
                <a:lnTo>
                  <a:pt x="13756945" y="18242"/>
                </a:lnTo>
                <a:lnTo>
                  <a:pt x="13787066" y="48359"/>
                </a:lnTo>
                <a:lnTo>
                  <a:pt x="13803205" y="87314"/>
                </a:lnTo>
                <a:lnTo>
                  <a:pt x="13805310" y="108577"/>
                </a:lnTo>
                <a:lnTo>
                  <a:pt x="13805310" y="3943453"/>
                </a:lnTo>
                <a:lnTo>
                  <a:pt x="13797047" y="3984979"/>
                </a:lnTo>
                <a:lnTo>
                  <a:pt x="13773495" y="4020219"/>
                </a:lnTo>
                <a:lnTo>
                  <a:pt x="13738252" y="4043768"/>
                </a:lnTo>
                <a:lnTo>
                  <a:pt x="13696721" y="4052030"/>
                </a:lnTo>
                <a:lnTo>
                  <a:pt x="108588" y="4052030"/>
                </a:lnTo>
                <a:lnTo>
                  <a:pt x="67058" y="4043768"/>
                </a:lnTo>
                <a:lnTo>
                  <a:pt x="31814" y="4020219"/>
                </a:lnTo>
                <a:lnTo>
                  <a:pt x="8263" y="3984979"/>
                </a:lnTo>
                <a:lnTo>
                  <a:pt x="0" y="3943453"/>
                </a:lnTo>
                <a:lnTo>
                  <a:pt x="0" y="108577"/>
                </a:lnTo>
                <a:lnTo>
                  <a:pt x="8263" y="67051"/>
                </a:lnTo>
                <a:lnTo>
                  <a:pt x="31814" y="31811"/>
                </a:lnTo>
                <a:lnTo>
                  <a:pt x="67058" y="8262"/>
                </a:lnTo>
                <a:lnTo>
                  <a:pt x="108588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887094">
              <a:lnSpc>
                <a:spcPct val="100000"/>
              </a:lnSpc>
              <a:spcBef>
                <a:spcPts val="100"/>
              </a:spcBef>
            </a:pPr>
            <a:r>
              <a:rPr dirty="0" u="none">
                <a:solidFill>
                  <a:srgbClr val="000000"/>
                </a:solidFill>
              </a:rPr>
              <a:t>GitHub</a:t>
            </a:r>
            <a:r>
              <a:rPr dirty="0" u="none" spc="-13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repository</a:t>
            </a:r>
            <a:r>
              <a:rPr dirty="0" u="none" spc="-125">
                <a:solidFill>
                  <a:srgbClr val="000000"/>
                </a:solidFill>
              </a:rPr>
              <a:t> </a:t>
            </a:r>
            <a:r>
              <a:rPr dirty="0" u="none" spc="-10">
                <a:solidFill>
                  <a:srgbClr val="000000"/>
                </a:solidFill>
              </a:rPr>
              <a:t>link: </a:t>
            </a:r>
            <a:r>
              <a:rPr dirty="0" spc="-25">
                <a:hlinkClick r:id="rId2"/>
              </a:rPr>
              <a:t>https://</a:t>
            </a:r>
            <a:r>
              <a:rPr dirty="0" u="none" spc="-25">
                <a:hlinkClick r:id="rId2"/>
              </a:rPr>
              <a:t>g</a:t>
            </a:r>
            <a:r>
              <a:rPr dirty="0" spc="-25">
                <a:hlinkClick r:id="rId2"/>
              </a:rPr>
              <a:t>ithub.com/PERSONAL-</a:t>
            </a:r>
            <a:r>
              <a:rPr dirty="0" spc="-10">
                <a:hlinkClick r:id="rId2"/>
              </a:rPr>
              <a:t>PROJECTS-</a:t>
            </a:r>
            <a:r>
              <a:rPr dirty="0" u="none" spc="-10"/>
              <a:t> </a:t>
            </a:r>
            <a:r>
              <a:rPr dirty="0" spc="-10">
                <a:hlinkClick r:id="rId2"/>
              </a:rPr>
              <a:t>2000/AINIDS</a:t>
            </a:r>
          </a:p>
          <a:p>
            <a:pPr marL="37465">
              <a:lnSpc>
                <a:spcPct val="100000"/>
              </a:lnSpc>
              <a:spcBef>
                <a:spcPts val="3975"/>
              </a:spcBef>
              <a:tabLst>
                <a:tab pos="5746115" algn="l"/>
              </a:tabLst>
            </a:pPr>
            <a:r>
              <a:rPr dirty="0" u="none">
                <a:solidFill>
                  <a:srgbClr val="000000"/>
                </a:solidFill>
              </a:rPr>
              <a:t>Streamlit</a:t>
            </a:r>
            <a:r>
              <a:rPr dirty="0" u="none" spc="-10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app</a:t>
            </a:r>
            <a:r>
              <a:rPr dirty="0" u="none" spc="-105">
                <a:solidFill>
                  <a:srgbClr val="000000"/>
                </a:solidFill>
              </a:rPr>
              <a:t> </a:t>
            </a:r>
            <a:r>
              <a:rPr dirty="0" u="none" spc="-10">
                <a:solidFill>
                  <a:srgbClr val="000000"/>
                </a:solidFill>
              </a:rPr>
              <a:t>link:</a:t>
            </a:r>
            <a:r>
              <a:rPr dirty="0" u="none">
                <a:solidFill>
                  <a:srgbClr val="000000"/>
                </a:solidFill>
              </a:rPr>
              <a:t>	</a:t>
            </a:r>
            <a:r>
              <a:rPr dirty="0" spc="-10">
                <a:hlinkClick r:id="rId3"/>
              </a:rPr>
              <a:t>ainids-pdas.streamlit.app</a:t>
            </a:r>
          </a:p>
        </p:txBody>
      </p:sp>
      <p:sp>
        <p:nvSpPr>
          <p:cNvPr id="17" name="object 17" descr=""/>
          <p:cNvSpPr/>
          <p:nvPr/>
        </p:nvSpPr>
        <p:spPr>
          <a:xfrm>
            <a:off x="0" y="6019799"/>
            <a:ext cx="673735" cy="4267200"/>
          </a:xfrm>
          <a:custGeom>
            <a:avLst/>
            <a:gdLst/>
            <a:ahLst/>
            <a:cxnLst/>
            <a:rect l="l" t="t" r="r" b="b"/>
            <a:pathLst>
              <a:path w="673735" h="4267200">
                <a:moveTo>
                  <a:pt x="673132" y="4267199"/>
                </a:moveTo>
                <a:lnTo>
                  <a:pt x="0" y="4267199"/>
                </a:lnTo>
                <a:lnTo>
                  <a:pt x="0" y="0"/>
                </a:lnTo>
                <a:lnTo>
                  <a:pt x="673132" y="4267199"/>
                </a:lnTo>
                <a:close/>
              </a:path>
            </a:pathLst>
          </a:custGeom>
          <a:solidFill>
            <a:srgbClr val="5ECBE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20006" y="5201350"/>
            <a:ext cx="687705" cy="593090"/>
          </a:xfrm>
          <a:custGeom>
            <a:avLst/>
            <a:gdLst/>
            <a:ahLst/>
            <a:cxnLst/>
            <a:rect l="l" t="t" r="r" b="b"/>
            <a:pathLst>
              <a:path w="687705" h="593089">
                <a:moveTo>
                  <a:pt x="539209" y="592531"/>
                </a:moveTo>
                <a:lnTo>
                  <a:pt x="148114" y="592531"/>
                </a:lnTo>
                <a:lnTo>
                  <a:pt x="0" y="296296"/>
                </a:lnTo>
                <a:lnTo>
                  <a:pt x="148114" y="0"/>
                </a:lnTo>
                <a:lnTo>
                  <a:pt x="539209" y="0"/>
                </a:lnTo>
                <a:lnTo>
                  <a:pt x="687418" y="296296"/>
                </a:lnTo>
                <a:lnTo>
                  <a:pt x="539209" y="592531"/>
                </a:lnTo>
                <a:close/>
              </a:path>
            </a:pathLst>
          </a:custGeom>
          <a:solidFill>
            <a:srgbClr val="5ECB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6323960" y="3303299"/>
            <a:ext cx="883919" cy="752475"/>
            <a:chOff x="16323960" y="3303299"/>
            <a:chExt cx="883919" cy="752475"/>
          </a:xfrm>
        </p:grpSpPr>
        <p:sp>
          <p:nvSpPr>
            <p:cNvPr id="4" name="object 4" descr=""/>
            <p:cNvSpPr/>
            <p:nvPr/>
          </p:nvSpPr>
          <p:spPr>
            <a:xfrm>
              <a:off x="16669999" y="3592097"/>
              <a:ext cx="537845" cy="463550"/>
            </a:xfrm>
            <a:custGeom>
              <a:avLst/>
              <a:gdLst/>
              <a:ahLst/>
              <a:cxnLst/>
              <a:rect l="l" t="t" r="r" b="b"/>
              <a:pathLst>
                <a:path w="537844" h="463550">
                  <a:moveTo>
                    <a:pt x="421782" y="463387"/>
                  </a:moveTo>
                  <a:lnTo>
                    <a:pt x="115823" y="463387"/>
                  </a:lnTo>
                  <a:lnTo>
                    <a:pt x="0" y="231739"/>
                  </a:lnTo>
                  <a:lnTo>
                    <a:pt x="115823" y="0"/>
                  </a:lnTo>
                  <a:lnTo>
                    <a:pt x="421782" y="0"/>
                  </a:lnTo>
                  <a:lnTo>
                    <a:pt x="537606" y="231739"/>
                  </a:lnTo>
                  <a:lnTo>
                    <a:pt x="421782" y="463387"/>
                  </a:lnTo>
                  <a:close/>
                </a:path>
              </a:pathLst>
            </a:custGeom>
            <a:solidFill>
              <a:srgbClr val="2E82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323960" y="3303299"/>
              <a:ext cx="346075" cy="298450"/>
            </a:xfrm>
            <a:custGeom>
              <a:avLst/>
              <a:gdLst/>
              <a:ahLst/>
              <a:cxnLst/>
              <a:rect l="l" t="t" r="r" b="b"/>
              <a:pathLst>
                <a:path w="346075" h="298450">
                  <a:moveTo>
                    <a:pt x="271485" y="298307"/>
                  </a:moveTo>
                  <a:lnTo>
                    <a:pt x="74584" y="298307"/>
                  </a:lnTo>
                  <a:lnTo>
                    <a:pt x="0" y="149169"/>
                  </a:lnTo>
                  <a:lnTo>
                    <a:pt x="74584" y="0"/>
                  </a:lnTo>
                  <a:lnTo>
                    <a:pt x="271485" y="0"/>
                  </a:lnTo>
                  <a:lnTo>
                    <a:pt x="346069" y="149169"/>
                  </a:lnTo>
                  <a:lnTo>
                    <a:pt x="271485" y="298307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2025649" y="1043996"/>
            <a:ext cx="14239875" cy="8202930"/>
          </a:xfrm>
          <a:custGeom>
            <a:avLst/>
            <a:gdLst/>
            <a:ahLst/>
            <a:cxnLst/>
            <a:rect l="l" t="t" r="r" b="b"/>
            <a:pathLst>
              <a:path w="14239875" h="8202930">
                <a:moveTo>
                  <a:pt x="14134505" y="8202898"/>
                </a:moveTo>
                <a:lnTo>
                  <a:pt x="105369" y="8202898"/>
                </a:lnTo>
                <a:lnTo>
                  <a:pt x="64348" y="8194617"/>
                </a:lnTo>
                <a:lnTo>
                  <a:pt x="30855" y="8172034"/>
                </a:lnTo>
                <a:lnTo>
                  <a:pt x="8278" y="8138534"/>
                </a:lnTo>
                <a:lnTo>
                  <a:pt x="0" y="8097502"/>
                </a:lnTo>
                <a:lnTo>
                  <a:pt x="0" y="105299"/>
                </a:lnTo>
                <a:lnTo>
                  <a:pt x="8278" y="64323"/>
                </a:lnTo>
                <a:lnTo>
                  <a:pt x="30855" y="30851"/>
                </a:lnTo>
                <a:lnTo>
                  <a:pt x="64348" y="8278"/>
                </a:lnTo>
                <a:lnTo>
                  <a:pt x="105369" y="0"/>
                </a:lnTo>
                <a:lnTo>
                  <a:pt x="14134505" y="0"/>
                </a:lnTo>
                <a:lnTo>
                  <a:pt x="14174792" y="8004"/>
                </a:lnTo>
                <a:lnTo>
                  <a:pt x="14209007" y="30875"/>
                </a:lnTo>
                <a:lnTo>
                  <a:pt x="14231872" y="65097"/>
                </a:lnTo>
                <a:lnTo>
                  <a:pt x="14239874" y="105395"/>
                </a:lnTo>
                <a:lnTo>
                  <a:pt x="14239874" y="8097502"/>
                </a:lnTo>
                <a:lnTo>
                  <a:pt x="14231596" y="8138534"/>
                </a:lnTo>
                <a:lnTo>
                  <a:pt x="14209018" y="8172034"/>
                </a:lnTo>
                <a:lnTo>
                  <a:pt x="14175526" y="8194617"/>
                </a:lnTo>
                <a:lnTo>
                  <a:pt x="14134505" y="8202898"/>
                </a:lnTo>
                <a:close/>
              </a:path>
            </a:pathLst>
          </a:custGeom>
          <a:solidFill>
            <a:srgbClr val="FFFFFF">
              <a:alpha val="6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57356" y="4306224"/>
            <a:ext cx="6773545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/>
              <a:t>Thank</a:t>
            </a:r>
            <a:r>
              <a:rPr dirty="0" sz="10000" spc="-25"/>
              <a:t> </a:t>
            </a:r>
            <a:r>
              <a:rPr dirty="0" sz="10000" spc="-20"/>
              <a:t>You!</a:t>
            </a:r>
            <a:endParaRPr sz="10000"/>
          </a:p>
        </p:txBody>
      </p:sp>
      <p:sp>
        <p:nvSpPr>
          <p:cNvPr id="8" name="object 8" descr=""/>
          <p:cNvSpPr/>
          <p:nvPr/>
        </p:nvSpPr>
        <p:spPr>
          <a:xfrm>
            <a:off x="4941795" y="3088335"/>
            <a:ext cx="8347709" cy="4052570"/>
          </a:xfrm>
          <a:custGeom>
            <a:avLst/>
            <a:gdLst/>
            <a:ahLst/>
            <a:cxnLst/>
            <a:rect l="l" t="t" r="r" b="b"/>
            <a:pathLst>
              <a:path w="8347709" h="4052570">
                <a:moveTo>
                  <a:pt x="179663" y="0"/>
                </a:moveTo>
                <a:lnTo>
                  <a:pt x="8167944" y="0"/>
                </a:lnTo>
                <a:lnTo>
                  <a:pt x="8215686" y="6413"/>
                </a:lnTo>
                <a:lnTo>
                  <a:pt x="8258598" y="24516"/>
                </a:lnTo>
                <a:lnTo>
                  <a:pt x="8294964" y="52598"/>
                </a:lnTo>
                <a:lnTo>
                  <a:pt x="8323066" y="88950"/>
                </a:lnTo>
                <a:lnTo>
                  <a:pt x="8341186" y="131863"/>
                </a:lnTo>
                <a:lnTo>
                  <a:pt x="8347608" y="179628"/>
                </a:lnTo>
                <a:lnTo>
                  <a:pt x="8347608" y="3872401"/>
                </a:lnTo>
                <a:lnTo>
                  <a:pt x="8341193" y="3920134"/>
                </a:lnTo>
                <a:lnTo>
                  <a:pt x="8323087" y="3963038"/>
                </a:lnTo>
                <a:lnTo>
                  <a:pt x="8295000" y="3999396"/>
                </a:lnTo>
                <a:lnTo>
                  <a:pt x="8258640" y="4027493"/>
                </a:lnTo>
                <a:lnTo>
                  <a:pt x="8215719" y="4045610"/>
                </a:lnTo>
                <a:lnTo>
                  <a:pt x="8167944" y="4052030"/>
                </a:lnTo>
                <a:lnTo>
                  <a:pt x="179663" y="4052030"/>
                </a:lnTo>
                <a:lnTo>
                  <a:pt x="131889" y="4045610"/>
                </a:lnTo>
                <a:lnTo>
                  <a:pt x="88967" y="4027493"/>
                </a:lnTo>
                <a:lnTo>
                  <a:pt x="52608" y="3999396"/>
                </a:lnTo>
                <a:lnTo>
                  <a:pt x="24521" y="3963038"/>
                </a:lnTo>
                <a:lnTo>
                  <a:pt x="6415" y="3920134"/>
                </a:lnTo>
                <a:lnTo>
                  <a:pt x="0" y="3872401"/>
                </a:lnTo>
                <a:lnTo>
                  <a:pt x="0" y="179628"/>
                </a:lnTo>
                <a:lnTo>
                  <a:pt x="6415" y="131863"/>
                </a:lnTo>
                <a:lnTo>
                  <a:pt x="24521" y="88950"/>
                </a:lnTo>
                <a:lnTo>
                  <a:pt x="52608" y="52598"/>
                </a:lnTo>
                <a:lnTo>
                  <a:pt x="88967" y="24516"/>
                </a:lnTo>
                <a:lnTo>
                  <a:pt x="131889" y="6413"/>
                </a:lnTo>
                <a:lnTo>
                  <a:pt x="179663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Canvap</dc:creator>
  <cp:keywords>DAG-EdWcydQ,BAGRT-HK82g,0</cp:keywords>
  <dc:title>PRIYADARSHINY DAS AINIDS</dc:title>
  <dcterms:created xsi:type="dcterms:W3CDTF">2026-01-11T02:47:15Z</dcterms:created>
  <dcterms:modified xsi:type="dcterms:W3CDTF">2026-01-11T02:47:15Z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2026-01-11T00:00:00Z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2026-01-11T00:00:00Z</vt:filetime>
  </property>
  <property fmtid="{D5CDD505-2E9C-101B-9397-08002B2CF9AE}" pid="5" name="Producer">
    <vt:lpwstr>3-Heights(TM) PDF Security Shell 4.8.25.2 (http://www.pdf-tools.com)</vt:lpwstr>
  </property>
</Properties>
</file>