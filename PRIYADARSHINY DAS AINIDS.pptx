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Trebuchet MS" charset="1" panose="020B0603020202020204"/>
      <p:regular r:id="rId26"/>
    </p:embeddedFont>
    <p:embeddedFont>
      <p:font typeface="Trebuchet MS Bold" charset="1" panose="020B0703020202020204"/>
      <p:regular r:id="rId27"/>
    </p:embeddedFont>
    <p:embeddedFont>
      <p:font typeface="Trebuchet MS Italics" charset="1" panose="020B06030202020902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notesMasters/notesMaster1.xml" Type="http://schemas.openxmlformats.org/officeDocument/2006/relationships/notesMaster"/><Relationship Id="rId3" Target="viewProps.xml" Type="http://schemas.openxmlformats.org/officeDocument/2006/relationships/viewProps"/><Relationship Id="rId30" Target="theme/theme2.xml" Type="http://schemas.openxmlformats.org/officeDocument/2006/relationships/theme"/><Relationship Id="rId31" Target="notesSlides/notesSlide1.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https://ainids-pdas.streamlit.app" TargetMode="External" Type="http://schemas.openxmlformats.org/officeDocument/2006/relationships/hyperlink"/></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png" Type="http://schemas.openxmlformats.org/officeDocument/2006/relationships/image"/><Relationship Id="rId4" Target="../media/image5.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 Id="rId4" Target="../media/image11.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 Id="rId3" Target="../media/image1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18.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 Id="rId3" Target="../media/image20.png" Type="http://schemas.openxmlformats.org/officeDocument/2006/relationships/image"/><Relationship Id="rId4" Target="../media/image1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https://github.com/PERSONAL-PROJECTS-2000/AINIDS" TargetMode="External" Type="http://schemas.openxmlformats.org/officeDocument/2006/relationships/hyperlink"/><Relationship Id="rId3" Target="https://ainids-pdas.streamlit.app" TargetMode="External" Type="http://schemas.openxmlformats.org/officeDocument/2006/relationships/hyperlink"/></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12/30/2025</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solidFill>
              <a:srgbClr val="000000">
                <a:alpha val="0"/>
              </a:srgbClr>
            </a:solidFill>
            <a:ln w="12700">
              <a:solidFill>
                <a:srgbClr val="000000"/>
              </a:solidFill>
            </a:ln>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110463" y="2074212"/>
            <a:ext cx="1844345" cy="1589961"/>
            <a:chOff x="0" y="0"/>
            <a:chExt cx="2459126" cy="2119948"/>
          </a:xfrm>
        </p:grpSpPr>
        <p:sp>
          <p:nvSpPr>
            <p:cNvPr name="Freeform 30" id="30"/>
            <p:cNvSpPr/>
            <p:nvPr/>
          </p:nvSpPr>
          <p:spPr>
            <a:xfrm flipH="false" flipV="false" rot="0">
              <a:off x="0" y="0"/>
              <a:ext cx="2459101" cy="2119884"/>
            </a:xfrm>
            <a:custGeom>
              <a:avLst/>
              <a:gdLst/>
              <a:ahLst/>
              <a:cxnLst/>
              <a:rect r="r" b="b" t="t" l="l"/>
              <a:pathLst>
                <a:path h="2119884" w="2459101">
                  <a:moveTo>
                    <a:pt x="0" y="1059942"/>
                  </a:moveTo>
                  <a:lnTo>
                    <a:pt x="529971" y="0"/>
                  </a:lnTo>
                  <a:lnTo>
                    <a:pt x="1929130" y="0"/>
                  </a:lnTo>
                  <a:lnTo>
                    <a:pt x="2459101" y="1059942"/>
                  </a:lnTo>
                  <a:lnTo>
                    <a:pt x="1929130" y="2119884"/>
                  </a:lnTo>
                  <a:lnTo>
                    <a:pt x="529971" y="2119884"/>
                  </a:lnTo>
                  <a:close/>
                </a:path>
              </a:pathLst>
            </a:custGeom>
            <a:solidFill>
              <a:srgbClr val="5FCBEF"/>
            </a:solidFill>
            <a:ln w="12700">
              <a:solidFill>
                <a:srgbClr val="000000"/>
              </a:solidFill>
            </a:ln>
          </p:spPr>
        </p:sp>
      </p:grpSp>
      <p:grpSp>
        <p:nvGrpSpPr>
          <p:cNvPr name="Group 31" id="31"/>
          <p:cNvGrpSpPr/>
          <p:nvPr/>
        </p:nvGrpSpPr>
        <p:grpSpPr>
          <a:xfrm rot="0">
            <a:off x="5632542" y="1791929"/>
            <a:ext cx="2499246" cy="2154517"/>
            <a:chOff x="0" y="0"/>
            <a:chExt cx="3332328" cy="2872689"/>
          </a:xfrm>
        </p:grpSpPr>
        <p:sp>
          <p:nvSpPr>
            <p:cNvPr name="Freeform 32" id="32"/>
            <p:cNvSpPr/>
            <p:nvPr/>
          </p:nvSpPr>
          <p:spPr>
            <a:xfrm flipH="false" flipV="false" rot="0">
              <a:off x="0" y="0"/>
              <a:ext cx="3332353" cy="2872740"/>
            </a:xfrm>
            <a:custGeom>
              <a:avLst/>
              <a:gdLst/>
              <a:ahLst/>
              <a:cxnLst/>
              <a:rect r="r" b="b" t="t" l="l"/>
              <a:pathLst>
                <a:path h="2872740" w="3332353">
                  <a:moveTo>
                    <a:pt x="0" y="1436370"/>
                  </a:moveTo>
                  <a:lnTo>
                    <a:pt x="718185" y="0"/>
                  </a:lnTo>
                  <a:lnTo>
                    <a:pt x="2614168" y="0"/>
                  </a:lnTo>
                  <a:lnTo>
                    <a:pt x="3332353" y="1436370"/>
                  </a:lnTo>
                  <a:lnTo>
                    <a:pt x="2614168" y="2872740"/>
                  </a:lnTo>
                  <a:lnTo>
                    <a:pt x="718185" y="2872740"/>
                  </a:lnTo>
                  <a:close/>
                </a:path>
              </a:pathLst>
            </a:custGeom>
            <a:solidFill>
              <a:srgbClr val="42D0A2"/>
            </a:solidFill>
            <a:ln w="12700">
              <a:solidFill>
                <a:srgbClr val="000000"/>
              </a:solidFill>
            </a:ln>
          </p:spPr>
        </p:sp>
      </p:grpSp>
      <p:grpSp>
        <p:nvGrpSpPr>
          <p:cNvPr name="Group 33" id="33"/>
          <p:cNvGrpSpPr/>
          <p:nvPr/>
        </p:nvGrpSpPr>
        <p:grpSpPr>
          <a:xfrm rot="0">
            <a:off x="5707494" y="7849772"/>
            <a:ext cx="1077392" cy="928783"/>
            <a:chOff x="0" y="0"/>
            <a:chExt cx="1436522" cy="1238377"/>
          </a:xfrm>
        </p:grpSpPr>
        <p:sp>
          <p:nvSpPr>
            <p:cNvPr name="Freeform 34" id="34"/>
            <p:cNvSpPr/>
            <p:nvPr/>
          </p:nvSpPr>
          <p:spPr>
            <a:xfrm flipH="false" flipV="false" rot="0">
              <a:off x="0" y="0"/>
              <a:ext cx="1436497" cy="1238377"/>
            </a:xfrm>
            <a:custGeom>
              <a:avLst/>
              <a:gdLst/>
              <a:ahLst/>
              <a:cxnLst/>
              <a:rect r="r" b="b" t="t" l="l"/>
              <a:pathLst>
                <a:path h="1238377" w="1436497">
                  <a:moveTo>
                    <a:pt x="0" y="619252"/>
                  </a:moveTo>
                  <a:lnTo>
                    <a:pt x="309626" y="0"/>
                  </a:lnTo>
                  <a:lnTo>
                    <a:pt x="1126871" y="0"/>
                  </a:lnTo>
                  <a:lnTo>
                    <a:pt x="1436497" y="619252"/>
                  </a:lnTo>
                  <a:lnTo>
                    <a:pt x="1126871" y="1238377"/>
                  </a:lnTo>
                  <a:lnTo>
                    <a:pt x="309626" y="1238377"/>
                  </a:lnTo>
                  <a:close/>
                </a:path>
              </a:pathLst>
            </a:custGeom>
            <a:solidFill>
              <a:srgbClr val="42B051"/>
            </a:solidFill>
            <a:ln w="12700">
              <a:solidFill>
                <a:srgbClr val="000000"/>
              </a:solidFill>
            </a:ln>
          </p:spPr>
        </p:sp>
      </p:grpSp>
      <p:grpSp>
        <p:nvGrpSpPr>
          <p:cNvPr name="Group 35" id="35"/>
          <p:cNvGrpSpPr/>
          <p:nvPr/>
        </p:nvGrpSpPr>
        <p:grpSpPr>
          <a:xfrm rot="0">
            <a:off x="2756754" y="1651959"/>
            <a:ext cx="977417" cy="842601"/>
            <a:chOff x="0" y="0"/>
            <a:chExt cx="1303223" cy="1123467"/>
          </a:xfrm>
        </p:grpSpPr>
        <p:sp>
          <p:nvSpPr>
            <p:cNvPr name="Freeform 36" id="36"/>
            <p:cNvSpPr/>
            <p:nvPr/>
          </p:nvSpPr>
          <p:spPr>
            <a:xfrm flipH="false" flipV="false" rot="0">
              <a:off x="0" y="0"/>
              <a:ext cx="1303274" cy="1123442"/>
            </a:xfrm>
            <a:custGeom>
              <a:avLst/>
              <a:gdLst/>
              <a:ahLst/>
              <a:cxnLst/>
              <a:rect r="r" b="b" t="t" l="l"/>
              <a:pathLst>
                <a:path h="1123442" w="1303274">
                  <a:moveTo>
                    <a:pt x="0" y="561721"/>
                  </a:moveTo>
                  <a:lnTo>
                    <a:pt x="280924" y="0"/>
                  </a:lnTo>
                  <a:lnTo>
                    <a:pt x="1022350" y="0"/>
                  </a:lnTo>
                  <a:lnTo>
                    <a:pt x="1303274" y="561721"/>
                  </a:lnTo>
                  <a:lnTo>
                    <a:pt x="1022350" y="1123442"/>
                  </a:lnTo>
                  <a:lnTo>
                    <a:pt x="280924" y="1123442"/>
                  </a:lnTo>
                  <a:close/>
                </a:path>
              </a:pathLst>
            </a:custGeom>
            <a:solidFill>
              <a:srgbClr val="2E946B"/>
            </a:solidFill>
            <a:ln w="12700">
              <a:solidFill>
                <a:srgbClr val="000000"/>
              </a:solidFill>
            </a:ln>
          </p:spPr>
        </p:sp>
      </p:grpSp>
      <p:sp>
        <p:nvSpPr>
          <p:cNvPr name="Freeform 37" id="37"/>
          <p:cNvSpPr/>
          <p:nvPr/>
        </p:nvSpPr>
        <p:spPr>
          <a:xfrm flipH="false" flipV="false" rot="0">
            <a:off x="1013936" y="9707880"/>
            <a:ext cx="3214687" cy="289560"/>
          </a:xfrm>
          <a:custGeom>
            <a:avLst/>
            <a:gdLst/>
            <a:ahLst/>
            <a:cxnLst/>
            <a:rect r="r" b="b" t="t" l="l"/>
            <a:pathLst>
              <a:path h="289560" w="3214687">
                <a:moveTo>
                  <a:pt x="0" y="0"/>
                </a:moveTo>
                <a:lnTo>
                  <a:pt x="3214688" y="0"/>
                </a:lnTo>
                <a:lnTo>
                  <a:pt x="3214688" y="289560"/>
                </a:lnTo>
                <a:lnTo>
                  <a:pt x="0" y="289560"/>
                </a:lnTo>
                <a:lnTo>
                  <a:pt x="0" y="0"/>
                </a:lnTo>
                <a:close/>
              </a:path>
            </a:pathLst>
          </a:custGeom>
          <a:blipFill>
            <a:blip r:embed="rId2"/>
            <a:stretch>
              <a:fillRect l="0" t="-2518486" r="-135857" b="0"/>
            </a:stretch>
          </a:blipFill>
        </p:spPr>
      </p:sp>
      <p:grpSp>
        <p:nvGrpSpPr>
          <p:cNvPr name="Group 38" id="38"/>
          <p:cNvGrpSpPr/>
          <p:nvPr/>
        </p:nvGrpSpPr>
        <p:grpSpPr>
          <a:xfrm rot="0">
            <a:off x="1028700" y="1043940"/>
            <a:ext cx="14236703" cy="8199120"/>
            <a:chOff x="0" y="0"/>
            <a:chExt cx="3749584" cy="2159439"/>
          </a:xfrm>
        </p:grpSpPr>
        <p:sp>
          <p:nvSpPr>
            <p:cNvPr name="Freeform 39" id="39"/>
            <p:cNvSpPr/>
            <p:nvPr/>
          </p:nvSpPr>
          <p:spPr>
            <a:xfrm flipH="false" flipV="false" rot="0">
              <a:off x="0" y="0"/>
              <a:ext cx="3749584" cy="2159439"/>
            </a:xfrm>
            <a:custGeom>
              <a:avLst/>
              <a:gdLst/>
              <a:ahLst/>
              <a:cxnLst/>
              <a:rect r="r" b="b" t="t" l="l"/>
              <a:pathLst>
                <a:path h="2159439" w="3749584">
                  <a:moveTo>
                    <a:pt x="27734" y="0"/>
                  </a:moveTo>
                  <a:lnTo>
                    <a:pt x="3721850" y="0"/>
                  </a:lnTo>
                  <a:cubicBezTo>
                    <a:pt x="3729206" y="0"/>
                    <a:pt x="3736260" y="2922"/>
                    <a:pt x="3741461" y="8123"/>
                  </a:cubicBezTo>
                  <a:cubicBezTo>
                    <a:pt x="3746662" y="13324"/>
                    <a:pt x="3749584" y="20378"/>
                    <a:pt x="3749584" y="27734"/>
                  </a:cubicBezTo>
                  <a:lnTo>
                    <a:pt x="3749584" y="2131705"/>
                  </a:lnTo>
                  <a:cubicBezTo>
                    <a:pt x="3749584" y="2147022"/>
                    <a:pt x="3737168" y="2159439"/>
                    <a:pt x="3721850" y="2159439"/>
                  </a:cubicBezTo>
                  <a:lnTo>
                    <a:pt x="27734" y="2159439"/>
                  </a:lnTo>
                  <a:cubicBezTo>
                    <a:pt x="12417" y="2159439"/>
                    <a:pt x="0" y="2147022"/>
                    <a:pt x="0" y="2131705"/>
                  </a:cubicBezTo>
                  <a:lnTo>
                    <a:pt x="0" y="27734"/>
                  </a:lnTo>
                  <a:cubicBezTo>
                    <a:pt x="0" y="12417"/>
                    <a:pt x="12417" y="0"/>
                    <a:pt x="27734" y="0"/>
                  </a:cubicBezTo>
                  <a:close/>
                </a:path>
              </a:pathLst>
            </a:custGeom>
            <a:solidFill>
              <a:srgbClr val="FFFFFF">
                <a:alpha val="63922"/>
              </a:srgbClr>
            </a:solidFill>
            <a:ln cap="rnd">
              <a:noFill/>
              <a:prstDash val="solid"/>
              <a:round/>
            </a:ln>
          </p:spPr>
        </p:sp>
        <p:sp>
          <p:nvSpPr>
            <p:cNvPr name="TextBox 40" id="40"/>
            <p:cNvSpPr txBox="true"/>
            <p:nvPr/>
          </p:nvSpPr>
          <p:spPr>
            <a:xfrm>
              <a:off x="0" y="-9525"/>
              <a:ext cx="3749584" cy="2168964"/>
            </a:xfrm>
            <a:prstGeom prst="rect">
              <a:avLst/>
            </a:prstGeom>
          </p:spPr>
          <p:txBody>
            <a:bodyPr anchor="ctr" rtlCol="false" tIns="50800" lIns="50800" bIns="50800" rIns="50800"/>
            <a:lstStyle/>
            <a:p>
              <a:pPr algn="ctr">
                <a:lnSpc>
                  <a:spcPts val="1980"/>
                </a:lnSpc>
              </a:pPr>
            </a:p>
          </p:txBody>
        </p:sp>
      </p:grpSp>
      <p:sp>
        <p:nvSpPr>
          <p:cNvPr name="TextBox 41" id="41"/>
          <p:cNvSpPr txBox="true"/>
          <p:nvPr/>
        </p:nvSpPr>
        <p:spPr>
          <a:xfrm rot="0">
            <a:off x="1526110" y="5375272"/>
            <a:ext cx="13524862" cy="2266950"/>
          </a:xfrm>
          <a:prstGeom prst="rect">
            <a:avLst/>
          </a:prstGeom>
        </p:spPr>
        <p:txBody>
          <a:bodyPr anchor="t" rtlCol="false" tIns="0" lIns="0" bIns="0" rIns="0">
            <a:spAutoFit/>
          </a:bodyPr>
          <a:lstStyle/>
          <a:p>
            <a:pPr algn="ctr">
              <a:lnSpc>
                <a:spcPts val="3600"/>
              </a:lnSpc>
            </a:pPr>
            <a:r>
              <a:rPr lang="en-US" sz="3000" b="true">
                <a:solidFill>
                  <a:srgbClr val="000000"/>
                </a:solidFill>
                <a:latin typeface="Trebuchet MS Bold"/>
                <a:ea typeface="Trebuchet MS Bold"/>
                <a:cs typeface="Trebuchet MS Bold"/>
                <a:sym typeface="Trebuchet MS Bold"/>
              </a:rPr>
              <a:t>NAME: </a:t>
            </a:r>
            <a:r>
              <a:rPr lang="en-US" sz="3000">
                <a:solidFill>
                  <a:srgbClr val="000000"/>
                </a:solidFill>
                <a:latin typeface="Trebuchet MS"/>
                <a:ea typeface="Trebuchet MS"/>
                <a:cs typeface="Trebuchet MS"/>
                <a:sym typeface="Trebuchet MS"/>
              </a:rPr>
              <a:t>PRIYADARSHINY DAS </a:t>
            </a:r>
          </a:p>
          <a:p>
            <a:pPr algn="ctr">
              <a:lnSpc>
                <a:spcPts val="1199"/>
              </a:lnSpc>
            </a:pPr>
          </a:p>
          <a:p>
            <a:pPr algn="ctr">
              <a:lnSpc>
                <a:spcPts val="3600"/>
              </a:lnSpc>
            </a:pPr>
            <a:r>
              <a:rPr lang="en-US" sz="3000" b="true">
                <a:solidFill>
                  <a:srgbClr val="000000"/>
                </a:solidFill>
                <a:latin typeface="Trebuchet MS Bold"/>
                <a:ea typeface="Trebuchet MS Bold"/>
                <a:cs typeface="Trebuchet MS Bold"/>
                <a:sym typeface="Trebuchet MS Bold"/>
              </a:rPr>
              <a:t>AICTE ID (VOIS INTERNSHIP APPLY ID): </a:t>
            </a:r>
            <a:r>
              <a:rPr lang="en-US" sz="3000">
                <a:solidFill>
                  <a:srgbClr val="000000"/>
                </a:solidFill>
                <a:latin typeface="Trebuchet MS"/>
                <a:ea typeface="Trebuchet MS"/>
                <a:cs typeface="Trebuchet MS"/>
                <a:sym typeface="Trebuchet MS"/>
              </a:rPr>
              <a:t>APPLY_1764363743692a0ddf007b0 </a:t>
            </a:r>
          </a:p>
          <a:p>
            <a:pPr algn="ctr">
              <a:lnSpc>
                <a:spcPts val="1199"/>
              </a:lnSpc>
            </a:pPr>
          </a:p>
          <a:p>
            <a:pPr algn="ctr">
              <a:lnSpc>
                <a:spcPts val="3600"/>
              </a:lnSpc>
            </a:pPr>
            <a:r>
              <a:rPr lang="en-US" sz="3000" b="true">
                <a:solidFill>
                  <a:srgbClr val="000000"/>
                </a:solidFill>
                <a:latin typeface="Trebuchet MS Bold"/>
                <a:ea typeface="Trebuchet MS Bold"/>
                <a:cs typeface="Trebuchet MS Bold"/>
                <a:sym typeface="Trebuchet MS Bold"/>
              </a:rPr>
              <a:t>STREAM: </a:t>
            </a:r>
            <a:r>
              <a:rPr lang="en-US" sz="3000">
                <a:solidFill>
                  <a:srgbClr val="000000"/>
                </a:solidFill>
                <a:latin typeface="Trebuchet MS"/>
                <a:ea typeface="Trebuchet MS"/>
                <a:cs typeface="Trebuchet MS"/>
                <a:sym typeface="Trebuchet MS"/>
              </a:rPr>
              <a:t>Computer Science And Engineering- Cyber Security </a:t>
            </a:r>
          </a:p>
          <a:p>
            <a:pPr algn="ctr">
              <a:lnSpc>
                <a:spcPts val="1199"/>
              </a:lnSpc>
            </a:pPr>
          </a:p>
          <a:p>
            <a:pPr algn="ctr">
              <a:lnSpc>
                <a:spcPts val="3600"/>
              </a:lnSpc>
            </a:pPr>
            <a:r>
              <a:rPr lang="en-US" sz="3000" b="true">
                <a:solidFill>
                  <a:srgbClr val="000000"/>
                </a:solidFill>
                <a:latin typeface="Trebuchet MS Bold"/>
                <a:ea typeface="Trebuchet MS Bold"/>
                <a:cs typeface="Trebuchet MS Bold"/>
                <a:sym typeface="Trebuchet MS Bold"/>
              </a:rPr>
              <a:t>NATIONAL INTERNSHIP PORTAL STUDENT ID: </a:t>
            </a:r>
            <a:r>
              <a:rPr lang="en-US" sz="3000">
                <a:solidFill>
                  <a:srgbClr val="000000"/>
                </a:solidFill>
                <a:latin typeface="Trebuchet MS"/>
                <a:ea typeface="Trebuchet MS"/>
                <a:cs typeface="Trebuchet MS"/>
                <a:sym typeface="Trebuchet MS"/>
              </a:rPr>
              <a:t>STU6761195c3ea191734416732</a:t>
            </a:r>
          </a:p>
        </p:txBody>
      </p:sp>
      <p:sp>
        <p:nvSpPr>
          <p:cNvPr name="TextBox 42" id="42"/>
          <p:cNvSpPr txBox="true"/>
          <p:nvPr/>
        </p:nvSpPr>
        <p:spPr>
          <a:xfrm rot="0">
            <a:off x="1526110" y="1523009"/>
            <a:ext cx="11872393" cy="1943100"/>
          </a:xfrm>
          <a:prstGeom prst="rect">
            <a:avLst/>
          </a:prstGeom>
        </p:spPr>
        <p:txBody>
          <a:bodyPr anchor="t" rtlCol="false" tIns="0" lIns="0" bIns="0" rIns="0">
            <a:spAutoFit/>
          </a:bodyPr>
          <a:lstStyle/>
          <a:p>
            <a:pPr algn="ctr">
              <a:lnSpc>
                <a:spcPts val="7679"/>
              </a:lnSpc>
            </a:pPr>
            <a:r>
              <a:rPr lang="en-US" sz="6399" b="true">
                <a:solidFill>
                  <a:srgbClr val="000000"/>
                </a:solidFill>
                <a:latin typeface="Trebuchet MS Bold"/>
                <a:ea typeface="Trebuchet MS Bold"/>
                <a:cs typeface="Trebuchet MS Bold"/>
                <a:sym typeface="Trebuchet MS Bold"/>
              </a:rPr>
              <a:t>AI-POWERED NETWORK INTRUSION DETECTION SYSTEM</a:t>
            </a:r>
          </a:p>
        </p:txBody>
      </p:sp>
      <p:sp>
        <p:nvSpPr>
          <p:cNvPr name="TextBox 43" id="43"/>
          <p:cNvSpPr txBox="true"/>
          <p:nvPr/>
        </p:nvSpPr>
        <p:spPr>
          <a:xfrm rot="0">
            <a:off x="7699896" y="4333875"/>
            <a:ext cx="588645" cy="466725"/>
          </a:xfrm>
          <a:prstGeom prst="rect">
            <a:avLst/>
          </a:prstGeom>
        </p:spPr>
        <p:txBody>
          <a:bodyPr anchor="t" rtlCol="false" tIns="0" lIns="0" bIns="0" rIns="0">
            <a:spAutoFit/>
          </a:bodyPr>
          <a:lstStyle/>
          <a:p>
            <a:pPr algn="ctr">
              <a:lnSpc>
                <a:spcPts val="3600"/>
              </a:lnSpc>
            </a:pPr>
            <a:r>
              <a:rPr lang="en-US" sz="3000">
                <a:solidFill>
                  <a:srgbClr val="000000"/>
                </a:solidFill>
                <a:latin typeface="Trebuchet MS"/>
                <a:ea typeface="Trebuchet MS"/>
                <a:cs typeface="Trebuchet MS"/>
                <a:sym typeface="Trebuchet MS"/>
              </a:rPr>
              <a:t>BY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12/30/2025</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solidFill>
              <a:srgbClr val="000000">
                <a:alpha val="0"/>
              </a:srgbClr>
            </a:solidFill>
            <a:ln w="12700">
              <a:solidFill>
                <a:srgbClr val="000000"/>
              </a:solidFill>
            </a:ln>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35" id="35"/>
          <p:cNvSpPr/>
          <p:nvPr/>
        </p:nvSpPr>
        <p:spPr>
          <a:xfrm flipH="false" flipV="false" rot="0">
            <a:off x="11993528" y="4396254"/>
            <a:ext cx="4141137" cy="4896612"/>
          </a:xfrm>
          <a:custGeom>
            <a:avLst/>
            <a:gdLst/>
            <a:ahLst/>
            <a:cxnLst/>
            <a:rect r="r" b="b" t="t" l="l"/>
            <a:pathLst>
              <a:path h="4896612" w="4141137">
                <a:moveTo>
                  <a:pt x="0" y="0"/>
                </a:moveTo>
                <a:lnTo>
                  <a:pt x="4141136" y="0"/>
                </a:lnTo>
                <a:lnTo>
                  <a:pt x="4141136" y="4896612"/>
                </a:lnTo>
                <a:lnTo>
                  <a:pt x="0" y="4896612"/>
                </a:lnTo>
                <a:lnTo>
                  <a:pt x="0" y="0"/>
                </a:lnTo>
                <a:close/>
              </a:path>
            </a:pathLst>
          </a:custGeom>
          <a:blipFill>
            <a:blip r:embed="rId2"/>
            <a:stretch>
              <a:fillRect l="0" t="0" r="0" b="0"/>
            </a:stretch>
          </a:blipFill>
        </p:spPr>
      </p:sp>
      <p:grpSp>
        <p:nvGrpSpPr>
          <p:cNvPr name="Group 36" id="36"/>
          <p:cNvGrpSpPr/>
          <p:nvPr/>
        </p:nvGrpSpPr>
        <p:grpSpPr>
          <a:xfrm rot="0">
            <a:off x="1028700" y="1043940"/>
            <a:ext cx="12369803" cy="8199120"/>
            <a:chOff x="0" y="0"/>
            <a:chExt cx="3257891" cy="2159439"/>
          </a:xfrm>
        </p:grpSpPr>
        <p:sp>
          <p:nvSpPr>
            <p:cNvPr name="Freeform 37" id="37"/>
            <p:cNvSpPr/>
            <p:nvPr/>
          </p:nvSpPr>
          <p:spPr>
            <a:xfrm flipH="false" flipV="false" rot="0">
              <a:off x="0" y="0"/>
              <a:ext cx="3257891" cy="2159439"/>
            </a:xfrm>
            <a:custGeom>
              <a:avLst/>
              <a:gdLst/>
              <a:ahLst/>
              <a:cxnLst/>
              <a:rect r="r" b="b" t="t" l="l"/>
              <a:pathLst>
                <a:path h="2159439" w="3257891">
                  <a:moveTo>
                    <a:pt x="31919" y="0"/>
                  </a:moveTo>
                  <a:lnTo>
                    <a:pt x="3225971" y="0"/>
                  </a:lnTo>
                  <a:cubicBezTo>
                    <a:pt x="3243600" y="0"/>
                    <a:pt x="3257891" y="14291"/>
                    <a:pt x="3257891" y="31919"/>
                  </a:cubicBezTo>
                  <a:lnTo>
                    <a:pt x="3257891" y="2127519"/>
                  </a:lnTo>
                  <a:cubicBezTo>
                    <a:pt x="3257891" y="2135985"/>
                    <a:pt x="3254528" y="2144104"/>
                    <a:pt x="3248542" y="2150090"/>
                  </a:cubicBezTo>
                  <a:cubicBezTo>
                    <a:pt x="3242556" y="2156076"/>
                    <a:pt x="3234437" y="2159439"/>
                    <a:pt x="3225971" y="2159439"/>
                  </a:cubicBezTo>
                  <a:lnTo>
                    <a:pt x="31919" y="2159439"/>
                  </a:lnTo>
                  <a:cubicBezTo>
                    <a:pt x="14291" y="2159439"/>
                    <a:pt x="0" y="2145148"/>
                    <a:pt x="0" y="2127519"/>
                  </a:cubicBezTo>
                  <a:lnTo>
                    <a:pt x="0" y="31919"/>
                  </a:lnTo>
                  <a:cubicBezTo>
                    <a:pt x="0" y="14291"/>
                    <a:pt x="14291" y="0"/>
                    <a:pt x="31919" y="0"/>
                  </a:cubicBezTo>
                  <a:close/>
                </a:path>
              </a:pathLst>
            </a:custGeom>
            <a:solidFill>
              <a:srgbClr val="FFFFFF">
                <a:alpha val="63922"/>
              </a:srgbClr>
            </a:solidFill>
          </p:spPr>
        </p:sp>
        <p:sp>
          <p:nvSpPr>
            <p:cNvPr name="TextBox 38" id="38"/>
            <p:cNvSpPr txBox="true"/>
            <p:nvPr/>
          </p:nvSpPr>
          <p:spPr>
            <a:xfrm>
              <a:off x="0" y="-9525"/>
              <a:ext cx="3257891" cy="2168964"/>
            </a:xfrm>
            <a:prstGeom prst="rect">
              <a:avLst/>
            </a:prstGeom>
          </p:spPr>
          <p:txBody>
            <a:bodyPr anchor="ctr" rtlCol="false" tIns="50800" lIns="50800" bIns="50800" rIns="50800"/>
            <a:lstStyle/>
            <a:p>
              <a:pPr algn="ctr">
                <a:lnSpc>
                  <a:spcPts val="1980"/>
                </a:lnSpc>
              </a:pPr>
            </a:p>
          </p:txBody>
        </p:sp>
      </p:grpSp>
      <p:sp>
        <p:nvSpPr>
          <p:cNvPr name="Freeform 39" id="39"/>
          <p:cNvSpPr/>
          <p:nvPr/>
        </p:nvSpPr>
        <p:spPr>
          <a:xfrm flipH="false" flipV="false" rot="0">
            <a:off x="1013936" y="9707880"/>
            <a:ext cx="3214687" cy="289560"/>
          </a:xfrm>
          <a:custGeom>
            <a:avLst/>
            <a:gdLst/>
            <a:ahLst/>
            <a:cxnLst/>
            <a:rect r="r" b="b" t="t" l="l"/>
            <a:pathLst>
              <a:path h="289560" w="3214687">
                <a:moveTo>
                  <a:pt x="0" y="0"/>
                </a:moveTo>
                <a:lnTo>
                  <a:pt x="3214688" y="0"/>
                </a:lnTo>
                <a:lnTo>
                  <a:pt x="3214688" y="289560"/>
                </a:lnTo>
                <a:lnTo>
                  <a:pt x="0" y="289560"/>
                </a:lnTo>
                <a:lnTo>
                  <a:pt x="0" y="0"/>
                </a:lnTo>
                <a:close/>
              </a:path>
            </a:pathLst>
          </a:custGeom>
          <a:blipFill>
            <a:blip r:embed="rId3"/>
            <a:stretch>
              <a:fillRect l="0" t="-2518486" r="-135857" b="0"/>
            </a:stretch>
          </a:blipFill>
        </p:spPr>
      </p:sp>
      <p:sp>
        <p:nvSpPr>
          <p:cNvPr name="TextBox 40" id="40"/>
          <p:cNvSpPr txBox="true"/>
          <p:nvPr/>
        </p:nvSpPr>
        <p:spPr>
          <a:xfrm rot="0">
            <a:off x="1571785" y="3029455"/>
            <a:ext cx="10988519" cy="5343525"/>
          </a:xfrm>
          <a:prstGeom prst="rect">
            <a:avLst/>
          </a:prstGeom>
        </p:spPr>
        <p:txBody>
          <a:bodyPr anchor="t" rtlCol="false" tIns="0" lIns="0" bIns="0" rIns="0">
            <a:spAutoFit/>
          </a:bodyPr>
          <a:lstStyle/>
          <a:p>
            <a:pPr algn="l">
              <a:lnSpc>
                <a:spcPts val="3839"/>
              </a:lnSpc>
            </a:pPr>
            <a:r>
              <a:rPr lang="en-US" sz="3199">
                <a:solidFill>
                  <a:srgbClr val="000000"/>
                </a:solidFill>
                <a:latin typeface="Trebuchet MS"/>
                <a:ea typeface="Trebuchet MS"/>
                <a:cs typeface="Trebuchet MS"/>
                <a:sym typeface="Trebuchet MS"/>
              </a:rPr>
              <a:t>In today’s hyper-connected world, unauthorized and unethical network intrusions pose a grave danger to everyone. These attacks, ranging from ransomware to distributed denial of service, constantly harm millions of individuals and thousands of organizations by compromising sensitive information and vital services. Current security systems struggle to handle the huge volume and complexity of modern network data, making it hard to spot subtle attacks before major damage occurs. As a result, victims suffer severe financial losses, irreparable damage to reputation, and widespread loss of public trust. </a:t>
            </a:r>
          </a:p>
        </p:txBody>
      </p:sp>
      <p:grpSp>
        <p:nvGrpSpPr>
          <p:cNvPr name="Group 41" id="41"/>
          <p:cNvGrpSpPr/>
          <p:nvPr/>
        </p:nvGrpSpPr>
        <p:grpSpPr>
          <a:xfrm rot="0">
            <a:off x="1078230" y="2615117"/>
            <a:ext cx="11872598" cy="6116660"/>
            <a:chOff x="0" y="0"/>
            <a:chExt cx="3126939" cy="1610972"/>
          </a:xfrm>
        </p:grpSpPr>
        <p:sp>
          <p:nvSpPr>
            <p:cNvPr name="Freeform 42" id="42"/>
            <p:cNvSpPr/>
            <p:nvPr/>
          </p:nvSpPr>
          <p:spPr>
            <a:xfrm flipH="false" flipV="false" rot="0">
              <a:off x="0" y="0"/>
              <a:ext cx="3126939" cy="1610972"/>
            </a:xfrm>
            <a:custGeom>
              <a:avLst/>
              <a:gdLst/>
              <a:ahLst/>
              <a:cxnLst/>
              <a:rect r="r" b="b" t="t" l="l"/>
              <a:pathLst>
                <a:path h="1610972" w="3126939">
                  <a:moveTo>
                    <a:pt x="33256" y="0"/>
                  </a:moveTo>
                  <a:lnTo>
                    <a:pt x="3093683" y="0"/>
                  </a:lnTo>
                  <a:cubicBezTo>
                    <a:pt x="3102503" y="0"/>
                    <a:pt x="3110962" y="3504"/>
                    <a:pt x="3117199" y="9741"/>
                  </a:cubicBezTo>
                  <a:cubicBezTo>
                    <a:pt x="3123436" y="15977"/>
                    <a:pt x="3126939" y="24436"/>
                    <a:pt x="3126939" y="33256"/>
                  </a:cubicBezTo>
                  <a:lnTo>
                    <a:pt x="3126939" y="1577716"/>
                  </a:lnTo>
                  <a:cubicBezTo>
                    <a:pt x="3126939" y="1586536"/>
                    <a:pt x="3123436" y="1594995"/>
                    <a:pt x="3117199" y="1601232"/>
                  </a:cubicBezTo>
                  <a:cubicBezTo>
                    <a:pt x="3110962" y="1607468"/>
                    <a:pt x="3102503" y="1610972"/>
                    <a:pt x="3093683" y="1610972"/>
                  </a:cubicBezTo>
                  <a:lnTo>
                    <a:pt x="33256" y="1610972"/>
                  </a:lnTo>
                  <a:cubicBezTo>
                    <a:pt x="24436" y="1610972"/>
                    <a:pt x="15977" y="1607468"/>
                    <a:pt x="9741" y="1601232"/>
                  </a:cubicBezTo>
                  <a:cubicBezTo>
                    <a:pt x="3504" y="1594995"/>
                    <a:pt x="0" y="1586536"/>
                    <a:pt x="0" y="1577716"/>
                  </a:cubicBezTo>
                  <a:lnTo>
                    <a:pt x="0" y="33256"/>
                  </a:lnTo>
                  <a:cubicBezTo>
                    <a:pt x="0" y="24436"/>
                    <a:pt x="3504" y="15977"/>
                    <a:pt x="9741" y="9741"/>
                  </a:cubicBezTo>
                  <a:cubicBezTo>
                    <a:pt x="15977" y="3504"/>
                    <a:pt x="24436" y="0"/>
                    <a:pt x="33256" y="0"/>
                  </a:cubicBezTo>
                  <a:close/>
                </a:path>
              </a:pathLst>
            </a:custGeom>
            <a:solidFill>
              <a:srgbClr val="000000">
                <a:alpha val="0"/>
              </a:srgbClr>
            </a:solidFill>
            <a:ln w="19050" cap="rnd">
              <a:solidFill>
                <a:srgbClr val="000000"/>
              </a:solidFill>
              <a:prstDash val="solid"/>
              <a:round/>
            </a:ln>
          </p:spPr>
        </p:sp>
        <p:sp>
          <p:nvSpPr>
            <p:cNvPr name="TextBox 43" id="43"/>
            <p:cNvSpPr txBox="true"/>
            <p:nvPr/>
          </p:nvSpPr>
          <p:spPr>
            <a:xfrm>
              <a:off x="0" y="-9525"/>
              <a:ext cx="3126939" cy="1620497"/>
            </a:xfrm>
            <a:prstGeom prst="rect">
              <a:avLst/>
            </a:prstGeom>
          </p:spPr>
          <p:txBody>
            <a:bodyPr anchor="ctr" rtlCol="false" tIns="50800" lIns="50800" bIns="50800" rIns="50800"/>
            <a:lstStyle/>
            <a:p>
              <a:pPr algn="ctr">
                <a:lnSpc>
                  <a:spcPts val="1980"/>
                </a:lnSpc>
              </a:pPr>
            </a:p>
          </p:txBody>
        </p:sp>
      </p:grpSp>
      <p:sp>
        <p:nvSpPr>
          <p:cNvPr name="TextBox 44" id="44"/>
          <p:cNvSpPr txBox="true"/>
          <p:nvPr/>
        </p:nvSpPr>
        <p:spPr>
          <a:xfrm rot="0">
            <a:off x="1352869" y="1267003"/>
            <a:ext cx="10310527" cy="1103252"/>
          </a:xfrm>
          <a:prstGeom prst="rect">
            <a:avLst/>
          </a:prstGeom>
        </p:spPr>
        <p:txBody>
          <a:bodyPr anchor="t" rtlCol="false" tIns="0" lIns="0" bIns="0" rIns="0">
            <a:spAutoFit/>
          </a:bodyPr>
          <a:lstStyle/>
          <a:p>
            <a:pPr algn="l">
              <a:lnSpc>
                <a:spcPts val="7776"/>
              </a:lnSpc>
            </a:pPr>
            <a:r>
              <a:rPr lang="en-US" sz="6480" b="true">
                <a:solidFill>
                  <a:srgbClr val="000000"/>
                </a:solidFill>
                <a:latin typeface="Trebuchet MS Bold"/>
                <a:ea typeface="Trebuchet MS Bold"/>
                <a:cs typeface="Trebuchet MS Bold"/>
                <a:sym typeface="Trebuchet MS Bold"/>
              </a:rPr>
              <a:t>PROBLEM  STATEMENT</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2F2F2"/>
        </a:solidFill>
      </p:bgPr>
    </p:bg>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grpSp>
        <p:nvGrpSpPr>
          <p:cNvPr name="Group 29" id="29"/>
          <p:cNvGrpSpPr/>
          <p:nvPr/>
        </p:nvGrpSpPr>
        <p:grpSpPr>
          <a:xfrm rot="0">
            <a:off x="1028700" y="708442"/>
            <a:ext cx="16230600" cy="9288998"/>
            <a:chOff x="0" y="0"/>
            <a:chExt cx="4274726" cy="2446485"/>
          </a:xfrm>
        </p:grpSpPr>
        <p:sp>
          <p:nvSpPr>
            <p:cNvPr name="Freeform 30" id="30"/>
            <p:cNvSpPr/>
            <p:nvPr/>
          </p:nvSpPr>
          <p:spPr>
            <a:xfrm flipH="false" flipV="false" rot="0">
              <a:off x="0" y="0"/>
              <a:ext cx="4274726" cy="2446485"/>
            </a:xfrm>
            <a:custGeom>
              <a:avLst/>
              <a:gdLst/>
              <a:ahLst/>
              <a:cxnLst/>
              <a:rect r="r" b="b" t="t" l="l"/>
              <a:pathLst>
                <a:path h="2446485" w="4274726">
                  <a:moveTo>
                    <a:pt x="24327" y="0"/>
                  </a:moveTo>
                  <a:lnTo>
                    <a:pt x="4250399" y="0"/>
                  </a:lnTo>
                  <a:cubicBezTo>
                    <a:pt x="4263834" y="0"/>
                    <a:pt x="4274726" y="10891"/>
                    <a:pt x="4274726" y="24327"/>
                  </a:cubicBezTo>
                  <a:lnTo>
                    <a:pt x="4274726" y="2422158"/>
                  </a:lnTo>
                  <a:cubicBezTo>
                    <a:pt x="4274726" y="2428610"/>
                    <a:pt x="4272163" y="2434798"/>
                    <a:pt x="4267601" y="2439360"/>
                  </a:cubicBezTo>
                  <a:cubicBezTo>
                    <a:pt x="4263039" y="2443922"/>
                    <a:pt x="4256851" y="2446485"/>
                    <a:pt x="4250399" y="2446485"/>
                  </a:cubicBezTo>
                  <a:lnTo>
                    <a:pt x="24327" y="2446485"/>
                  </a:lnTo>
                  <a:cubicBezTo>
                    <a:pt x="10891" y="2446485"/>
                    <a:pt x="0" y="2435594"/>
                    <a:pt x="0" y="2422158"/>
                  </a:cubicBezTo>
                  <a:lnTo>
                    <a:pt x="0" y="24327"/>
                  </a:lnTo>
                  <a:cubicBezTo>
                    <a:pt x="0" y="10891"/>
                    <a:pt x="10891" y="0"/>
                    <a:pt x="24327" y="0"/>
                  </a:cubicBezTo>
                  <a:close/>
                </a:path>
              </a:pathLst>
            </a:custGeom>
            <a:solidFill>
              <a:srgbClr val="FFFFFF">
                <a:alpha val="63922"/>
              </a:srgbClr>
            </a:solidFill>
          </p:spPr>
        </p:sp>
        <p:sp>
          <p:nvSpPr>
            <p:cNvPr name="TextBox 31" id="31"/>
            <p:cNvSpPr txBox="true"/>
            <p:nvPr/>
          </p:nvSpPr>
          <p:spPr>
            <a:xfrm>
              <a:off x="0" y="-9525"/>
              <a:ext cx="4274726" cy="2456010"/>
            </a:xfrm>
            <a:prstGeom prst="rect">
              <a:avLst/>
            </a:prstGeom>
          </p:spPr>
          <p:txBody>
            <a:bodyPr anchor="ctr" rtlCol="false" tIns="50800" lIns="50800" bIns="50800" rIns="50800"/>
            <a:lstStyle/>
            <a:p>
              <a:pPr algn="ctr">
                <a:lnSpc>
                  <a:spcPts val="1980"/>
                </a:lnSpc>
              </a:pPr>
            </a:p>
          </p:txBody>
        </p:sp>
      </p:grpSp>
      <p:sp>
        <p:nvSpPr>
          <p:cNvPr name="TextBox 32" id="32"/>
          <p:cNvSpPr txBox="true"/>
          <p:nvPr/>
        </p:nvSpPr>
        <p:spPr>
          <a:xfrm rot="0">
            <a:off x="1287523" y="698917"/>
            <a:ext cx="9231287" cy="990600"/>
          </a:xfrm>
          <a:prstGeom prst="rect">
            <a:avLst/>
          </a:prstGeom>
        </p:spPr>
        <p:txBody>
          <a:bodyPr anchor="t" rtlCol="false" tIns="0" lIns="0" bIns="0" rIns="0">
            <a:spAutoFit/>
          </a:bodyPr>
          <a:lstStyle/>
          <a:p>
            <a:pPr algn="l">
              <a:lnSpc>
                <a:spcPts val="7776"/>
              </a:lnSpc>
            </a:pPr>
            <a:r>
              <a:rPr lang="en-US" sz="6480" b="true">
                <a:solidFill>
                  <a:srgbClr val="000000"/>
                </a:solidFill>
                <a:latin typeface="Trebuchet MS Bold"/>
                <a:ea typeface="Trebuchet MS Bold"/>
                <a:cs typeface="Trebuchet MS Bold"/>
                <a:sym typeface="Trebuchet MS Bold"/>
              </a:rPr>
              <a:t>Project Description</a:t>
            </a:r>
          </a:p>
        </p:txBody>
      </p:sp>
      <p:grpSp>
        <p:nvGrpSpPr>
          <p:cNvPr name="Group 33" id="33"/>
          <p:cNvGrpSpPr/>
          <p:nvPr/>
        </p:nvGrpSpPr>
        <p:grpSpPr>
          <a:xfrm rot="0">
            <a:off x="1099504" y="2015592"/>
            <a:ext cx="15820863" cy="7691549"/>
            <a:chOff x="0" y="0"/>
            <a:chExt cx="21094484" cy="10255398"/>
          </a:xfrm>
        </p:grpSpPr>
        <p:grpSp>
          <p:nvGrpSpPr>
            <p:cNvPr name="Group 34" id="34"/>
            <p:cNvGrpSpPr/>
            <p:nvPr/>
          </p:nvGrpSpPr>
          <p:grpSpPr>
            <a:xfrm rot="0">
              <a:off x="0" y="0"/>
              <a:ext cx="21094484" cy="10255398"/>
              <a:chOff x="0" y="0"/>
              <a:chExt cx="4166812" cy="2025758"/>
            </a:xfrm>
          </p:grpSpPr>
          <p:sp>
            <p:nvSpPr>
              <p:cNvPr name="Freeform 35" id="35"/>
              <p:cNvSpPr/>
              <p:nvPr/>
            </p:nvSpPr>
            <p:spPr>
              <a:xfrm flipH="false" flipV="false" rot="0">
                <a:off x="0" y="0"/>
                <a:ext cx="4166812" cy="2025758"/>
              </a:xfrm>
              <a:custGeom>
                <a:avLst/>
                <a:gdLst/>
                <a:ahLst/>
                <a:cxnLst/>
                <a:rect r="r" b="b" t="t" l="l"/>
                <a:pathLst>
                  <a:path h="2025758" w="4166812">
                    <a:moveTo>
                      <a:pt x="24957" y="0"/>
                    </a:moveTo>
                    <a:lnTo>
                      <a:pt x="4141855" y="0"/>
                    </a:lnTo>
                    <a:cubicBezTo>
                      <a:pt x="4155638" y="0"/>
                      <a:pt x="4166812" y="11174"/>
                      <a:pt x="4166812" y="24957"/>
                    </a:cubicBezTo>
                    <a:lnTo>
                      <a:pt x="4166812" y="2000801"/>
                    </a:lnTo>
                    <a:cubicBezTo>
                      <a:pt x="4166812" y="2007420"/>
                      <a:pt x="4164182" y="2013768"/>
                      <a:pt x="4159502" y="2018448"/>
                    </a:cubicBezTo>
                    <a:cubicBezTo>
                      <a:pt x="4154822" y="2023128"/>
                      <a:pt x="4148474" y="2025758"/>
                      <a:pt x="4141855" y="2025758"/>
                    </a:cubicBezTo>
                    <a:lnTo>
                      <a:pt x="24957" y="2025758"/>
                    </a:lnTo>
                    <a:cubicBezTo>
                      <a:pt x="11174" y="2025758"/>
                      <a:pt x="0" y="2014584"/>
                      <a:pt x="0" y="2000801"/>
                    </a:cubicBezTo>
                    <a:lnTo>
                      <a:pt x="0" y="24957"/>
                    </a:lnTo>
                    <a:cubicBezTo>
                      <a:pt x="0" y="11174"/>
                      <a:pt x="11174" y="0"/>
                      <a:pt x="24957" y="0"/>
                    </a:cubicBezTo>
                    <a:close/>
                  </a:path>
                </a:pathLst>
              </a:custGeom>
              <a:solidFill>
                <a:srgbClr val="000000">
                  <a:alpha val="0"/>
                </a:srgbClr>
              </a:solidFill>
              <a:ln w="19050" cap="rnd">
                <a:solidFill>
                  <a:srgbClr val="000000"/>
                </a:solidFill>
                <a:prstDash val="solid"/>
                <a:round/>
              </a:ln>
            </p:spPr>
          </p:sp>
          <p:sp>
            <p:nvSpPr>
              <p:cNvPr name="TextBox 36" id="36"/>
              <p:cNvSpPr txBox="true"/>
              <p:nvPr/>
            </p:nvSpPr>
            <p:spPr>
              <a:xfrm>
                <a:off x="0" y="-9525"/>
                <a:ext cx="4166812" cy="2035283"/>
              </a:xfrm>
              <a:prstGeom prst="rect">
                <a:avLst/>
              </a:prstGeom>
            </p:spPr>
            <p:txBody>
              <a:bodyPr anchor="ctr" rtlCol="false" tIns="50800" lIns="50800" bIns="50800" rIns="50800"/>
              <a:lstStyle/>
              <a:p>
                <a:pPr algn="ctr">
                  <a:lnSpc>
                    <a:spcPts val="1980"/>
                  </a:lnSpc>
                </a:pPr>
              </a:p>
            </p:txBody>
          </p:sp>
        </p:grpSp>
        <p:sp>
          <p:nvSpPr>
            <p:cNvPr name="TextBox 37" id="37"/>
            <p:cNvSpPr txBox="true"/>
            <p:nvPr/>
          </p:nvSpPr>
          <p:spPr>
            <a:xfrm rot="0">
              <a:off x="493606" y="226452"/>
              <a:ext cx="20464777" cy="9729275"/>
            </a:xfrm>
            <a:prstGeom prst="rect">
              <a:avLst/>
            </a:prstGeom>
          </p:spPr>
          <p:txBody>
            <a:bodyPr anchor="t" rtlCol="false" tIns="0" lIns="0" bIns="0" rIns="0">
              <a:spAutoFit/>
            </a:bodyPr>
            <a:lstStyle/>
            <a:p>
              <a:pPr algn="l">
                <a:lnSpc>
                  <a:spcPts val="2879"/>
                </a:lnSpc>
              </a:pPr>
              <a:r>
                <a:rPr lang="en-US" sz="2399">
                  <a:solidFill>
                    <a:srgbClr val="000000"/>
                  </a:solidFill>
                  <a:latin typeface="Trebuchet MS"/>
                  <a:ea typeface="Trebuchet MS"/>
                  <a:cs typeface="Trebuchet MS"/>
                  <a:sym typeface="Trebuchet MS"/>
                </a:rPr>
                <a:t>This is a project to classify incom</a:t>
              </a:r>
              <a:r>
                <a:rPr lang="en-US" sz="2399">
                  <a:solidFill>
                    <a:srgbClr val="000000"/>
                  </a:solidFill>
                  <a:latin typeface="Trebuchet MS"/>
                  <a:ea typeface="Trebuchet MS"/>
                  <a:cs typeface="Trebuchet MS"/>
                  <a:sym typeface="Trebuchet MS"/>
                </a:rPr>
                <a:t>in</a:t>
              </a:r>
              <a:r>
                <a:rPr lang="en-US" sz="2399">
                  <a:solidFill>
                    <a:srgbClr val="000000"/>
                  </a:solidFill>
                  <a:latin typeface="Trebuchet MS"/>
                  <a:ea typeface="Trebuchet MS"/>
                  <a:cs typeface="Trebuchet MS"/>
                  <a:sym typeface="Trebuchet MS"/>
                </a:rPr>
                <a:t>g network traffic </a:t>
              </a:r>
              <a:r>
                <a:rPr lang="en-US" sz="2399">
                  <a:solidFill>
                    <a:srgbClr val="000000"/>
                  </a:solidFill>
                  <a:latin typeface="Trebuchet MS"/>
                  <a:ea typeface="Trebuchet MS"/>
                  <a:cs typeface="Trebuchet MS"/>
                  <a:sym typeface="Trebuchet MS"/>
                </a:rPr>
                <a:t>as ei</a:t>
              </a:r>
              <a:r>
                <a:rPr lang="en-US" sz="2399">
                  <a:solidFill>
                    <a:srgbClr val="000000"/>
                  </a:solidFill>
                  <a:latin typeface="Trebuchet MS"/>
                  <a:ea typeface="Trebuchet MS"/>
                  <a:cs typeface="Trebuchet MS"/>
                  <a:sym typeface="Trebuchet MS"/>
                </a:rPr>
                <a:t>ther safe (0) or malicious (</a:t>
              </a:r>
              <a:r>
                <a:rPr lang="en-US" sz="2399">
                  <a:solidFill>
                    <a:srgbClr val="000000"/>
                  </a:solidFill>
                  <a:latin typeface="Trebuchet MS"/>
                  <a:ea typeface="Trebuchet MS"/>
                  <a:cs typeface="Trebuchet MS"/>
                  <a:sym typeface="Trebuchet MS"/>
                </a:rPr>
                <a:t>1</a:t>
              </a:r>
              <a:r>
                <a:rPr lang="en-US" sz="2399">
                  <a:solidFill>
                    <a:srgbClr val="000000"/>
                  </a:solidFill>
                  <a:latin typeface="Trebuchet MS"/>
                  <a:ea typeface="Trebuchet MS"/>
                  <a:cs typeface="Trebuchet MS"/>
                  <a:sym typeface="Trebuchet MS"/>
                </a:rPr>
                <a:t>) using a trained </a:t>
              </a:r>
              <a:r>
                <a:rPr lang="en-US" sz="2399">
                  <a:solidFill>
                    <a:srgbClr val="000000"/>
                  </a:solidFill>
                  <a:latin typeface="Trebuchet MS"/>
                  <a:ea typeface="Trebuchet MS"/>
                  <a:cs typeface="Trebuchet MS"/>
                  <a:sym typeface="Trebuchet MS"/>
                </a:rPr>
                <a:t>Ra</a:t>
              </a:r>
              <a:r>
                <a:rPr lang="en-US" sz="2399">
                  <a:solidFill>
                    <a:srgbClr val="000000"/>
                  </a:solidFill>
                  <a:latin typeface="Trebuchet MS"/>
                  <a:ea typeface="Trebuchet MS"/>
                  <a:cs typeface="Trebuchet MS"/>
                  <a:sym typeface="Trebuchet MS"/>
                </a:rPr>
                <a:t>ndom Forest Classification model. It is implemented as an interactive dashboard to show key metrics for the dataset corresponding to the mode and flag network packets as an attack based on the packet details (user inputs). </a:t>
              </a:r>
            </a:p>
            <a:p>
              <a:pPr algn="l">
                <a:lnSpc>
                  <a:spcPts val="2879"/>
                </a:lnSpc>
              </a:pPr>
            </a:p>
            <a:p>
              <a:pPr algn="l">
                <a:lnSpc>
                  <a:spcPts val="2879"/>
                </a:lnSpc>
              </a:pPr>
              <a:r>
                <a:rPr lang="en-US" sz="2399" b="true">
                  <a:solidFill>
                    <a:srgbClr val="000000"/>
                  </a:solidFill>
                  <a:latin typeface="Trebuchet MS Bold"/>
                  <a:ea typeface="Trebuchet MS Bold"/>
                  <a:cs typeface="Trebuchet MS Bold"/>
                  <a:sym typeface="Trebuchet MS Bold"/>
                </a:rPr>
                <a:t>Language:</a:t>
              </a:r>
              <a:r>
                <a:rPr lang="en-US" sz="2399">
                  <a:solidFill>
                    <a:srgbClr val="000000"/>
                  </a:solidFill>
                  <a:latin typeface="Trebuchet MS"/>
                  <a:ea typeface="Trebuchet MS"/>
                  <a:cs typeface="Trebuchet MS"/>
                  <a:sym typeface="Trebuchet MS"/>
                </a:rPr>
                <a:t> Python.               </a:t>
              </a:r>
              <a:r>
                <a:rPr lang="en-US" sz="2399" b="true">
                  <a:solidFill>
                    <a:srgbClr val="000000"/>
                  </a:solidFill>
                  <a:latin typeface="Trebuchet MS Bold"/>
                  <a:ea typeface="Trebuchet MS Bold"/>
                  <a:cs typeface="Trebuchet MS Bold"/>
                  <a:sym typeface="Trebuchet MS Bold"/>
                </a:rPr>
                <a:t>App type:</a:t>
              </a:r>
              <a:r>
                <a:rPr lang="en-US" sz="2399">
                  <a:solidFill>
                    <a:srgbClr val="000000"/>
                  </a:solidFill>
                  <a:latin typeface="Trebuchet MS"/>
                  <a:ea typeface="Trebuchet MS"/>
                  <a:cs typeface="Trebuchet MS"/>
                  <a:sym typeface="Trebuchet MS"/>
                </a:rPr>
                <a:t> Streamlit app.                </a:t>
              </a:r>
              <a:r>
                <a:rPr lang="en-US" sz="2399" b="true">
                  <a:solidFill>
                    <a:srgbClr val="000000"/>
                  </a:solidFill>
                  <a:latin typeface="Trebuchet MS Bold"/>
                  <a:ea typeface="Trebuchet MS Bold"/>
                  <a:cs typeface="Trebuchet MS Bold"/>
                  <a:sym typeface="Trebuchet MS Bold"/>
                </a:rPr>
                <a:t>Deployment:</a:t>
              </a:r>
              <a:r>
                <a:rPr lang="en-US" sz="2399">
                  <a:solidFill>
                    <a:srgbClr val="000000"/>
                  </a:solidFill>
                  <a:latin typeface="Trebuchet MS"/>
                  <a:ea typeface="Trebuchet MS"/>
                  <a:cs typeface="Trebuchet MS"/>
                  <a:sym typeface="Trebuchet MS"/>
                </a:rPr>
                <a:t> Streamlit Community Cloud. </a:t>
              </a:r>
            </a:p>
            <a:p>
              <a:pPr algn="l">
                <a:lnSpc>
                  <a:spcPts val="1199"/>
                </a:lnSpc>
              </a:pP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Goal:</a:t>
              </a:r>
              <a:r>
                <a:rPr lang="en-US" sz="2399">
                  <a:solidFill>
                    <a:srgbClr val="000000"/>
                  </a:solidFill>
                  <a:latin typeface="Trebuchet MS"/>
                  <a:ea typeface="Trebuchet MS"/>
                  <a:cs typeface="Trebuchet MS"/>
                  <a:sym typeface="Trebuchet MS"/>
                </a:rPr>
                <a:t> To detect potential cyberattacks (like DDoS or port scans) by analyzing key network packet characteristics.</a:t>
              </a: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Mode of operation:</a:t>
              </a:r>
              <a:r>
                <a:rPr lang="en-US" sz="2399">
                  <a:solidFill>
                    <a:srgbClr val="000000"/>
                  </a:solidFill>
                  <a:latin typeface="Trebuchet MS"/>
                  <a:ea typeface="Trebuchet MS"/>
                  <a:cs typeface="Trebuchet MS"/>
                  <a:sym typeface="Trebuchet MS"/>
                </a:rPr>
                <a:t> </a:t>
              </a:r>
              <a:r>
                <a:rPr lang="en-US" sz="2399" i="true" u="sng">
                  <a:solidFill>
                    <a:srgbClr val="000000"/>
                  </a:solidFill>
                  <a:latin typeface="Trebuchet MS Italics"/>
                  <a:ea typeface="Trebuchet MS Italics"/>
                  <a:cs typeface="Trebuchet MS Italics"/>
                  <a:sym typeface="Trebuchet MS Italics"/>
                </a:rPr>
                <a:t>Simulation</a:t>
              </a:r>
              <a:r>
                <a:rPr lang="en-US" sz="2399">
                  <a:solidFill>
                    <a:srgbClr val="000000"/>
                  </a:solidFill>
                  <a:latin typeface="Trebuchet MS"/>
                  <a:ea typeface="Trebuchet MS"/>
                  <a:cs typeface="Trebuchet MS"/>
                  <a:sym typeface="Trebuchet MS"/>
                </a:rPr>
                <a:t> (using synthetic data) and </a:t>
              </a:r>
              <a:r>
                <a:rPr lang="en-US" sz="2399" i="true" u="sng">
                  <a:solidFill>
                    <a:srgbClr val="000000"/>
                  </a:solidFill>
                  <a:latin typeface="Trebuchet MS Italics"/>
                  <a:ea typeface="Trebuchet MS Italics"/>
                  <a:cs typeface="Trebuchet MS Italics"/>
                  <a:sym typeface="Trebuchet MS Italics"/>
                </a:rPr>
                <a:t>Real-time</a:t>
              </a:r>
              <a:r>
                <a:rPr lang="en-US" sz="2399">
                  <a:solidFill>
                    <a:srgbClr val="000000"/>
                  </a:solidFill>
                  <a:latin typeface="Trebuchet MS"/>
                  <a:ea typeface="Trebuchet MS"/>
                  <a:cs typeface="Trebuchet MS"/>
                  <a:sym typeface="Trebuchet MS"/>
                </a:rPr>
                <a:t> (downloading a real-time dataset via URL).</a:t>
              </a: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Core algorithm:</a:t>
              </a:r>
              <a:r>
                <a:rPr lang="en-US" sz="2399">
                  <a:solidFill>
                    <a:srgbClr val="000000"/>
                  </a:solidFill>
                  <a:latin typeface="Trebuchet MS"/>
                  <a:ea typeface="Trebuchet MS"/>
                  <a:cs typeface="Trebuchet MS"/>
                  <a:sym typeface="Trebuchet MS"/>
                </a:rPr>
                <a:t> Uses the </a:t>
              </a:r>
              <a:r>
                <a:rPr lang="en-US" sz="2399" i="true" u="sng">
                  <a:solidFill>
                    <a:srgbClr val="000000"/>
                  </a:solidFill>
                  <a:latin typeface="Trebuchet MS Italics"/>
                  <a:ea typeface="Trebuchet MS Italics"/>
                  <a:cs typeface="Trebuchet MS Italics"/>
                  <a:sym typeface="Trebuchet MS Italics"/>
                </a:rPr>
                <a:t>Random Forest Classifier</a:t>
              </a:r>
              <a:r>
                <a:rPr lang="en-US" sz="2399">
                  <a:solidFill>
                    <a:srgbClr val="000000"/>
                  </a:solidFill>
                  <a:latin typeface="Trebuchet MS"/>
                  <a:ea typeface="Trebuchet MS"/>
                  <a:cs typeface="Trebuchet MS"/>
                  <a:sym typeface="Trebuchet MS"/>
                </a:rPr>
                <a:t> for supervised machine learning and classification. </a:t>
              </a:r>
            </a:p>
            <a:p>
              <a:pPr algn="l">
                <a:lnSpc>
                  <a:spcPts val="1199"/>
                </a:lnSpc>
              </a:pPr>
            </a:p>
            <a:p>
              <a:pPr algn="l">
                <a:lnSpc>
                  <a:spcPts val="3119"/>
                </a:lnSpc>
              </a:pPr>
              <a:r>
                <a:rPr lang="en-US" sz="2599" b="true">
                  <a:solidFill>
                    <a:srgbClr val="000000"/>
                  </a:solidFill>
                  <a:latin typeface="Trebuchet MS Bold"/>
                  <a:ea typeface="Trebuchet MS Bold"/>
                  <a:cs typeface="Trebuchet MS Bold"/>
                  <a:sym typeface="Trebuchet MS Bold"/>
                </a:rPr>
                <a:t>Key features:-</a:t>
              </a:r>
            </a:p>
            <a:p>
              <a:pPr algn="l">
                <a:lnSpc>
                  <a:spcPts val="720"/>
                </a:lnSpc>
              </a:pP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Interactive training:</a:t>
              </a:r>
              <a:r>
                <a:rPr lang="en-US" sz="2399">
                  <a:solidFill>
                    <a:srgbClr val="000000"/>
                  </a:solidFill>
                  <a:latin typeface="Trebuchet MS"/>
                  <a:ea typeface="Trebuchet MS"/>
                  <a:cs typeface="Trebuchet MS"/>
                  <a:sym typeface="Trebuchet MS"/>
                </a:rPr>
                <a:t> Users can start the model training process and adjust the mode, number of decision trees, and percentage of training data.</a:t>
              </a: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Performance reporting:</a:t>
              </a:r>
              <a:r>
                <a:rPr lang="en-US" sz="2399">
                  <a:solidFill>
                    <a:srgbClr val="000000"/>
                  </a:solidFill>
                  <a:latin typeface="Trebuchet MS"/>
                  <a:ea typeface="Trebuchet MS"/>
                  <a:cs typeface="Trebuchet MS"/>
                  <a:sym typeface="Trebuchet MS"/>
                </a:rPr>
                <a:t> Displays live metrics including training and test accuracies, mean errors, detailed classification reports, and visual confusion matrices.</a:t>
              </a: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Live simulator:</a:t>
              </a:r>
              <a:r>
                <a:rPr lang="en-US" sz="2399">
                  <a:solidFill>
                    <a:srgbClr val="000000"/>
                  </a:solidFill>
                  <a:latin typeface="Trebuchet MS"/>
                  <a:ea typeface="Trebuchet MS"/>
                  <a:cs typeface="Trebuchet MS"/>
                  <a:sym typeface="Trebuchet MS"/>
                </a:rPr>
                <a:t> An interactive section allows users to input specific packet parameters (e.g., Destination Port, Flow Duration) and receive an instant prediction from the trained model.</a:t>
              </a:r>
            </a:p>
            <a:p>
              <a:pPr algn="l" marL="518159"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Traffic features used:</a:t>
              </a:r>
              <a:r>
                <a:rPr lang="en-US" sz="2399">
                  <a:solidFill>
                    <a:srgbClr val="000000"/>
                  </a:solidFill>
                  <a:latin typeface="Trebuchet MS"/>
                  <a:ea typeface="Trebuchet MS"/>
                  <a:cs typeface="Trebuchet MS"/>
                  <a:sym typeface="Trebuchet MS"/>
                </a:rPr>
                <a:t> The model trains on five network features, namely 'Destination Port', 'Flow Duration (ms)', 'Total Fwd Packets', 'Packet Length Mean', and 'Active Mean'. </a:t>
              </a:r>
            </a:p>
          </p:txBody>
        </p:sp>
      </p:gr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grpSp>
        <p:nvGrpSpPr>
          <p:cNvPr name="Group 29" id="29"/>
          <p:cNvGrpSpPr/>
          <p:nvPr/>
        </p:nvGrpSpPr>
        <p:grpSpPr>
          <a:xfrm rot="0">
            <a:off x="1028700" y="678837"/>
            <a:ext cx="16230600" cy="9163365"/>
            <a:chOff x="0" y="0"/>
            <a:chExt cx="4274726" cy="2413397"/>
          </a:xfrm>
        </p:grpSpPr>
        <p:sp>
          <p:nvSpPr>
            <p:cNvPr name="Freeform 30" id="30"/>
            <p:cNvSpPr/>
            <p:nvPr/>
          </p:nvSpPr>
          <p:spPr>
            <a:xfrm flipH="false" flipV="false" rot="0">
              <a:off x="0" y="0"/>
              <a:ext cx="4274726" cy="2413396"/>
            </a:xfrm>
            <a:custGeom>
              <a:avLst/>
              <a:gdLst/>
              <a:ahLst/>
              <a:cxnLst/>
              <a:rect r="r" b="b" t="t" l="l"/>
              <a:pathLst>
                <a:path h="2413396" w="4274726">
                  <a:moveTo>
                    <a:pt x="24327" y="0"/>
                  </a:moveTo>
                  <a:lnTo>
                    <a:pt x="4250399" y="0"/>
                  </a:lnTo>
                  <a:cubicBezTo>
                    <a:pt x="4263834" y="0"/>
                    <a:pt x="4274726" y="10891"/>
                    <a:pt x="4274726" y="24327"/>
                  </a:cubicBezTo>
                  <a:lnTo>
                    <a:pt x="4274726" y="2389070"/>
                  </a:lnTo>
                  <a:cubicBezTo>
                    <a:pt x="4274726" y="2402505"/>
                    <a:pt x="4263834" y="2413396"/>
                    <a:pt x="4250399" y="2413396"/>
                  </a:cubicBezTo>
                  <a:lnTo>
                    <a:pt x="24327" y="2413396"/>
                  </a:lnTo>
                  <a:cubicBezTo>
                    <a:pt x="17875" y="2413396"/>
                    <a:pt x="11687" y="2410833"/>
                    <a:pt x="7125" y="2406271"/>
                  </a:cubicBezTo>
                  <a:cubicBezTo>
                    <a:pt x="2563" y="2401709"/>
                    <a:pt x="0" y="2395522"/>
                    <a:pt x="0" y="2389070"/>
                  </a:cubicBezTo>
                  <a:lnTo>
                    <a:pt x="0" y="24327"/>
                  </a:lnTo>
                  <a:cubicBezTo>
                    <a:pt x="0" y="10891"/>
                    <a:pt x="10891" y="0"/>
                    <a:pt x="24327" y="0"/>
                  </a:cubicBezTo>
                  <a:close/>
                </a:path>
              </a:pathLst>
            </a:custGeom>
            <a:solidFill>
              <a:srgbClr val="FFFFFF">
                <a:alpha val="63922"/>
              </a:srgbClr>
            </a:solidFill>
          </p:spPr>
        </p:sp>
        <p:sp>
          <p:nvSpPr>
            <p:cNvPr name="TextBox 31" id="31"/>
            <p:cNvSpPr txBox="true"/>
            <p:nvPr/>
          </p:nvSpPr>
          <p:spPr>
            <a:xfrm>
              <a:off x="0" y="-9525"/>
              <a:ext cx="4274726" cy="2422922"/>
            </a:xfrm>
            <a:prstGeom prst="rect">
              <a:avLst/>
            </a:prstGeom>
          </p:spPr>
          <p:txBody>
            <a:bodyPr anchor="ctr" rtlCol="false" tIns="50800" lIns="50800" bIns="50800" rIns="50800"/>
            <a:lstStyle/>
            <a:p>
              <a:pPr algn="ctr">
                <a:lnSpc>
                  <a:spcPts val="1980"/>
                </a:lnSpc>
              </a:pPr>
            </a:p>
          </p:txBody>
        </p:sp>
      </p:grpSp>
      <p:sp>
        <p:nvSpPr>
          <p:cNvPr name="TextBox 32" id="32"/>
          <p:cNvSpPr txBox="true"/>
          <p:nvPr/>
        </p:nvSpPr>
        <p:spPr>
          <a:xfrm rot="0">
            <a:off x="1028700" y="669312"/>
            <a:ext cx="14886222" cy="1122045"/>
          </a:xfrm>
          <a:prstGeom prst="rect">
            <a:avLst/>
          </a:prstGeom>
        </p:spPr>
        <p:txBody>
          <a:bodyPr anchor="t" rtlCol="false" tIns="0" lIns="0" bIns="0" rIns="0">
            <a:spAutoFit/>
          </a:bodyPr>
          <a:lstStyle/>
          <a:p>
            <a:pPr algn="l">
              <a:lnSpc>
                <a:spcPts val="5759"/>
              </a:lnSpc>
            </a:pPr>
            <a:r>
              <a:rPr lang="en-US" sz="4800" b="true">
                <a:solidFill>
                  <a:srgbClr val="000000"/>
                </a:solidFill>
                <a:latin typeface="Trebuchet MS Bold"/>
                <a:ea typeface="Trebuchet MS Bold"/>
                <a:cs typeface="Trebuchet MS Bold"/>
                <a:sym typeface="Trebuchet MS Bold"/>
              </a:rPr>
              <a:t>WHO ARE THE END USERS?</a:t>
            </a:r>
          </a:p>
        </p:txBody>
      </p:sp>
      <p:grpSp>
        <p:nvGrpSpPr>
          <p:cNvPr name="Group 33" id="33"/>
          <p:cNvGrpSpPr/>
          <p:nvPr/>
        </p:nvGrpSpPr>
        <p:grpSpPr>
          <a:xfrm rot="0">
            <a:off x="1028700" y="1946385"/>
            <a:ext cx="15891667" cy="7466943"/>
            <a:chOff x="0" y="0"/>
            <a:chExt cx="21188890" cy="9955925"/>
          </a:xfrm>
        </p:grpSpPr>
        <p:grpSp>
          <p:nvGrpSpPr>
            <p:cNvPr name="Group 34" id="34"/>
            <p:cNvGrpSpPr/>
            <p:nvPr/>
          </p:nvGrpSpPr>
          <p:grpSpPr>
            <a:xfrm rot="0">
              <a:off x="0" y="0"/>
              <a:ext cx="21188890" cy="9955925"/>
              <a:chOff x="0" y="0"/>
              <a:chExt cx="4185460" cy="1966602"/>
            </a:xfrm>
          </p:grpSpPr>
          <p:sp>
            <p:nvSpPr>
              <p:cNvPr name="Freeform 35" id="35"/>
              <p:cNvSpPr/>
              <p:nvPr/>
            </p:nvSpPr>
            <p:spPr>
              <a:xfrm flipH="false" flipV="false" rot="0">
                <a:off x="0" y="0"/>
                <a:ext cx="4185460" cy="1966602"/>
              </a:xfrm>
              <a:custGeom>
                <a:avLst/>
                <a:gdLst/>
                <a:ahLst/>
                <a:cxnLst/>
                <a:rect r="r" b="b" t="t" l="l"/>
                <a:pathLst>
                  <a:path h="1966602" w="4185460">
                    <a:moveTo>
                      <a:pt x="24846" y="0"/>
                    </a:moveTo>
                    <a:lnTo>
                      <a:pt x="4160614" y="0"/>
                    </a:lnTo>
                    <a:cubicBezTo>
                      <a:pt x="4167203" y="0"/>
                      <a:pt x="4173523" y="2618"/>
                      <a:pt x="4178183" y="7277"/>
                    </a:cubicBezTo>
                    <a:cubicBezTo>
                      <a:pt x="4182842" y="11937"/>
                      <a:pt x="4185460" y="18256"/>
                      <a:pt x="4185460" y="24846"/>
                    </a:cubicBezTo>
                    <a:lnTo>
                      <a:pt x="4185460" y="1941757"/>
                    </a:lnTo>
                    <a:cubicBezTo>
                      <a:pt x="4185460" y="1948346"/>
                      <a:pt x="4182842" y="1954666"/>
                      <a:pt x="4178183" y="1959325"/>
                    </a:cubicBezTo>
                    <a:cubicBezTo>
                      <a:pt x="4173523" y="1963985"/>
                      <a:pt x="4167203" y="1966602"/>
                      <a:pt x="4160614" y="1966602"/>
                    </a:cubicBezTo>
                    <a:lnTo>
                      <a:pt x="24846" y="1966602"/>
                    </a:lnTo>
                    <a:cubicBezTo>
                      <a:pt x="11124" y="1966602"/>
                      <a:pt x="0" y="1955479"/>
                      <a:pt x="0" y="1941757"/>
                    </a:cubicBezTo>
                    <a:lnTo>
                      <a:pt x="0" y="24846"/>
                    </a:lnTo>
                    <a:cubicBezTo>
                      <a:pt x="0" y="18256"/>
                      <a:pt x="2618" y="11937"/>
                      <a:pt x="7277" y="7277"/>
                    </a:cubicBezTo>
                    <a:cubicBezTo>
                      <a:pt x="11937" y="2618"/>
                      <a:pt x="18256" y="0"/>
                      <a:pt x="24846" y="0"/>
                    </a:cubicBezTo>
                    <a:close/>
                  </a:path>
                </a:pathLst>
              </a:custGeom>
              <a:solidFill>
                <a:srgbClr val="000000">
                  <a:alpha val="0"/>
                </a:srgbClr>
              </a:solidFill>
              <a:ln w="19050" cap="rnd">
                <a:solidFill>
                  <a:srgbClr val="000000"/>
                </a:solidFill>
                <a:prstDash val="solid"/>
                <a:round/>
              </a:ln>
            </p:spPr>
          </p:sp>
          <p:sp>
            <p:nvSpPr>
              <p:cNvPr name="TextBox 36" id="36"/>
              <p:cNvSpPr txBox="true"/>
              <p:nvPr/>
            </p:nvSpPr>
            <p:spPr>
              <a:xfrm>
                <a:off x="0" y="-9525"/>
                <a:ext cx="4185460" cy="1976127"/>
              </a:xfrm>
              <a:prstGeom prst="rect">
                <a:avLst/>
              </a:prstGeom>
            </p:spPr>
            <p:txBody>
              <a:bodyPr anchor="ctr" rtlCol="false" tIns="50800" lIns="50800" bIns="50800" rIns="50800"/>
              <a:lstStyle/>
              <a:p>
                <a:pPr algn="ctr">
                  <a:lnSpc>
                    <a:spcPts val="1980"/>
                  </a:lnSpc>
                </a:pPr>
              </a:p>
            </p:txBody>
          </p:sp>
        </p:grpSp>
        <p:sp>
          <p:nvSpPr>
            <p:cNvPr name="TextBox 37" id="37"/>
            <p:cNvSpPr txBox="true"/>
            <p:nvPr/>
          </p:nvSpPr>
          <p:spPr>
            <a:xfrm rot="0">
              <a:off x="362056" y="249289"/>
              <a:ext cx="20464777" cy="9458325"/>
            </a:xfrm>
            <a:prstGeom prst="rect">
              <a:avLst/>
            </a:prstGeom>
          </p:spPr>
          <p:txBody>
            <a:bodyPr anchor="t" rtlCol="false" tIns="0" lIns="0" bIns="0" rIns="0">
              <a:spAutoFit/>
            </a:bodyPr>
            <a:lstStyle/>
            <a:p>
              <a:pPr algn="l">
                <a:lnSpc>
                  <a:spcPts val="2879"/>
                </a:lnSpc>
              </a:pPr>
              <a:r>
                <a:rPr lang="en-US" sz="2399">
                  <a:solidFill>
                    <a:srgbClr val="000000"/>
                  </a:solidFill>
                  <a:latin typeface="Trebuchet MS"/>
                  <a:ea typeface="Trebuchet MS"/>
                  <a:cs typeface="Trebuchet MS"/>
                  <a:sym typeface="Trebuchet MS"/>
                </a:rPr>
                <a:t>The potential end users for this project are primarily individuals and teams responsible for network security, analysis, and system development. </a:t>
              </a:r>
            </a:p>
            <a:p>
              <a:pPr algn="l">
                <a:lnSpc>
                  <a:spcPts val="2879"/>
                </a:lnSpc>
              </a:pPr>
            </a:p>
            <a:p>
              <a:pPr algn="l" marL="518158"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Security Analysts (SOC Team):</a:t>
              </a:r>
              <a:r>
                <a:rPr lang="en-US" sz="2399">
                  <a:solidFill>
                    <a:srgbClr val="000000"/>
                  </a:solidFill>
                  <a:latin typeface="Trebuchet MS"/>
                  <a:ea typeface="Trebuchet MS"/>
                  <a:cs typeface="Trebuchet MS"/>
                  <a:sym typeface="Trebuchet MS"/>
                </a:rPr>
                <a:t> These are the primary operational users. They would use the dashboard to view real-time predictions and check the metrics to quickly assess the network's security status and validate the model's alerts before escalating an incident. </a:t>
              </a:r>
            </a:p>
            <a:p>
              <a:pPr algn="l">
                <a:lnSpc>
                  <a:spcPts val="1199"/>
                </a:lnSpc>
              </a:pPr>
            </a:p>
            <a:p>
              <a:pPr algn="l" marL="518158"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Data Scientists/Machine Learning Engineers:</a:t>
              </a:r>
              <a:r>
                <a:rPr lang="en-US" sz="2399">
                  <a:solidFill>
                    <a:srgbClr val="000000"/>
                  </a:solidFill>
                  <a:latin typeface="Trebuchet MS"/>
                  <a:ea typeface="Trebuchet MS"/>
                  <a:cs typeface="Trebuchet MS"/>
                  <a:sym typeface="Trebuchet MS"/>
                </a:rPr>
                <a:t> They would use the dashboard's interactive features (number of trees, training data size, and mode) and the detailed performance metrics (detected threats, accuracy scores, mean errors, classification reports, and confusion matrices) to train, tune, validate, and compare different iterations of the Random Forest model. </a:t>
              </a:r>
            </a:p>
            <a:p>
              <a:pPr algn="l">
                <a:lnSpc>
                  <a:spcPts val="1199"/>
                </a:lnSpc>
              </a:pPr>
            </a:p>
            <a:p>
              <a:pPr algn="l" marL="518158"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Network Engineers/Administrators:</a:t>
              </a:r>
              <a:r>
                <a:rPr lang="en-US" sz="2399">
                  <a:solidFill>
                    <a:srgbClr val="000000"/>
                  </a:solidFill>
                  <a:latin typeface="Trebuchet MS"/>
                  <a:ea typeface="Trebuchet MS"/>
                  <a:cs typeface="Trebuchet MS"/>
                  <a:sym typeface="Trebuchet MS"/>
                </a:rPr>
                <a:t> They would primarily use the dashboard to gain high-level visibility into network traffic patterns, especially using the Live Traffic Simulator to test how specific, known-suspicious packet characteristics would be flagged by the AI. </a:t>
              </a:r>
            </a:p>
            <a:p>
              <a:pPr algn="l">
                <a:lnSpc>
                  <a:spcPts val="1199"/>
                </a:lnSpc>
              </a:pPr>
            </a:p>
            <a:p>
              <a:pPr algn="l" marL="518158"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Project Managers/Stakeholders</a:t>
              </a:r>
              <a:r>
                <a:rPr lang="en-US" sz="2399">
                  <a:solidFill>
                    <a:srgbClr val="000000"/>
                  </a:solidFill>
                  <a:latin typeface="Trebuchet MS"/>
                  <a:ea typeface="Trebuchet MS"/>
                  <a:cs typeface="Trebuchet MS"/>
                  <a:sym typeface="Trebuchet MS"/>
                </a:rPr>
                <a:t>: They would review the high-level performance metrics (Test Accuracy, Threats Detected) to assess the effectiveness and readiness of the intrusion detection capability. </a:t>
              </a:r>
            </a:p>
            <a:p>
              <a:pPr algn="l">
                <a:lnSpc>
                  <a:spcPts val="1199"/>
                </a:lnSpc>
              </a:pPr>
            </a:p>
            <a:p>
              <a:pPr algn="l" marL="518158" indent="-259079" lvl="1">
                <a:lnSpc>
                  <a:spcPts val="2879"/>
                </a:lnSpc>
                <a:buFont typeface="Arial"/>
                <a:buChar char="•"/>
              </a:pPr>
              <a:r>
                <a:rPr lang="en-US" b="true" sz="2399">
                  <a:solidFill>
                    <a:srgbClr val="000000"/>
                  </a:solidFill>
                  <a:latin typeface="Trebuchet MS Bold"/>
                  <a:ea typeface="Trebuchet MS Bold"/>
                  <a:cs typeface="Trebuchet MS Bold"/>
                  <a:sym typeface="Trebuchet MS Bold"/>
                </a:rPr>
                <a:t>Students/Researchers:</a:t>
              </a:r>
              <a:r>
                <a:rPr lang="en-US" sz="2399">
                  <a:solidFill>
                    <a:srgbClr val="000000"/>
                  </a:solidFill>
                  <a:latin typeface="Trebuchet MS"/>
                  <a:ea typeface="Trebuchet MS"/>
                  <a:cs typeface="Trebuchet MS"/>
                  <a:sym typeface="Trebuchet MS"/>
                </a:rPr>
                <a:t> Given its dashboard format and simulation mode, it is an excellent educational or research tool for those studying machine learning in cybersecurity, allowing them to easily load data, train, and test an NIDS model without complex setup. </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2F2F2"/>
        </a:solidFill>
      </p:bgPr>
    </p:bg>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1044238" y="664893"/>
            <a:ext cx="542925" cy="542925"/>
            <a:chOff x="0" y="0"/>
            <a:chExt cx="723900" cy="723900"/>
          </a:xfrm>
        </p:grpSpPr>
        <p:sp>
          <p:nvSpPr>
            <p:cNvPr name="Freeform 24" id="24"/>
            <p:cNvSpPr/>
            <p:nvPr/>
          </p:nvSpPr>
          <p:spPr>
            <a:xfrm flipH="false" flipV="false" rot="0">
              <a:off x="0" y="0"/>
              <a:ext cx="723900" cy="723900"/>
            </a:xfrm>
            <a:custGeom>
              <a:avLst/>
              <a:gdLst/>
              <a:ahLst/>
              <a:cxnLst/>
              <a:rect r="r" b="b" t="t" l="l"/>
              <a:pathLst>
                <a:path h="723900" w="723900">
                  <a:moveTo>
                    <a:pt x="0" y="361950"/>
                  </a:moveTo>
                  <a:cubicBezTo>
                    <a:pt x="0" y="162052"/>
                    <a:pt x="162052" y="0"/>
                    <a:pt x="361950" y="0"/>
                  </a:cubicBezTo>
                  <a:cubicBezTo>
                    <a:pt x="561848" y="0"/>
                    <a:pt x="723900" y="162052"/>
                    <a:pt x="723900" y="361950"/>
                  </a:cubicBezTo>
                  <a:cubicBezTo>
                    <a:pt x="723900" y="561848"/>
                    <a:pt x="561848" y="723900"/>
                    <a:pt x="361950" y="723900"/>
                  </a:cubicBezTo>
                  <a:cubicBezTo>
                    <a:pt x="162052" y="723900"/>
                    <a:pt x="0" y="561848"/>
                    <a:pt x="0" y="361950"/>
                  </a:cubicBezTo>
                  <a:close/>
                </a:path>
              </a:pathLst>
            </a:custGeom>
            <a:solidFill>
              <a:srgbClr val="EBEBEB"/>
            </a:solidFill>
            <a:ln w="12700">
              <a:solidFill>
                <a:srgbClr val="000000"/>
              </a:solidFill>
            </a:ln>
          </p:spPr>
        </p:sp>
      </p:grpSp>
      <p:grpSp>
        <p:nvGrpSpPr>
          <p:cNvPr name="Group 25" id="25"/>
          <p:cNvGrpSpPr/>
          <p:nvPr/>
        </p:nvGrpSpPr>
        <p:grpSpPr>
          <a:xfrm rot="0">
            <a:off x="16510873" y="8408994"/>
            <a:ext cx="981342" cy="981342"/>
            <a:chOff x="0" y="0"/>
            <a:chExt cx="1308456" cy="1308456"/>
          </a:xfrm>
        </p:grpSpPr>
        <p:sp>
          <p:nvSpPr>
            <p:cNvPr name="Freeform 26" id="26"/>
            <p:cNvSpPr/>
            <p:nvPr/>
          </p:nvSpPr>
          <p:spPr>
            <a:xfrm flipH="false" flipV="false" rot="0">
              <a:off x="0" y="0"/>
              <a:ext cx="1308354" cy="1308354"/>
            </a:xfrm>
            <a:custGeom>
              <a:avLst/>
              <a:gdLst/>
              <a:ahLst/>
              <a:cxnLst/>
              <a:rect r="r" b="b" t="t" l="l"/>
              <a:pathLst>
                <a:path h="1308354" w="1308354">
                  <a:moveTo>
                    <a:pt x="0" y="654177"/>
                  </a:moveTo>
                  <a:cubicBezTo>
                    <a:pt x="0" y="292862"/>
                    <a:pt x="292862" y="0"/>
                    <a:pt x="654177" y="0"/>
                  </a:cubicBezTo>
                  <a:cubicBezTo>
                    <a:pt x="1015492" y="0"/>
                    <a:pt x="1308354" y="292862"/>
                    <a:pt x="1308354" y="654177"/>
                  </a:cubicBezTo>
                  <a:cubicBezTo>
                    <a:pt x="1308354" y="1015492"/>
                    <a:pt x="1015492" y="1308354"/>
                    <a:pt x="654177" y="1308354"/>
                  </a:cubicBezTo>
                  <a:cubicBezTo>
                    <a:pt x="292862" y="1308354"/>
                    <a:pt x="0" y="1015492"/>
                    <a:pt x="0" y="654177"/>
                  </a:cubicBezTo>
                  <a:close/>
                </a:path>
              </a:pathLst>
            </a:custGeom>
            <a:solidFill>
              <a:srgbClr val="2E83C3"/>
            </a:solidFill>
            <a:ln w="12700">
              <a:solidFill>
                <a:srgbClr val="000000"/>
              </a:solidFill>
            </a:ln>
          </p:spPr>
        </p:sp>
      </p:grpSp>
      <p:grpSp>
        <p:nvGrpSpPr>
          <p:cNvPr name="Group 27" id="27"/>
          <p:cNvGrpSpPr/>
          <p:nvPr/>
        </p:nvGrpSpPr>
        <p:grpSpPr>
          <a:xfrm rot="0">
            <a:off x="16025689" y="9198654"/>
            <a:ext cx="376723" cy="376723"/>
            <a:chOff x="0" y="0"/>
            <a:chExt cx="502298" cy="502298"/>
          </a:xfrm>
        </p:grpSpPr>
        <p:sp>
          <p:nvSpPr>
            <p:cNvPr name="Freeform 28" id="28"/>
            <p:cNvSpPr/>
            <p:nvPr/>
          </p:nvSpPr>
          <p:spPr>
            <a:xfrm flipH="false" flipV="false" rot="0">
              <a:off x="0" y="0"/>
              <a:ext cx="502285" cy="502285"/>
            </a:xfrm>
            <a:custGeom>
              <a:avLst/>
              <a:gdLst/>
              <a:ahLst/>
              <a:cxnLst/>
              <a:rect r="r" b="b" t="t" l="l"/>
              <a:pathLst>
                <a:path h="502285" w="502285">
                  <a:moveTo>
                    <a:pt x="0" y="251206"/>
                  </a:moveTo>
                  <a:cubicBezTo>
                    <a:pt x="0" y="112395"/>
                    <a:pt x="112395" y="0"/>
                    <a:pt x="251206" y="0"/>
                  </a:cubicBezTo>
                  <a:cubicBezTo>
                    <a:pt x="390017" y="0"/>
                    <a:pt x="502285" y="112395"/>
                    <a:pt x="502285" y="251206"/>
                  </a:cubicBezTo>
                  <a:cubicBezTo>
                    <a:pt x="502285" y="390017"/>
                    <a:pt x="389890" y="502285"/>
                    <a:pt x="251206" y="502285"/>
                  </a:cubicBezTo>
                  <a:cubicBezTo>
                    <a:pt x="112522" y="502285"/>
                    <a:pt x="0" y="389890"/>
                    <a:pt x="0" y="251206"/>
                  </a:cubicBezTo>
                  <a:close/>
                </a:path>
              </a:pathLst>
            </a:custGeom>
            <a:solidFill>
              <a:srgbClr val="2E946B"/>
            </a:solidFill>
            <a:ln w="12700">
              <a:solidFill>
                <a:srgbClr val="000000"/>
              </a:solidFill>
            </a:ln>
          </p:spPr>
        </p:sp>
      </p:grpSp>
      <p:sp>
        <p:nvSpPr>
          <p:cNvPr name="Freeform 29" id="29"/>
          <p:cNvSpPr/>
          <p:nvPr/>
        </p:nvSpPr>
        <p:spPr>
          <a:xfrm flipH="true" flipV="false" rot="0">
            <a:off x="76200" y="5730240"/>
            <a:ext cx="2590800" cy="4515040"/>
          </a:xfrm>
          <a:custGeom>
            <a:avLst/>
            <a:gdLst/>
            <a:ahLst/>
            <a:cxnLst/>
            <a:rect r="r" b="b" t="t" l="l"/>
            <a:pathLst>
              <a:path h="4515040" w="2590800">
                <a:moveTo>
                  <a:pt x="2590800" y="0"/>
                </a:moveTo>
                <a:lnTo>
                  <a:pt x="0" y="0"/>
                </a:lnTo>
                <a:lnTo>
                  <a:pt x="0" y="4515040"/>
                </a:lnTo>
                <a:lnTo>
                  <a:pt x="2590800" y="4515040"/>
                </a:lnTo>
                <a:lnTo>
                  <a:pt x="2590800" y="0"/>
                </a:lnTo>
                <a:close/>
              </a:path>
            </a:pathLst>
          </a:custGeom>
          <a:blipFill>
            <a:blip r:embed="rId3"/>
            <a:stretch>
              <a:fillRect l="-5923" t="0" r="-5922" b="0"/>
            </a:stretch>
          </a:blipFill>
        </p:spPr>
      </p:sp>
      <p:grpSp>
        <p:nvGrpSpPr>
          <p:cNvPr name="Group 30" id="30"/>
          <p:cNvGrpSpPr/>
          <p:nvPr/>
        </p:nvGrpSpPr>
        <p:grpSpPr>
          <a:xfrm rot="0">
            <a:off x="1028700" y="472440"/>
            <a:ext cx="15379798" cy="9365318"/>
            <a:chOff x="0" y="0"/>
            <a:chExt cx="4050646" cy="2466586"/>
          </a:xfrm>
        </p:grpSpPr>
        <p:sp>
          <p:nvSpPr>
            <p:cNvPr name="Freeform 31" id="31"/>
            <p:cNvSpPr/>
            <p:nvPr/>
          </p:nvSpPr>
          <p:spPr>
            <a:xfrm flipH="false" flipV="false" rot="0">
              <a:off x="0" y="0"/>
              <a:ext cx="4050647" cy="2466586"/>
            </a:xfrm>
            <a:custGeom>
              <a:avLst/>
              <a:gdLst/>
              <a:ahLst/>
              <a:cxnLst/>
              <a:rect r="r" b="b" t="t" l="l"/>
              <a:pathLst>
                <a:path h="2466586" w="4050647">
                  <a:moveTo>
                    <a:pt x="25673" y="0"/>
                  </a:moveTo>
                  <a:lnTo>
                    <a:pt x="4024974" y="0"/>
                  </a:lnTo>
                  <a:cubicBezTo>
                    <a:pt x="4039153" y="0"/>
                    <a:pt x="4050647" y="11494"/>
                    <a:pt x="4050647" y="25673"/>
                  </a:cubicBezTo>
                  <a:lnTo>
                    <a:pt x="4050647" y="2440913"/>
                  </a:lnTo>
                  <a:cubicBezTo>
                    <a:pt x="4050647" y="2447722"/>
                    <a:pt x="4047942" y="2454252"/>
                    <a:pt x="4043127" y="2459067"/>
                  </a:cubicBezTo>
                  <a:cubicBezTo>
                    <a:pt x="4038313" y="2463881"/>
                    <a:pt x="4031783" y="2466586"/>
                    <a:pt x="4024974" y="2466586"/>
                  </a:cubicBezTo>
                  <a:lnTo>
                    <a:pt x="25673" y="2466586"/>
                  </a:lnTo>
                  <a:cubicBezTo>
                    <a:pt x="18864" y="2466586"/>
                    <a:pt x="12334" y="2463881"/>
                    <a:pt x="7519" y="2459067"/>
                  </a:cubicBezTo>
                  <a:cubicBezTo>
                    <a:pt x="2705" y="2454252"/>
                    <a:pt x="0" y="2447722"/>
                    <a:pt x="0" y="2440913"/>
                  </a:cubicBezTo>
                  <a:lnTo>
                    <a:pt x="0" y="25673"/>
                  </a:lnTo>
                  <a:cubicBezTo>
                    <a:pt x="0" y="18864"/>
                    <a:pt x="2705" y="12334"/>
                    <a:pt x="7519" y="7519"/>
                  </a:cubicBezTo>
                  <a:cubicBezTo>
                    <a:pt x="12334" y="2705"/>
                    <a:pt x="18864" y="0"/>
                    <a:pt x="25673" y="0"/>
                  </a:cubicBezTo>
                  <a:close/>
                </a:path>
              </a:pathLst>
            </a:custGeom>
            <a:solidFill>
              <a:srgbClr val="FFFFFF">
                <a:alpha val="63922"/>
              </a:srgbClr>
            </a:solidFill>
          </p:spPr>
        </p:sp>
        <p:sp>
          <p:nvSpPr>
            <p:cNvPr name="TextBox 32" id="32"/>
            <p:cNvSpPr txBox="true"/>
            <p:nvPr/>
          </p:nvSpPr>
          <p:spPr>
            <a:xfrm>
              <a:off x="0" y="-9525"/>
              <a:ext cx="4050646" cy="2476111"/>
            </a:xfrm>
            <a:prstGeom prst="rect">
              <a:avLst/>
            </a:prstGeom>
          </p:spPr>
          <p:txBody>
            <a:bodyPr anchor="ctr" rtlCol="false" tIns="50800" lIns="50800" bIns="50800" rIns="50800"/>
            <a:lstStyle/>
            <a:p>
              <a:pPr algn="ctr">
                <a:lnSpc>
                  <a:spcPts val="1980"/>
                </a:lnSpc>
              </a:pPr>
            </a:p>
          </p:txBody>
        </p:sp>
      </p:grpSp>
      <p:sp>
        <p:nvSpPr>
          <p:cNvPr name="TextBox 33" id="33"/>
          <p:cNvSpPr txBox="true"/>
          <p:nvPr/>
        </p:nvSpPr>
        <p:spPr>
          <a:xfrm rot="0">
            <a:off x="1371600" y="453390"/>
            <a:ext cx="7776553" cy="1199331"/>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Technology Used</a:t>
            </a:r>
          </a:p>
        </p:txBody>
      </p:sp>
      <p:grpSp>
        <p:nvGrpSpPr>
          <p:cNvPr name="Group 34" id="34"/>
          <p:cNvGrpSpPr/>
          <p:nvPr/>
        </p:nvGrpSpPr>
        <p:grpSpPr>
          <a:xfrm rot="0">
            <a:off x="1286361" y="1871101"/>
            <a:ext cx="14856133" cy="7697257"/>
            <a:chOff x="0" y="0"/>
            <a:chExt cx="3912726" cy="2027261"/>
          </a:xfrm>
        </p:grpSpPr>
        <p:sp>
          <p:nvSpPr>
            <p:cNvPr name="Freeform 35" id="35"/>
            <p:cNvSpPr/>
            <p:nvPr/>
          </p:nvSpPr>
          <p:spPr>
            <a:xfrm flipH="false" flipV="false" rot="0">
              <a:off x="0" y="0"/>
              <a:ext cx="3912726" cy="2027261"/>
            </a:xfrm>
            <a:custGeom>
              <a:avLst/>
              <a:gdLst/>
              <a:ahLst/>
              <a:cxnLst/>
              <a:rect r="r" b="b" t="t" l="l"/>
              <a:pathLst>
                <a:path h="2027261" w="3912726">
                  <a:moveTo>
                    <a:pt x="26577" y="0"/>
                  </a:moveTo>
                  <a:lnTo>
                    <a:pt x="3886149" y="0"/>
                  </a:lnTo>
                  <a:cubicBezTo>
                    <a:pt x="3900827" y="0"/>
                    <a:pt x="3912726" y="11899"/>
                    <a:pt x="3912726" y="26577"/>
                  </a:cubicBezTo>
                  <a:lnTo>
                    <a:pt x="3912726" y="2000684"/>
                  </a:lnTo>
                  <a:cubicBezTo>
                    <a:pt x="3912726" y="2015362"/>
                    <a:pt x="3900827" y="2027261"/>
                    <a:pt x="3886149" y="2027261"/>
                  </a:cubicBezTo>
                  <a:lnTo>
                    <a:pt x="26577" y="2027261"/>
                  </a:lnTo>
                  <a:cubicBezTo>
                    <a:pt x="19529" y="2027261"/>
                    <a:pt x="12769" y="2024461"/>
                    <a:pt x="7784" y="2019477"/>
                  </a:cubicBezTo>
                  <a:cubicBezTo>
                    <a:pt x="2800" y="2014493"/>
                    <a:pt x="0" y="2007732"/>
                    <a:pt x="0" y="2000684"/>
                  </a:cubicBezTo>
                  <a:lnTo>
                    <a:pt x="0" y="26577"/>
                  </a:lnTo>
                  <a:cubicBezTo>
                    <a:pt x="0" y="11899"/>
                    <a:pt x="11899" y="0"/>
                    <a:pt x="26577" y="0"/>
                  </a:cubicBezTo>
                  <a:close/>
                </a:path>
              </a:pathLst>
            </a:custGeom>
            <a:solidFill>
              <a:srgbClr val="000000">
                <a:alpha val="0"/>
              </a:srgbClr>
            </a:solidFill>
            <a:ln w="19050" cap="rnd">
              <a:solidFill>
                <a:srgbClr val="000000"/>
              </a:solidFill>
              <a:prstDash val="solid"/>
              <a:round/>
            </a:ln>
          </p:spPr>
        </p:sp>
        <p:sp>
          <p:nvSpPr>
            <p:cNvPr name="TextBox 36" id="36"/>
            <p:cNvSpPr txBox="true"/>
            <p:nvPr/>
          </p:nvSpPr>
          <p:spPr>
            <a:xfrm>
              <a:off x="0" y="-9525"/>
              <a:ext cx="3912726" cy="2036786"/>
            </a:xfrm>
            <a:prstGeom prst="rect">
              <a:avLst/>
            </a:prstGeom>
          </p:spPr>
          <p:txBody>
            <a:bodyPr anchor="ctr" rtlCol="false" tIns="50800" lIns="50800" bIns="50800" rIns="50800"/>
            <a:lstStyle/>
            <a:p>
              <a:pPr algn="ctr">
                <a:lnSpc>
                  <a:spcPts val="1980"/>
                </a:lnSpc>
              </a:pPr>
            </a:p>
          </p:txBody>
        </p:sp>
      </p:grpSp>
      <p:grpSp>
        <p:nvGrpSpPr>
          <p:cNvPr name="Group 37" id="37"/>
          <p:cNvGrpSpPr/>
          <p:nvPr/>
        </p:nvGrpSpPr>
        <p:grpSpPr>
          <a:xfrm rot="0">
            <a:off x="9007093" y="2377440"/>
            <a:ext cx="6924627" cy="6880860"/>
            <a:chOff x="0" y="0"/>
            <a:chExt cx="1823770" cy="1812243"/>
          </a:xfrm>
        </p:grpSpPr>
        <p:sp>
          <p:nvSpPr>
            <p:cNvPr name="Freeform 38" id="38"/>
            <p:cNvSpPr/>
            <p:nvPr/>
          </p:nvSpPr>
          <p:spPr>
            <a:xfrm flipH="false" flipV="false" rot="0">
              <a:off x="0" y="0"/>
              <a:ext cx="1823770" cy="1812243"/>
            </a:xfrm>
            <a:custGeom>
              <a:avLst/>
              <a:gdLst/>
              <a:ahLst/>
              <a:cxnLst/>
              <a:rect r="r" b="b" t="t" l="l"/>
              <a:pathLst>
                <a:path h="1812243" w="1823770">
                  <a:moveTo>
                    <a:pt x="22361" y="0"/>
                  </a:moveTo>
                  <a:lnTo>
                    <a:pt x="1801410" y="0"/>
                  </a:lnTo>
                  <a:cubicBezTo>
                    <a:pt x="1813759" y="0"/>
                    <a:pt x="1823770" y="10011"/>
                    <a:pt x="1823770" y="22361"/>
                  </a:cubicBezTo>
                  <a:lnTo>
                    <a:pt x="1823770" y="1789883"/>
                  </a:lnTo>
                  <a:cubicBezTo>
                    <a:pt x="1823770" y="1802232"/>
                    <a:pt x="1813759" y="1812243"/>
                    <a:pt x="1801410" y="1812243"/>
                  </a:cubicBezTo>
                  <a:lnTo>
                    <a:pt x="22361" y="1812243"/>
                  </a:lnTo>
                  <a:cubicBezTo>
                    <a:pt x="10011" y="1812243"/>
                    <a:pt x="0" y="1802232"/>
                    <a:pt x="0" y="1789883"/>
                  </a:cubicBezTo>
                  <a:lnTo>
                    <a:pt x="0" y="22361"/>
                  </a:lnTo>
                  <a:cubicBezTo>
                    <a:pt x="0" y="10011"/>
                    <a:pt x="10011" y="0"/>
                    <a:pt x="22361" y="0"/>
                  </a:cubicBezTo>
                  <a:close/>
                </a:path>
              </a:pathLst>
            </a:custGeom>
            <a:solidFill>
              <a:srgbClr val="000000">
                <a:alpha val="0"/>
              </a:srgbClr>
            </a:solidFill>
            <a:ln w="19050" cap="sq">
              <a:solidFill>
                <a:srgbClr val="000000"/>
              </a:solidFill>
              <a:prstDash val="solid"/>
              <a:miter/>
            </a:ln>
          </p:spPr>
        </p:sp>
        <p:sp>
          <p:nvSpPr>
            <p:cNvPr name="TextBox 39" id="39"/>
            <p:cNvSpPr txBox="true"/>
            <p:nvPr/>
          </p:nvSpPr>
          <p:spPr>
            <a:xfrm>
              <a:off x="0" y="-9525"/>
              <a:ext cx="1823770" cy="1821768"/>
            </a:xfrm>
            <a:prstGeom prst="rect">
              <a:avLst/>
            </a:prstGeom>
          </p:spPr>
          <p:txBody>
            <a:bodyPr anchor="ctr" rtlCol="false" tIns="50800" lIns="50800" bIns="50800" rIns="50800"/>
            <a:lstStyle/>
            <a:p>
              <a:pPr algn="ctr">
                <a:lnSpc>
                  <a:spcPts val="1980"/>
                </a:lnSpc>
              </a:pPr>
            </a:p>
          </p:txBody>
        </p:sp>
      </p:grpSp>
      <p:sp>
        <p:nvSpPr>
          <p:cNvPr name="TextBox 40" id="40"/>
          <p:cNvSpPr txBox="true"/>
          <p:nvPr/>
        </p:nvSpPr>
        <p:spPr>
          <a:xfrm rot="0">
            <a:off x="9007093" y="2435247"/>
            <a:ext cx="6846853" cy="6705600"/>
          </a:xfrm>
          <a:prstGeom prst="rect">
            <a:avLst/>
          </a:prstGeom>
        </p:spPr>
        <p:txBody>
          <a:bodyPr anchor="t" rtlCol="false" tIns="0" lIns="0" bIns="0" rIns="0">
            <a:spAutoFit/>
          </a:bodyPr>
          <a:lstStyle/>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LANGUAGE:</a:t>
            </a:r>
            <a:r>
              <a:rPr lang="en-US" sz="2799">
                <a:solidFill>
                  <a:srgbClr val="000000"/>
                </a:solidFill>
                <a:latin typeface="Trebuchet MS"/>
                <a:ea typeface="Trebuchet MS"/>
                <a:cs typeface="Trebuchet MS"/>
                <a:sym typeface="Trebuchet MS"/>
              </a:rPr>
              <a:t> Python</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ALGORITHM FOR MACHINE LEARNING AND CLASSIFICATION:</a:t>
            </a:r>
            <a:r>
              <a:rPr lang="en-US" sz="2799">
                <a:solidFill>
                  <a:srgbClr val="000000"/>
                </a:solidFill>
                <a:latin typeface="Trebuchet MS"/>
                <a:ea typeface="Trebuchet MS"/>
                <a:cs typeface="Trebuchet MS"/>
                <a:sym typeface="Trebuchet MS"/>
              </a:rPr>
              <a:t> Random Forest Classifier</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DEPLOYMENT:</a:t>
            </a:r>
            <a:r>
              <a:rPr lang="en-US" sz="2799">
                <a:solidFill>
                  <a:srgbClr val="000000"/>
                </a:solidFill>
                <a:latin typeface="Trebuchet MS"/>
                <a:ea typeface="Trebuchet MS"/>
                <a:cs typeface="Trebuchet MS"/>
                <a:sym typeface="Trebuchet MS"/>
              </a:rPr>
              <a:t> Streamlit Community Cloud</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DATASET STORAGE:</a:t>
            </a:r>
            <a:r>
              <a:rPr lang="en-US" sz="2799">
                <a:solidFill>
                  <a:srgbClr val="000000"/>
                </a:solidFill>
                <a:latin typeface="Trebuchet MS"/>
                <a:ea typeface="Trebuchet MS"/>
                <a:cs typeface="Trebuchet MS"/>
                <a:sym typeface="Trebuchet MS"/>
              </a:rPr>
              <a:t> Google Drive</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DATASETS FOR TRAINING AND TESTING:- </a:t>
            </a:r>
          </a:p>
          <a:p>
            <a:pPr algn="l" marL="604516" indent="-302258" lvl="1">
              <a:lnSpc>
                <a:spcPts val="3359"/>
              </a:lnSpc>
              <a:buFont typeface="Arial"/>
              <a:buChar char="•"/>
            </a:pPr>
            <a:r>
              <a:rPr lang="en-US" sz="2799">
                <a:solidFill>
                  <a:srgbClr val="000000"/>
                </a:solidFill>
                <a:latin typeface="Trebuchet MS"/>
                <a:ea typeface="Trebuchet MS"/>
                <a:cs typeface="Trebuchet MS"/>
                <a:sym typeface="Trebuchet MS"/>
              </a:rPr>
              <a:t>Instantaneous simulated dataset</a:t>
            </a:r>
          </a:p>
          <a:p>
            <a:pPr algn="l" marL="604516" indent="-302258" lvl="1">
              <a:lnSpc>
                <a:spcPts val="3359"/>
              </a:lnSpc>
              <a:buFont typeface="Arial"/>
              <a:buChar char="•"/>
            </a:pPr>
            <a:r>
              <a:rPr lang="en-US" sz="2799">
                <a:solidFill>
                  <a:srgbClr val="000000"/>
                </a:solidFill>
                <a:latin typeface="Trebuchet MS"/>
                <a:ea typeface="Trebuchet MS"/>
                <a:cs typeface="Trebuchet MS"/>
                <a:sym typeface="Trebuchet MS"/>
              </a:rPr>
              <a:t>Intrusion detection evaluation dataset (CIC-IDS2017): Friday-WorkingHours-Afternoon-DDos.pcap_ISCX.csv</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VERSION CONTROL SYSTEM:</a:t>
            </a:r>
            <a:r>
              <a:rPr lang="en-US" sz="2799">
                <a:solidFill>
                  <a:srgbClr val="000000"/>
                </a:solidFill>
                <a:latin typeface="Trebuchet MS"/>
                <a:ea typeface="Trebuchet MS"/>
                <a:cs typeface="Trebuchet MS"/>
                <a:sym typeface="Trebuchet MS"/>
              </a:rPr>
              <a:t> Git</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PROJECT CODE STORAGE:</a:t>
            </a:r>
            <a:r>
              <a:rPr lang="en-US" sz="2799">
                <a:solidFill>
                  <a:srgbClr val="000000"/>
                </a:solidFill>
                <a:latin typeface="Trebuchet MS"/>
                <a:ea typeface="Trebuchet MS"/>
                <a:cs typeface="Trebuchet MS"/>
                <a:sym typeface="Trebuchet MS"/>
              </a:rPr>
              <a:t> GitHub</a:t>
            </a:r>
          </a:p>
          <a:p>
            <a:pPr algn="l" marL="604516" indent="-302258" lvl="1">
              <a:lnSpc>
                <a:spcPts val="3359"/>
              </a:lnSpc>
              <a:buAutoNum type="arabicPeriod" startAt="1"/>
            </a:pPr>
            <a:r>
              <a:rPr lang="en-US" b="true" sz="2799">
                <a:solidFill>
                  <a:srgbClr val="000000"/>
                </a:solidFill>
                <a:latin typeface="Trebuchet MS Bold"/>
                <a:ea typeface="Trebuchet MS Bold"/>
                <a:cs typeface="Trebuchet MS Bold"/>
                <a:sym typeface="Trebuchet MS Bold"/>
              </a:rPr>
              <a:t>IDE:</a:t>
            </a:r>
            <a:r>
              <a:rPr lang="en-US" sz="2799">
                <a:solidFill>
                  <a:srgbClr val="000000"/>
                </a:solidFill>
                <a:latin typeface="Trebuchet MS"/>
                <a:ea typeface="Trebuchet MS"/>
                <a:cs typeface="Trebuchet MS"/>
                <a:sym typeface="Trebuchet MS"/>
              </a:rPr>
              <a:t> Visual Studio Code</a:t>
            </a:r>
          </a:p>
        </p:txBody>
      </p:sp>
      <p:grpSp>
        <p:nvGrpSpPr>
          <p:cNvPr name="Group 41" id="41"/>
          <p:cNvGrpSpPr/>
          <p:nvPr/>
        </p:nvGrpSpPr>
        <p:grpSpPr>
          <a:xfrm rot="0">
            <a:off x="1497134" y="2377440"/>
            <a:ext cx="3165387" cy="6880860"/>
            <a:chOff x="0" y="0"/>
            <a:chExt cx="833643" cy="1812583"/>
          </a:xfrm>
        </p:grpSpPr>
        <p:sp>
          <p:nvSpPr>
            <p:cNvPr name="Freeform 42" id="42"/>
            <p:cNvSpPr/>
            <p:nvPr/>
          </p:nvSpPr>
          <p:spPr>
            <a:xfrm flipH="false" flipV="false" rot="0">
              <a:off x="0" y="0"/>
              <a:ext cx="833643" cy="1812583"/>
            </a:xfrm>
            <a:custGeom>
              <a:avLst/>
              <a:gdLst/>
              <a:ahLst/>
              <a:cxnLst/>
              <a:rect r="r" b="b" t="t" l="l"/>
              <a:pathLst>
                <a:path h="1812583" w="833643">
                  <a:moveTo>
                    <a:pt x="833643" y="48916"/>
                  </a:moveTo>
                  <a:lnTo>
                    <a:pt x="833643" y="1763667"/>
                  </a:lnTo>
                  <a:cubicBezTo>
                    <a:pt x="833643" y="1790682"/>
                    <a:pt x="811743" y="1812583"/>
                    <a:pt x="784727" y="1812583"/>
                  </a:cubicBezTo>
                  <a:lnTo>
                    <a:pt x="48916" y="1812583"/>
                  </a:lnTo>
                  <a:cubicBezTo>
                    <a:pt x="21900" y="1812583"/>
                    <a:pt x="0" y="1790682"/>
                    <a:pt x="0" y="1763667"/>
                  </a:cubicBezTo>
                  <a:lnTo>
                    <a:pt x="0" y="48916"/>
                  </a:lnTo>
                  <a:cubicBezTo>
                    <a:pt x="0" y="21900"/>
                    <a:pt x="21900" y="0"/>
                    <a:pt x="48916" y="0"/>
                  </a:cubicBezTo>
                  <a:lnTo>
                    <a:pt x="784727" y="0"/>
                  </a:lnTo>
                  <a:cubicBezTo>
                    <a:pt x="811743" y="0"/>
                    <a:pt x="833643" y="21900"/>
                    <a:pt x="833643" y="48916"/>
                  </a:cubicBezTo>
                  <a:close/>
                </a:path>
              </a:pathLst>
            </a:custGeom>
            <a:solidFill>
              <a:srgbClr val="000000">
                <a:alpha val="0"/>
              </a:srgbClr>
            </a:solidFill>
            <a:ln w="19050" cap="sq">
              <a:solidFill>
                <a:srgbClr val="000000"/>
              </a:solidFill>
              <a:prstDash val="solid"/>
              <a:miter/>
            </a:ln>
          </p:spPr>
        </p:sp>
        <p:sp>
          <p:nvSpPr>
            <p:cNvPr name="TextBox 43" id="43"/>
            <p:cNvSpPr txBox="true"/>
            <p:nvPr/>
          </p:nvSpPr>
          <p:spPr>
            <a:xfrm>
              <a:off x="0" y="-9525"/>
              <a:ext cx="833643" cy="1822108"/>
            </a:xfrm>
            <a:prstGeom prst="rect">
              <a:avLst/>
            </a:prstGeom>
          </p:spPr>
          <p:txBody>
            <a:bodyPr anchor="ctr" rtlCol="false" tIns="50800" lIns="50800" bIns="50800" rIns="50800"/>
            <a:lstStyle/>
            <a:p>
              <a:pPr algn="ctr">
                <a:lnSpc>
                  <a:spcPts val="1980"/>
                </a:lnSpc>
              </a:pPr>
            </a:p>
          </p:txBody>
        </p:sp>
      </p:grpSp>
      <p:sp>
        <p:nvSpPr>
          <p:cNvPr name="TextBox 44" id="44"/>
          <p:cNvSpPr txBox="true"/>
          <p:nvPr/>
        </p:nvSpPr>
        <p:spPr>
          <a:xfrm rot="0">
            <a:off x="1708687" y="2517772"/>
            <a:ext cx="2737275" cy="4638675"/>
          </a:xfrm>
          <a:prstGeom prst="rect">
            <a:avLst/>
          </a:prstGeom>
        </p:spPr>
        <p:txBody>
          <a:bodyPr anchor="t" rtlCol="false" tIns="0" lIns="0" bIns="0" rIns="0">
            <a:spAutoFit/>
          </a:bodyPr>
          <a:lstStyle/>
          <a:p>
            <a:pPr algn="l">
              <a:lnSpc>
                <a:spcPts val="4799"/>
              </a:lnSpc>
            </a:pPr>
            <a:r>
              <a:rPr lang="en-US" sz="3999" b="true">
                <a:solidFill>
                  <a:srgbClr val="000000"/>
                </a:solidFill>
                <a:latin typeface="Trebuchet MS Bold"/>
                <a:ea typeface="Trebuchet MS Bold"/>
                <a:cs typeface="Trebuchet MS Bold"/>
                <a:sym typeface="Trebuchet MS Bold"/>
              </a:rPr>
              <a:t>LIBRARIES:-</a:t>
            </a:r>
          </a:p>
          <a:p>
            <a:pPr algn="l">
              <a:lnSpc>
                <a:spcPts val="1199"/>
              </a:lnSpc>
            </a:pP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Numpy</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Pandas</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Matplotlib</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Scikit-learn</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Requests</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IO</a:t>
            </a:r>
          </a:p>
          <a:p>
            <a:pPr algn="l" marL="690874" indent="-345437" lvl="1">
              <a:lnSpc>
                <a:spcPts val="3839"/>
              </a:lnSpc>
              <a:buFont typeface="Arial"/>
              <a:buChar char="•"/>
            </a:pPr>
            <a:r>
              <a:rPr lang="en-US" sz="3199">
                <a:solidFill>
                  <a:srgbClr val="000000"/>
                </a:solidFill>
                <a:latin typeface="Trebuchet MS"/>
                <a:ea typeface="Trebuchet MS"/>
                <a:cs typeface="Trebuchet MS"/>
                <a:sym typeface="Trebuchet MS"/>
              </a:rPr>
              <a:t>Streamlit</a:t>
            </a:r>
          </a:p>
        </p:txBody>
      </p:sp>
      <p:grpSp>
        <p:nvGrpSpPr>
          <p:cNvPr name="Group 45" id="45"/>
          <p:cNvGrpSpPr/>
          <p:nvPr/>
        </p:nvGrpSpPr>
        <p:grpSpPr>
          <a:xfrm rot="0">
            <a:off x="4858346" y="2377440"/>
            <a:ext cx="3944551" cy="6880860"/>
            <a:chOff x="0" y="0"/>
            <a:chExt cx="1038894" cy="1812243"/>
          </a:xfrm>
        </p:grpSpPr>
        <p:sp>
          <p:nvSpPr>
            <p:cNvPr name="Freeform 46" id="46"/>
            <p:cNvSpPr/>
            <p:nvPr/>
          </p:nvSpPr>
          <p:spPr>
            <a:xfrm flipH="false" flipV="false" rot="0">
              <a:off x="0" y="0"/>
              <a:ext cx="1038894" cy="1812243"/>
            </a:xfrm>
            <a:custGeom>
              <a:avLst/>
              <a:gdLst/>
              <a:ahLst/>
              <a:cxnLst/>
              <a:rect r="r" b="b" t="t" l="l"/>
              <a:pathLst>
                <a:path h="1812243" w="1038894">
                  <a:moveTo>
                    <a:pt x="39254" y="0"/>
                  </a:moveTo>
                  <a:lnTo>
                    <a:pt x="999640" y="0"/>
                  </a:lnTo>
                  <a:cubicBezTo>
                    <a:pt x="1021320" y="0"/>
                    <a:pt x="1038894" y="17575"/>
                    <a:pt x="1038894" y="39254"/>
                  </a:cubicBezTo>
                  <a:lnTo>
                    <a:pt x="1038894" y="1772989"/>
                  </a:lnTo>
                  <a:cubicBezTo>
                    <a:pt x="1038894" y="1794669"/>
                    <a:pt x="1021320" y="1812243"/>
                    <a:pt x="999640" y="1812243"/>
                  </a:cubicBezTo>
                  <a:lnTo>
                    <a:pt x="39254" y="1812243"/>
                  </a:lnTo>
                  <a:cubicBezTo>
                    <a:pt x="17575" y="1812243"/>
                    <a:pt x="0" y="1794669"/>
                    <a:pt x="0" y="1772989"/>
                  </a:cubicBezTo>
                  <a:lnTo>
                    <a:pt x="0" y="39254"/>
                  </a:lnTo>
                  <a:cubicBezTo>
                    <a:pt x="0" y="17575"/>
                    <a:pt x="17575" y="0"/>
                    <a:pt x="39254" y="0"/>
                  </a:cubicBezTo>
                  <a:close/>
                </a:path>
              </a:pathLst>
            </a:custGeom>
            <a:solidFill>
              <a:srgbClr val="000000">
                <a:alpha val="0"/>
              </a:srgbClr>
            </a:solidFill>
            <a:ln w="19050" cap="sq">
              <a:solidFill>
                <a:srgbClr val="000000"/>
              </a:solidFill>
              <a:prstDash val="solid"/>
              <a:miter/>
            </a:ln>
          </p:spPr>
        </p:sp>
        <p:sp>
          <p:nvSpPr>
            <p:cNvPr name="TextBox 47" id="47"/>
            <p:cNvSpPr txBox="true"/>
            <p:nvPr/>
          </p:nvSpPr>
          <p:spPr>
            <a:xfrm>
              <a:off x="0" y="-9525"/>
              <a:ext cx="1038894" cy="1821768"/>
            </a:xfrm>
            <a:prstGeom prst="rect">
              <a:avLst/>
            </a:prstGeom>
          </p:spPr>
          <p:txBody>
            <a:bodyPr anchor="ctr" rtlCol="false" tIns="50800" lIns="50800" bIns="50800" rIns="50800"/>
            <a:lstStyle/>
            <a:p>
              <a:pPr algn="ctr">
                <a:lnSpc>
                  <a:spcPts val="1980"/>
                </a:lnSpc>
              </a:pPr>
            </a:p>
          </p:txBody>
        </p:sp>
      </p:grpSp>
      <p:sp>
        <p:nvSpPr>
          <p:cNvPr name="TextBox 48" id="48"/>
          <p:cNvSpPr txBox="true"/>
          <p:nvPr/>
        </p:nvSpPr>
        <p:spPr>
          <a:xfrm rot="0">
            <a:off x="5110196" y="2517772"/>
            <a:ext cx="3696872" cy="5724525"/>
          </a:xfrm>
          <a:prstGeom prst="rect">
            <a:avLst/>
          </a:prstGeom>
        </p:spPr>
        <p:txBody>
          <a:bodyPr anchor="t" rtlCol="false" tIns="0" lIns="0" bIns="0" rIns="0">
            <a:spAutoFit/>
          </a:bodyPr>
          <a:lstStyle/>
          <a:p>
            <a:pPr algn="l">
              <a:lnSpc>
                <a:spcPts val="4799"/>
              </a:lnSpc>
            </a:pPr>
            <a:r>
              <a:rPr lang="en-US" sz="3999" b="true">
                <a:solidFill>
                  <a:srgbClr val="000000"/>
                </a:solidFill>
                <a:latin typeface="Trebuchet MS Bold"/>
                <a:ea typeface="Trebuchet MS Bold"/>
                <a:cs typeface="Trebuchet MS Bold"/>
                <a:sym typeface="Trebuchet MS Bold"/>
              </a:rPr>
              <a:t>KEY METRICS EVALUATION:-</a:t>
            </a:r>
            <a:r>
              <a:rPr lang="en-US" sz="3999">
                <a:solidFill>
                  <a:srgbClr val="000000"/>
                </a:solidFill>
                <a:latin typeface="Trebuchet MS"/>
                <a:ea typeface="Trebuchet MS"/>
                <a:cs typeface="Trebuchet MS"/>
                <a:sym typeface="Trebuchet MS"/>
              </a:rPr>
              <a:t> </a:t>
            </a:r>
          </a:p>
          <a:p>
            <a:pPr algn="l">
              <a:lnSpc>
                <a:spcPts val="1199"/>
              </a:lnSpc>
            </a:pPr>
          </a:p>
          <a:p>
            <a:pPr algn="l" marL="690881" indent="-345440" lvl="1">
              <a:lnSpc>
                <a:spcPts val="3840"/>
              </a:lnSpc>
              <a:buFont typeface="Arial"/>
              <a:buChar char="•"/>
            </a:pPr>
            <a:r>
              <a:rPr lang="en-US" sz="3200">
                <a:solidFill>
                  <a:srgbClr val="000000"/>
                </a:solidFill>
                <a:latin typeface="Trebuchet MS"/>
                <a:ea typeface="Trebuchet MS"/>
                <a:cs typeface="Trebuchet MS"/>
                <a:sym typeface="Trebuchet MS"/>
              </a:rPr>
              <a:t>Accuracy score</a:t>
            </a:r>
          </a:p>
          <a:p>
            <a:pPr algn="l" marL="690881" indent="-345440" lvl="1">
              <a:lnSpc>
                <a:spcPts val="3840"/>
              </a:lnSpc>
              <a:buFont typeface="Arial"/>
              <a:buChar char="•"/>
            </a:pPr>
            <a:r>
              <a:rPr lang="en-US" sz="3200">
                <a:solidFill>
                  <a:srgbClr val="000000"/>
                </a:solidFill>
                <a:latin typeface="Trebuchet MS"/>
                <a:ea typeface="Trebuchet MS"/>
                <a:cs typeface="Trebuchet MS"/>
                <a:sym typeface="Trebuchet MS"/>
              </a:rPr>
              <a:t>Mean Absolute Error</a:t>
            </a:r>
          </a:p>
          <a:p>
            <a:pPr algn="l" marL="690881" indent="-345440" lvl="1">
              <a:lnSpc>
                <a:spcPts val="3840"/>
              </a:lnSpc>
              <a:buFont typeface="Arial"/>
              <a:buChar char="•"/>
            </a:pPr>
            <a:r>
              <a:rPr lang="en-US" sz="3200">
                <a:solidFill>
                  <a:srgbClr val="000000"/>
                </a:solidFill>
                <a:latin typeface="Trebuchet MS"/>
                <a:ea typeface="Trebuchet MS"/>
                <a:cs typeface="Trebuchet MS"/>
                <a:sym typeface="Trebuchet MS"/>
              </a:rPr>
              <a:t>Mean Squared Error</a:t>
            </a:r>
          </a:p>
          <a:p>
            <a:pPr algn="l" marL="690881" indent="-345440" lvl="1">
              <a:lnSpc>
                <a:spcPts val="3840"/>
              </a:lnSpc>
              <a:buFont typeface="Arial"/>
              <a:buChar char="•"/>
            </a:pPr>
            <a:r>
              <a:rPr lang="en-US" sz="3200">
                <a:solidFill>
                  <a:srgbClr val="000000"/>
                </a:solidFill>
                <a:latin typeface="Trebuchet MS"/>
                <a:ea typeface="Trebuchet MS"/>
                <a:cs typeface="Trebuchet MS"/>
                <a:sym typeface="Trebuchet MS"/>
              </a:rPr>
              <a:t>Classification Report</a:t>
            </a:r>
          </a:p>
          <a:p>
            <a:pPr algn="l" marL="690881" indent="-345440" lvl="1">
              <a:lnSpc>
                <a:spcPts val="3840"/>
              </a:lnSpc>
              <a:buFont typeface="Arial"/>
              <a:buChar char="•"/>
            </a:pPr>
            <a:r>
              <a:rPr lang="en-US" sz="3200">
                <a:solidFill>
                  <a:srgbClr val="000000"/>
                </a:solidFill>
                <a:latin typeface="Trebuchet MS"/>
                <a:ea typeface="Trebuchet MS"/>
                <a:cs typeface="Trebuchet MS"/>
                <a:sym typeface="Trebuchet MS"/>
              </a:rPr>
              <a:t>Confusion Matrix</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668254" y="1028700"/>
            <a:ext cx="16951493" cy="9082149"/>
          </a:xfrm>
          <a:custGeom>
            <a:avLst/>
            <a:gdLst/>
            <a:ahLst/>
            <a:cxnLst/>
            <a:rect r="r" b="b" t="t" l="l"/>
            <a:pathLst>
              <a:path h="9082149" w="16951493">
                <a:moveTo>
                  <a:pt x="0" y="0"/>
                </a:moveTo>
                <a:lnTo>
                  <a:pt x="16951492" y="0"/>
                </a:lnTo>
                <a:lnTo>
                  <a:pt x="16951492" y="9082149"/>
                </a:lnTo>
                <a:lnTo>
                  <a:pt x="0" y="9082149"/>
                </a:lnTo>
                <a:lnTo>
                  <a:pt x="0" y="0"/>
                </a:lnTo>
                <a:close/>
              </a:path>
            </a:pathLst>
          </a:custGeom>
          <a:blipFill>
            <a:blip r:embed="rId2"/>
            <a:stretch>
              <a:fillRect l="0" t="0" r="0" b="0"/>
            </a:stretch>
          </a:blipFill>
        </p:spPr>
      </p:sp>
      <p:sp>
        <p:nvSpPr>
          <p:cNvPr name="TextBox 30" id="30"/>
          <p:cNvSpPr txBox="true"/>
          <p:nvPr/>
        </p:nvSpPr>
        <p:spPr>
          <a:xfrm rot="0">
            <a:off x="288479" y="247650"/>
            <a:ext cx="2759512" cy="781050"/>
          </a:xfrm>
          <a:prstGeom prst="rect">
            <a:avLst/>
          </a:prstGeom>
        </p:spPr>
        <p:txBody>
          <a:bodyPr anchor="t" rtlCol="false" tIns="0" lIns="0" bIns="0" rIns="0">
            <a:spAutoFit/>
          </a:bodyPr>
          <a:lstStyle/>
          <a:p>
            <a:pPr algn="l">
              <a:lnSpc>
                <a:spcPts val="6000"/>
              </a:lnSpc>
            </a:pPr>
            <a:r>
              <a:rPr lang="en-US" sz="5000" b="true">
                <a:solidFill>
                  <a:srgbClr val="000000"/>
                </a:solidFill>
                <a:latin typeface="Trebuchet MS Bold"/>
                <a:ea typeface="Trebuchet MS Bold"/>
                <a:cs typeface="Trebuchet MS Bold"/>
                <a:sym typeface="Trebuchet MS Bold"/>
              </a:rPr>
              <a:t>RESULTS </a:t>
            </a:r>
          </a:p>
        </p:txBody>
      </p:sp>
      <p:sp>
        <p:nvSpPr>
          <p:cNvPr name="TextBox 31" id="31"/>
          <p:cNvSpPr txBox="true"/>
          <p:nvPr/>
        </p:nvSpPr>
        <p:spPr>
          <a:xfrm rot="0">
            <a:off x="5400923" y="404812"/>
            <a:ext cx="6651307" cy="485775"/>
          </a:xfrm>
          <a:prstGeom prst="rect">
            <a:avLst/>
          </a:prstGeom>
        </p:spPr>
        <p:txBody>
          <a:bodyPr anchor="t" rtlCol="false" tIns="0" lIns="0" bIns="0" rIns="0">
            <a:spAutoFit/>
          </a:bodyPr>
          <a:lstStyle/>
          <a:p>
            <a:pPr algn="l">
              <a:lnSpc>
                <a:spcPts val="3840"/>
              </a:lnSpc>
            </a:pPr>
            <a:r>
              <a:rPr lang="en-US" sz="3200" b="true">
                <a:solidFill>
                  <a:srgbClr val="000000"/>
                </a:solidFill>
                <a:latin typeface="Trebuchet MS Bold"/>
                <a:ea typeface="Trebuchet MS Bold"/>
                <a:cs typeface="Trebuchet MS Bold"/>
                <a:sym typeface="Trebuchet MS Bold"/>
              </a:rPr>
              <a:t>App link: </a:t>
            </a:r>
            <a:r>
              <a:rPr lang="en-US" b="true" sz="3200" u="sng">
                <a:solidFill>
                  <a:srgbClr val="0870CF"/>
                </a:solidFill>
                <a:latin typeface="Trebuchet MS Bold"/>
                <a:ea typeface="Trebuchet MS Bold"/>
                <a:cs typeface="Trebuchet MS Bold"/>
                <a:sym typeface="Trebuchet MS Bold"/>
                <a:hlinkClick r:id="rId3" tooltip="https://ainids-pdas.streamlit.app"/>
              </a:rPr>
              <a:t>ainids-pdas.streamlit.app</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79463" y="1614896"/>
            <a:ext cx="2797180" cy="4785419"/>
          </a:xfrm>
          <a:custGeom>
            <a:avLst/>
            <a:gdLst/>
            <a:ahLst/>
            <a:cxnLst/>
            <a:rect r="r" b="b" t="t" l="l"/>
            <a:pathLst>
              <a:path h="4785419" w="2797180">
                <a:moveTo>
                  <a:pt x="0" y="0"/>
                </a:moveTo>
                <a:lnTo>
                  <a:pt x="2797180" y="0"/>
                </a:lnTo>
                <a:lnTo>
                  <a:pt x="2797180" y="4785419"/>
                </a:lnTo>
                <a:lnTo>
                  <a:pt x="0" y="4785419"/>
                </a:lnTo>
                <a:lnTo>
                  <a:pt x="0" y="0"/>
                </a:lnTo>
                <a:close/>
              </a:path>
            </a:pathLst>
          </a:custGeom>
          <a:blipFill>
            <a:blip r:embed="rId2"/>
            <a:stretch>
              <a:fillRect l="0" t="0" r="0" b="0"/>
            </a:stretch>
          </a:blipFill>
        </p:spPr>
      </p:sp>
      <p:sp>
        <p:nvSpPr>
          <p:cNvPr name="Freeform 30" id="30"/>
          <p:cNvSpPr/>
          <p:nvPr/>
        </p:nvSpPr>
        <p:spPr>
          <a:xfrm flipH="false" flipV="false" rot="0">
            <a:off x="2876643" y="1614896"/>
            <a:ext cx="15284335" cy="8501149"/>
          </a:xfrm>
          <a:custGeom>
            <a:avLst/>
            <a:gdLst/>
            <a:ahLst/>
            <a:cxnLst/>
            <a:rect r="r" b="b" t="t" l="l"/>
            <a:pathLst>
              <a:path h="8501149" w="15284335">
                <a:moveTo>
                  <a:pt x="0" y="0"/>
                </a:moveTo>
                <a:lnTo>
                  <a:pt x="15284334" y="0"/>
                </a:lnTo>
                <a:lnTo>
                  <a:pt x="15284334" y="8501149"/>
                </a:lnTo>
                <a:lnTo>
                  <a:pt x="0" y="8501149"/>
                </a:lnTo>
                <a:lnTo>
                  <a:pt x="0" y="0"/>
                </a:lnTo>
                <a:close/>
              </a:path>
            </a:pathLst>
          </a:custGeom>
          <a:blipFill>
            <a:blip r:embed="rId3"/>
            <a:stretch>
              <a:fillRect l="0" t="0" r="0" b="0"/>
            </a:stretch>
          </a:blipFill>
        </p:spPr>
      </p:sp>
      <p:sp>
        <p:nvSpPr>
          <p:cNvPr name="TextBox 31" id="31"/>
          <p:cNvSpPr txBox="true"/>
          <p:nvPr/>
        </p:nvSpPr>
        <p:spPr>
          <a:xfrm rot="0">
            <a:off x="336552" y="304800"/>
            <a:ext cx="8317245" cy="895350"/>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Simulation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80%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100</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3172253" y="134926"/>
            <a:ext cx="14923284" cy="4322774"/>
          </a:xfrm>
          <a:custGeom>
            <a:avLst/>
            <a:gdLst/>
            <a:ahLst/>
            <a:cxnLst/>
            <a:rect r="r" b="b" t="t" l="l"/>
            <a:pathLst>
              <a:path h="4322774" w="14923284">
                <a:moveTo>
                  <a:pt x="0" y="0"/>
                </a:moveTo>
                <a:lnTo>
                  <a:pt x="14923284" y="0"/>
                </a:lnTo>
                <a:lnTo>
                  <a:pt x="14923284" y="4322774"/>
                </a:lnTo>
                <a:lnTo>
                  <a:pt x="0" y="4322774"/>
                </a:lnTo>
                <a:lnTo>
                  <a:pt x="0" y="0"/>
                </a:lnTo>
                <a:close/>
              </a:path>
            </a:pathLst>
          </a:custGeom>
          <a:blipFill>
            <a:blip r:embed="rId2"/>
            <a:stretch>
              <a:fillRect l="0" t="0" r="0" b="0"/>
            </a:stretch>
          </a:blipFill>
        </p:spPr>
      </p:sp>
      <p:sp>
        <p:nvSpPr>
          <p:cNvPr name="Freeform 30" id="30"/>
          <p:cNvSpPr/>
          <p:nvPr/>
        </p:nvSpPr>
        <p:spPr>
          <a:xfrm flipH="false" flipV="false" rot="0">
            <a:off x="4765863" y="4532052"/>
            <a:ext cx="12729807" cy="5623942"/>
          </a:xfrm>
          <a:custGeom>
            <a:avLst/>
            <a:gdLst/>
            <a:ahLst/>
            <a:cxnLst/>
            <a:rect r="r" b="b" t="t" l="l"/>
            <a:pathLst>
              <a:path h="5623942" w="12729807">
                <a:moveTo>
                  <a:pt x="0" y="0"/>
                </a:moveTo>
                <a:lnTo>
                  <a:pt x="12729807" y="0"/>
                </a:lnTo>
                <a:lnTo>
                  <a:pt x="12729807" y="5623942"/>
                </a:lnTo>
                <a:lnTo>
                  <a:pt x="0" y="5623942"/>
                </a:lnTo>
                <a:lnTo>
                  <a:pt x="0" y="0"/>
                </a:lnTo>
                <a:close/>
              </a:path>
            </a:pathLst>
          </a:custGeom>
          <a:blipFill>
            <a:blip r:embed="rId3"/>
            <a:stretch>
              <a:fillRect l="0" t="0" r="0" b="0"/>
            </a:stretch>
          </a:blipFill>
        </p:spPr>
      </p:sp>
      <p:sp>
        <p:nvSpPr>
          <p:cNvPr name="TextBox 31" id="31"/>
          <p:cNvSpPr txBox="true"/>
          <p:nvPr/>
        </p:nvSpPr>
        <p:spPr>
          <a:xfrm rot="0">
            <a:off x="201491" y="197158"/>
            <a:ext cx="2711439" cy="2352675"/>
          </a:xfrm>
          <a:prstGeom prst="rect">
            <a:avLst/>
          </a:prstGeom>
        </p:spPr>
        <p:txBody>
          <a:bodyPr anchor="t" rtlCol="false" tIns="0" lIns="0" bIns="0" rIns="0">
            <a:spAutoFit/>
          </a:bodyPr>
          <a:lstStyle/>
          <a:p>
            <a:pPr algn="l">
              <a:lnSpc>
                <a:spcPts val="3119"/>
              </a:lnSpc>
            </a:pPr>
            <a:r>
              <a:rPr lang="en-US" sz="2599" b="true">
                <a:solidFill>
                  <a:srgbClr val="000000"/>
                </a:solidFill>
                <a:latin typeface="Trebuchet MS Bold"/>
                <a:ea typeface="Trebuchet MS Bold"/>
                <a:cs typeface="Trebuchet MS Bold"/>
                <a:sym typeface="Trebuchet MS Bold"/>
              </a:rPr>
              <a:t>MODE:</a:t>
            </a:r>
            <a:r>
              <a:rPr lang="en-US" sz="2599">
                <a:solidFill>
                  <a:srgbClr val="000000"/>
                </a:solidFill>
                <a:latin typeface="Trebuchet MS"/>
                <a:ea typeface="Trebuchet MS"/>
                <a:cs typeface="Trebuchet MS"/>
                <a:sym typeface="Trebuchet MS"/>
              </a:rPr>
              <a:t> Simulation     </a:t>
            </a:r>
            <a:r>
              <a:rPr lang="en-US" sz="2599" b="true">
                <a:solidFill>
                  <a:srgbClr val="000000"/>
                </a:solidFill>
                <a:latin typeface="Trebuchet MS Bold"/>
                <a:ea typeface="Trebuchet MS Bold"/>
                <a:cs typeface="Trebuchet MS Bold"/>
                <a:sym typeface="Trebuchet MS Bold"/>
              </a:rPr>
              <a:t>TRAINING DATA SIZE:</a:t>
            </a:r>
            <a:r>
              <a:rPr lang="en-US" sz="2599">
                <a:solidFill>
                  <a:srgbClr val="000000"/>
                </a:solidFill>
                <a:latin typeface="Trebuchet MS"/>
                <a:ea typeface="Trebuchet MS"/>
                <a:cs typeface="Trebuchet MS"/>
                <a:sym typeface="Trebuchet MS"/>
              </a:rPr>
              <a:t> 80%     </a:t>
            </a:r>
            <a:r>
              <a:rPr lang="en-US" sz="2599" b="true">
                <a:solidFill>
                  <a:srgbClr val="000000"/>
                </a:solidFill>
                <a:latin typeface="Trebuchet MS Bold"/>
                <a:ea typeface="Trebuchet MS Bold"/>
                <a:cs typeface="Trebuchet MS Bold"/>
                <a:sym typeface="Trebuchet MS Bold"/>
              </a:rPr>
              <a:t>NUMBER OF TREES (RANDOM FOREST):</a:t>
            </a:r>
            <a:r>
              <a:rPr lang="en-US" sz="2599">
                <a:solidFill>
                  <a:srgbClr val="000000"/>
                </a:solidFill>
                <a:latin typeface="Trebuchet MS"/>
                <a:ea typeface="Trebuchet MS"/>
                <a:cs typeface="Trebuchet MS"/>
                <a:sym typeface="Trebuchet MS"/>
              </a:rPr>
              <a:t> 100</a:t>
            </a:r>
          </a:p>
        </p:txBody>
      </p:sp>
      <p:sp>
        <p:nvSpPr>
          <p:cNvPr name="Freeform 32" id="32"/>
          <p:cNvSpPr/>
          <p:nvPr/>
        </p:nvSpPr>
        <p:spPr>
          <a:xfrm flipH="false" flipV="false" rot="0">
            <a:off x="964198" y="4492103"/>
            <a:ext cx="3287314" cy="5623942"/>
          </a:xfrm>
          <a:custGeom>
            <a:avLst/>
            <a:gdLst/>
            <a:ahLst/>
            <a:cxnLst/>
            <a:rect r="r" b="b" t="t" l="l"/>
            <a:pathLst>
              <a:path h="5623942" w="3287314">
                <a:moveTo>
                  <a:pt x="0" y="0"/>
                </a:moveTo>
                <a:lnTo>
                  <a:pt x="3287315" y="0"/>
                </a:lnTo>
                <a:lnTo>
                  <a:pt x="3287315" y="5623942"/>
                </a:lnTo>
                <a:lnTo>
                  <a:pt x="0" y="5623942"/>
                </a:lnTo>
                <a:lnTo>
                  <a:pt x="0" y="0"/>
                </a:lnTo>
                <a:close/>
              </a:path>
            </a:pathLst>
          </a:custGeom>
          <a:blipFill>
            <a:blip r:embed="rId4"/>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1343362" y="268730"/>
            <a:ext cx="16772483" cy="5127971"/>
          </a:xfrm>
          <a:custGeom>
            <a:avLst/>
            <a:gdLst/>
            <a:ahLst/>
            <a:cxnLst/>
            <a:rect r="r" b="b" t="t" l="l"/>
            <a:pathLst>
              <a:path h="5127971" w="16772483">
                <a:moveTo>
                  <a:pt x="0" y="0"/>
                </a:moveTo>
                <a:lnTo>
                  <a:pt x="16772483" y="0"/>
                </a:lnTo>
                <a:lnTo>
                  <a:pt x="16772483" y="5127971"/>
                </a:lnTo>
                <a:lnTo>
                  <a:pt x="0" y="5127971"/>
                </a:lnTo>
                <a:lnTo>
                  <a:pt x="0" y="0"/>
                </a:lnTo>
                <a:close/>
              </a:path>
            </a:pathLst>
          </a:custGeom>
          <a:blipFill>
            <a:blip r:embed="rId2"/>
            <a:stretch>
              <a:fillRect l="0" t="0" r="0" b="0"/>
            </a:stretch>
          </a:blipFill>
        </p:spPr>
      </p:sp>
      <p:sp>
        <p:nvSpPr>
          <p:cNvPr name="Freeform 30" id="30"/>
          <p:cNvSpPr/>
          <p:nvPr/>
        </p:nvSpPr>
        <p:spPr>
          <a:xfrm flipH="false" flipV="false" rot="0">
            <a:off x="1343362" y="5514962"/>
            <a:ext cx="16772483" cy="4601084"/>
          </a:xfrm>
          <a:custGeom>
            <a:avLst/>
            <a:gdLst/>
            <a:ahLst/>
            <a:cxnLst/>
            <a:rect r="r" b="b" t="t" l="l"/>
            <a:pathLst>
              <a:path h="4601084" w="16772483">
                <a:moveTo>
                  <a:pt x="0" y="0"/>
                </a:moveTo>
                <a:lnTo>
                  <a:pt x="16772483" y="0"/>
                </a:lnTo>
                <a:lnTo>
                  <a:pt x="16772483" y="4601083"/>
                </a:lnTo>
                <a:lnTo>
                  <a:pt x="0" y="4601083"/>
                </a:lnTo>
                <a:lnTo>
                  <a:pt x="0" y="0"/>
                </a:lnTo>
                <a:close/>
              </a:path>
            </a:pathLst>
          </a:custGeom>
          <a:blipFill>
            <a:blip r:embed="rId3"/>
            <a:stretch>
              <a:fillRect l="0" t="0" r="0" b="0"/>
            </a:stretch>
          </a:blipFill>
        </p:spPr>
      </p:sp>
      <p:sp>
        <p:nvSpPr>
          <p:cNvPr name="TextBox 31" id="31"/>
          <p:cNvSpPr txBox="true"/>
          <p:nvPr/>
        </p:nvSpPr>
        <p:spPr>
          <a:xfrm rot="5400000">
            <a:off x="-3028072" y="4036302"/>
            <a:ext cx="7481721" cy="752475"/>
          </a:xfrm>
          <a:prstGeom prst="rect">
            <a:avLst/>
          </a:prstGeom>
        </p:spPr>
        <p:txBody>
          <a:bodyPr anchor="t" rtlCol="false" tIns="0" lIns="0" bIns="0" rIns="0">
            <a:spAutoFit/>
          </a:bodyPr>
          <a:lstStyle/>
          <a:p>
            <a:pPr algn="l">
              <a:lnSpc>
                <a:spcPts val="2999"/>
              </a:lnSpc>
            </a:pPr>
            <a:r>
              <a:rPr lang="en-US" sz="2499" b="true">
                <a:solidFill>
                  <a:srgbClr val="000000"/>
                </a:solidFill>
                <a:latin typeface="Trebuchet MS Bold"/>
                <a:ea typeface="Trebuchet MS Bold"/>
                <a:cs typeface="Trebuchet MS Bold"/>
                <a:sym typeface="Trebuchet MS Bold"/>
              </a:rPr>
              <a:t>MODE:</a:t>
            </a:r>
            <a:r>
              <a:rPr lang="en-US" sz="2499">
                <a:solidFill>
                  <a:srgbClr val="000000"/>
                </a:solidFill>
                <a:latin typeface="Trebuchet MS"/>
                <a:ea typeface="Trebuchet MS"/>
                <a:cs typeface="Trebuchet MS"/>
                <a:sym typeface="Trebuchet MS"/>
              </a:rPr>
              <a:t> Simulation     </a:t>
            </a:r>
            <a:r>
              <a:rPr lang="en-US" sz="2499" b="true">
                <a:solidFill>
                  <a:srgbClr val="000000"/>
                </a:solidFill>
                <a:latin typeface="Trebuchet MS Bold"/>
                <a:ea typeface="Trebuchet MS Bold"/>
                <a:cs typeface="Trebuchet MS Bold"/>
                <a:sym typeface="Trebuchet MS Bold"/>
              </a:rPr>
              <a:t>TRAINING DATA SIZE:</a:t>
            </a:r>
            <a:r>
              <a:rPr lang="en-US" sz="2499">
                <a:solidFill>
                  <a:srgbClr val="000000"/>
                </a:solidFill>
                <a:latin typeface="Trebuchet MS"/>
                <a:ea typeface="Trebuchet MS"/>
                <a:cs typeface="Trebuchet MS"/>
                <a:sym typeface="Trebuchet MS"/>
              </a:rPr>
              <a:t> 80%     </a:t>
            </a:r>
            <a:r>
              <a:rPr lang="en-US" sz="2499" b="true">
                <a:solidFill>
                  <a:srgbClr val="000000"/>
                </a:solidFill>
                <a:latin typeface="Trebuchet MS Bold"/>
                <a:ea typeface="Trebuchet MS Bold"/>
                <a:cs typeface="Trebuchet MS Bold"/>
                <a:sym typeface="Trebuchet MS Bold"/>
              </a:rPr>
              <a:t>NUMBER OF TREES (RANDOM FOREST):</a:t>
            </a:r>
            <a:r>
              <a:rPr lang="en-US" sz="2499">
                <a:solidFill>
                  <a:srgbClr val="000000"/>
                </a:solidFill>
                <a:latin typeface="Trebuchet MS"/>
                <a:ea typeface="Trebuchet MS"/>
                <a:cs typeface="Trebuchet MS"/>
                <a:sym typeface="Trebuchet MS"/>
              </a:rPr>
              <a:t> 100</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148217" y="1748616"/>
            <a:ext cx="2954148" cy="5223425"/>
          </a:xfrm>
          <a:custGeom>
            <a:avLst/>
            <a:gdLst/>
            <a:ahLst/>
            <a:cxnLst/>
            <a:rect r="r" b="b" t="t" l="l"/>
            <a:pathLst>
              <a:path h="5223425" w="2954148">
                <a:moveTo>
                  <a:pt x="0" y="0"/>
                </a:moveTo>
                <a:lnTo>
                  <a:pt x="2954148" y="0"/>
                </a:lnTo>
                <a:lnTo>
                  <a:pt x="2954148" y="5223425"/>
                </a:lnTo>
                <a:lnTo>
                  <a:pt x="0" y="5223425"/>
                </a:lnTo>
                <a:lnTo>
                  <a:pt x="0" y="0"/>
                </a:lnTo>
                <a:close/>
              </a:path>
            </a:pathLst>
          </a:custGeom>
          <a:blipFill>
            <a:blip r:embed="rId2"/>
            <a:stretch>
              <a:fillRect l="0" t="0" r="0" b="0"/>
            </a:stretch>
          </a:blipFill>
        </p:spPr>
      </p:sp>
      <p:sp>
        <p:nvSpPr>
          <p:cNvPr name="Freeform 30" id="30"/>
          <p:cNvSpPr/>
          <p:nvPr/>
        </p:nvSpPr>
        <p:spPr>
          <a:xfrm flipH="false" flipV="false" rot="0">
            <a:off x="3102365" y="1748616"/>
            <a:ext cx="15048230" cy="8367429"/>
          </a:xfrm>
          <a:custGeom>
            <a:avLst/>
            <a:gdLst/>
            <a:ahLst/>
            <a:cxnLst/>
            <a:rect r="r" b="b" t="t" l="l"/>
            <a:pathLst>
              <a:path h="8367429" w="15048230">
                <a:moveTo>
                  <a:pt x="0" y="0"/>
                </a:moveTo>
                <a:lnTo>
                  <a:pt x="15048231" y="0"/>
                </a:lnTo>
                <a:lnTo>
                  <a:pt x="15048231" y="8367429"/>
                </a:lnTo>
                <a:lnTo>
                  <a:pt x="0" y="8367429"/>
                </a:lnTo>
                <a:lnTo>
                  <a:pt x="0" y="0"/>
                </a:lnTo>
                <a:close/>
              </a:path>
            </a:pathLst>
          </a:custGeom>
          <a:blipFill>
            <a:blip r:embed="rId3"/>
            <a:stretch>
              <a:fillRect l="0" t="0" r="0" b="0"/>
            </a:stretch>
          </a:blipFill>
        </p:spPr>
      </p:sp>
      <p:sp>
        <p:nvSpPr>
          <p:cNvPr name="TextBox 31" id="31"/>
          <p:cNvSpPr txBox="true"/>
          <p:nvPr/>
        </p:nvSpPr>
        <p:spPr>
          <a:xfrm rot="0">
            <a:off x="336552" y="385573"/>
            <a:ext cx="8317245" cy="895350"/>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Simulation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90%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200</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2995871" y="170180"/>
            <a:ext cx="15048066" cy="4241819"/>
          </a:xfrm>
          <a:custGeom>
            <a:avLst/>
            <a:gdLst/>
            <a:ahLst/>
            <a:cxnLst/>
            <a:rect r="r" b="b" t="t" l="l"/>
            <a:pathLst>
              <a:path h="4241819" w="15048066">
                <a:moveTo>
                  <a:pt x="0" y="0"/>
                </a:moveTo>
                <a:lnTo>
                  <a:pt x="15048066" y="0"/>
                </a:lnTo>
                <a:lnTo>
                  <a:pt x="15048066" y="4241819"/>
                </a:lnTo>
                <a:lnTo>
                  <a:pt x="0" y="4241819"/>
                </a:lnTo>
                <a:lnTo>
                  <a:pt x="0" y="0"/>
                </a:lnTo>
                <a:close/>
              </a:path>
            </a:pathLst>
          </a:custGeom>
          <a:blipFill>
            <a:blip r:embed="rId2"/>
            <a:stretch>
              <a:fillRect l="0" t="0" r="0" b="0"/>
            </a:stretch>
          </a:blipFill>
        </p:spPr>
      </p:sp>
      <p:sp>
        <p:nvSpPr>
          <p:cNvPr name="Freeform 30" id="30"/>
          <p:cNvSpPr/>
          <p:nvPr/>
        </p:nvSpPr>
        <p:spPr>
          <a:xfrm flipH="false" flipV="false" rot="0">
            <a:off x="4775081" y="4526299"/>
            <a:ext cx="12711370" cy="5693731"/>
          </a:xfrm>
          <a:custGeom>
            <a:avLst/>
            <a:gdLst/>
            <a:ahLst/>
            <a:cxnLst/>
            <a:rect r="r" b="b" t="t" l="l"/>
            <a:pathLst>
              <a:path h="5693731" w="12711370">
                <a:moveTo>
                  <a:pt x="0" y="0"/>
                </a:moveTo>
                <a:lnTo>
                  <a:pt x="12711370" y="0"/>
                </a:lnTo>
                <a:lnTo>
                  <a:pt x="12711370" y="5693731"/>
                </a:lnTo>
                <a:lnTo>
                  <a:pt x="0" y="5693731"/>
                </a:lnTo>
                <a:lnTo>
                  <a:pt x="0" y="0"/>
                </a:lnTo>
                <a:close/>
              </a:path>
            </a:pathLst>
          </a:custGeom>
          <a:blipFill>
            <a:blip r:embed="rId3"/>
            <a:stretch>
              <a:fillRect l="0" t="0" r="0" b="0"/>
            </a:stretch>
          </a:blipFill>
        </p:spPr>
      </p:sp>
      <p:sp>
        <p:nvSpPr>
          <p:cNvPr name="Freeform 31" id="31"/>
          <p:cNvSpPr/>
          <p:nvPr/>
        </p:nvSpPr>
        <p:spPr>
          <a:xfrm flipH="false" flipV="false" rot="0">
            <a:off x="855134" y="4526299"/>
            <a:ext cx="3220133" cy="5693731"/>
          </a:xfrm>
          <a:custGeom>
            <a:avLst/>
            <a:gdLst/>
            <a:ahLst/>
            <a:cxnLst/>
            <a:rect r="r" b="b" t="t" l="l"/>
            <a:pathLst>
              <a:path h="5693731" w="3220133">
                <a:moveTo>
                  <a:pt x="0" y="0"/>
                </a:moveTo>
                <a:lnTo>
                  <a:pt x="3220134" y="0"/>
                </a:lnTo>
                <a:lnTo>
                  <a:pt x="3220134" y="5693731"/>
                </a:lnTo>
                <a:lnTo>
                  <a:pt x="0" y="5693731"/>
                </a:lnTo>
                <a:lnTo>
                  <a:pt x="0" y="0"/>
                </a:lnTo>
                <a:close/>
              </a:path>
            </a:pathLst>
          </a:custGeom>
          <a:blipFill>
            <a:blip r:embed="rId4"/>
            <a:stretch>
              <a:fillRect l="0" t="0" r="0" b="0"/>
            </a:stretch>
          </a:blipFill>
        </p:spPr>
      </p:sp>
      <p:sp>
        <p:nvSpPr>
          <p:cNvPr name="TextBox 32" id="32"/>
          <p:cNvSpPr txBox="true"/>
          <p:nvPr/>
        </p:nvSpPr>
        <p:spPr>
          <a:xfrm rot="0">
            <a:off x="79257" y="170180"/>
            <a:ext cx="2838146" cy="3581400"/>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Simulation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90%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200</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1331621" y="238795"/>
            <a:ext cx="16780545" cy="4587664"/>
          </a:xfrm>
          <a:custGeom>
            <a:avLst/>
            <a:gdLst/>
            <a:ahLst/>
            <a:cxnLst/>
            <a:rect r="r" b="b" t="t" l="l"/>
            <a:pathLst>
              <a:path h="4587664" w="16780545">
                <a:moveTo>
                  <a:pt x="0" y="0"/>
                </a:moveTo>
                <a:lnTo>
                  <a:pt x="16780546" y="0"/>
                </a:lnTo>
                <a:lnTo>
                  <a:pt x="16780546" y="4587664"/>
                </a:lnTo>
                <a:lnTo>
                  <a:pt x="0" y="4587664"/>
                </a:lnTo>
                <a:lnTo>
                  <a:pt x="0" y="0"/>
                </a:lnTo>
                <a:close/>
              </a:path>
            </a:pathLst>
          </a:custGeom>
          <a:blipFill>
            <a:blip r:embed="rId2"/>
            <a:stretch>
              <a:fillRect l="0" t="0" r="0" b="0"/>
            </a:stretch>
          </a:blipFill>
        </p:spPr>
      </p:sp>
      <p:sp>
        <p:nvSpPr>
          <p:cNvPr name="Freeform 30" id="30"/>
          <p:cNvSpPr/>
          <p:nvPr/>
        </p:nvSpPr>
        <p:spPr>
          <a:xfrm flipH="false" flipV="false" rot="0">
            <a:off x="1331621" y="4938678"/>
            <a:ext cx="16780545" cy="5177367"/>
          </a:xfrm>
          <a:custGeom>
            <a:avLst/>
            <a:gdLst/>
            <a:ahLst/>
            <a:cxnLst/>
            <a:rect r="r" b="b" t="t" l="l"/>
            <a:pathLst>
              <a:path h="5177367" w="16780545">
                <a:moveTo>
                  <a:pt x="0" y="0"/>
                </a:moveTo>
                <a:lnTo>
                  <a:pt x="16780546" y="0"/>
                </a:lnTo>
                <a:lnTo>
                  <a:pt x="16780546" y="5177367"/>
                </a:lnTo>
                <a:lnTo>
                  <a:pt x="0" y="5177367"/>
                </a:lnTo>
                <a:lnTo>
                  <a:pt x="0" y="0"/>
                </a:lnTo>
                <a:close/>
              </a:path>
            </a:pathLst>
          </a:custGeom>
          <a:blipFill>
            <a:blip r:embed="rId3"/>
            <a:stretch>
              <a:fillRect l="0" t="0" r="0" b="0"/>
            </a:stretch>
          </a:blipFill>
        </p:spPr>
      </p:sp>
      <p:sp>
        <p:nvSpPr>
          <p:cNvPr name="TextBox 31" id="31"/>
          <p:cNvSpPr txBox="true"/>
          <p:nvPr/>
        </p:nvSpPr>
        <p:spPr>
          <a:xfrm rot="5400000">
            <a:off x="-3644505" y="4124325"/>
            <a:ext cx="8635216" cy="895350"/>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Simulation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90%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200</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3330692" y="1581021"/>
            <a:ext cx="14820580" cy="8261181"/>
          </a:xfrm>
          <a:custGeom>
            <a:avLst/>
            <a:gdLst/>
            <a:ahLst/>
            <a:cxnLst/>
            <a:rect r="r" b="b" t="t" l="l"/>
            <a:pathLst>
              <a:path h="8261181" w="14820580">
                <a:moveTo>
                  <a:pt x="0" y="0"/>
                </a:moveTo>
                <a:lnTo>
                  <a:pt x="14820580" y="0"/>
                </a:lnTo>
                <a:lnTo>
                  <a:pt x="14820580" y="8261181"/>
                </a:lnTo>
                <a:lnTo>
                  <a:pt x="0" y="8261181"/>
                </a:lnTo>
                <a:lnTo>
                  <a:pt x="0" y="0"/>
                </a:lnTo>
                <a:close/>
              </a:path>
            </a:pathLst>
          </a:custGeom>
          <a:blipFill>
            <a:blip r:embed="rId2"/>
            <a:stretch>
              <a:fillRect l="0" t="0" r="0" b="0"/>
            </a:stretch>
          </a:blipFill>
        </p:spPr>
      </p:sp>
      <p:sp>
        <p:nvSpPr>
          <p:cNvPr name="Freeform 30" id="30"/>
          <p:cNvSpPr/>
          <p:nvPr/>
        </p:nvSpPr>
        <p:spPr>
          <a:xfrm flipH="false" flipV="false" rot="0">
            <a:off x="129635" y="1581021"/>
            <a:ext cx="3201057" cy="5540290"/>
          </a:xfrm>
          <a:custGeom>
            <a:avLst/>
            <a:gdLst/>
            <a:ahLst/>
            <a:cxnLst/>
            <a:rect r="r" b="b" t="t" l="l"/>
            <a:pathLst>
              <a:path h="5540290" w="3201057">
                <a:moveTo>
                  <a:pt x="0" y="0"/>
                </a:moveTo>
                <a:lnTo>
                  <a:pt x="3201057" y="0"/>
                </a:lnTo>
                <a:lnTo>
                  <a:pt x="3201057" y="5540290"/>
                </a:lnTo>
                <a:lnTo>
                  <a:pt x="0" y="5540290"/>
                </a:lnTo>
                <a:lnTo>
                  <a:pt x="0" y="0"/>
                </a:lnTo>
                <a:close/>
              </a:path>
            </a:pathLst>
          </a:custGeom>
          <a:blipFill>
            <a:blip r:embed="rId3"/>
            <a:stretch>
              <a:fillRect l="0" t="0" r="0" b="0"/>
            </a:stretch>
          </a:blipFill>
        </p:spPr>
      </p:sp>
      <p:sp>
        <p:nvSpPr>
          <p:cNvPr name="TextBox 31" id="31"/>
          <p:cNvSpPr txBox="true"/>
          <p:nvPr/>
        </p:nvSpPr>
        <p:spPr>
          <a:xfrm rot="0">
            <a:off x="129635" y="383413"/>
            <a:ext cx="8644210" cy="895350"/>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Real-time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80%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100</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2729831" y="156999"/>
            <a:ext cx="15314535" cy="4415001"/>
          </a:xfrm>
          <a:custGeom>
            <a:avLst/>
            <a:gdLst/>
            <a:ahLst/>
            <a:cxnLst/>
            <a:rect r="r" b="b" t="t" l="l"/>
            <a:pathLst>
              <a:path h="4415001" w="15314535">
                <a:moveTo>
                  <a:pt x="0" y="0"/>
                </a:moveTo>
                <a:lnTo>
                  <a:pt x="15314536" y="0"/>
                </a:lnTo>
                <a:lnTo>
                  <a:pt x="15314536" y="4415001"/>
                </a:lnTo>
                <a:lnTo>
                  <a:pt x="0" y="4415001"/>
                </a:lnTo>
                <a:lnTo>
                  <a:pt x="0" y="0"/>
                </a:lnTo>
                <a:close/>
              </a:path>
            </a:pathLst>
          </a:custGeom>
          <a:blipFill>
            <a:blip r:embed="rId2"/>
            <a:stretch>
              <a:fillRect l="0" t="0" r="0" b="0"/>
            </a:stretch>
          </a:blipFill>
        </p:spPr>
      </p:sp>
      <p:sp>
        <p:nvSpPr>
          <p:cNvPr name="Freeform 30" id="30"/>
          <p:cNvSpPr/>
          <p:nvPr/>
        </p:nvSpPr>
        <p:spPr>
          <a:xfrm flipH="false" flipV="false" rot="0">
            <a:off x="4707901" y="4661232"/>
            <a:ext cx="12845731" cy="5544045"/>
          </a:xfrm>
          <a:custGeom>
            <a:avLst/>
            <a:gdLst/>
            <a:ahLst/>
            <a:cxnLst/>
            <a:rect r="r" b="b" t="t" l="l"/>
            <a:pathLst>
              <a:path h="5544045" w="12845731">
                <a:moveTo>
                  <a:pt x="0" y="0"/>
                </a:moveTo>
                <a:lnTo>
                  <a:pt x="12845730" y="0"/>
                </a:lnTo>
                <a:lnTo>
                  <a:pt x="12845730" y="5544046"/>
                </a:lnTo>
                <a:lnTo>
                  <a:pt x="0" y="5544046"/>
                </a:lnTo>
                <a:lnTo>
                  <a:pt x="0" y="0"/>
                </a:lnTo>
                <a:close/>
              </a:path>
            </a:pathLst>
          </a:custGeom>
          <a:blipFill>
            <a:blip r:embed="rId3"/>
            <a:stretch>
              <a:fillRect l="0" t="0" r="0" b="0"/>
            </a:stretch>
          </a:blipFill>
        </p:spPr>
      </p:sp>
      <p:sp>
        <p:nvSpPr>
          <p:cNvPr name="Freeform 31" id="31"/>
          <p:cNvSpPr/>
          <p:nvPr/>
        </p:nvSpPr>
        <p:spPr>
          <a:xfrm flipH="false" flipV="false" rot="0">
            <a:off x="740280" y="4661232"/>
            <a:ext cx="3201057" cy="5540290"/>
          </a:xfrm>
          <a:custGeom>
            <a:avLst/>
            <a:gdLst/>
            <a:ahLst/>
            <a:cxnLst/>
            <a:rect r="r" b="b" t="t" l="l"/>
            <a:pathLst>
              <a:path h="5540290" w="3201057">
                <a:moveTo>
                  <a:pt x="0" y="0"/>
                </a:moveTo>
                <a:lnTo>
                  <a:pt x="3201056" y="0"/>
                </a:lnTo>
                <a:lnTo>
                  <a:pt x="3201056" y="5540291"/>
                </a:lnTo>
                <a:lnTo>
                  <a:pt x="0" y="5540291"/>
                </a:lnTo>
                <a:lnTo>
                  <a:pt x="0" y="0"/>
                </a:lnTo>
                <a:close/>
              </a:path>
            </a:pathLst>
          </a:custGeom>
          <a:blipFill>
            <a:blip r:embed="rId4"/>
            <a:stretch>
              <a:fillRect l="0" t="0" r="0" b="0"/>
            </a:stretch>
          </a:blipFill>
        </p:spPr>
      </p:sp>
      <p:sp>
        <p:nvSpPr>
          <p:cNvPr name="TextBox 32" id="32"/>
          <p:cNvSpPr txBox="true"/>
          <p:nvPr/>
        </p:nvSpPr>
        <p:spPr>
          <a:xfrm rot="0">
            <a:off x="164662" y="156999"/>
            <a:ext cx="2387064" cy="4029075"/>
          </a:xfrm>
          <a:prstGeom prst="rect">
            <a:avLst/>
          </a:prstGeom>
        </p:spPr>
        <p:txBody>
          <a:bodyPr anchor="t" rtlCol="false" tIns="0" lIns="0" bIns="0" rIns="0">
            <a:spAutoFit/>
          </a:bodyPr>
          <a:lstStyle/>
          <a:p>
            <a:pPr algn="l">
              <a:lnSpc>
                <a:spcPts val="3599"/>
              </a:lnSpc>
            </a:pPr>
            <a:r>
              <a:rPr lang="en-US" sz="2999" b="true">
                <a:solidFill>
                  <a:srgbClr val="000000"/>
                </a:solidFill>
                <a:latin typeface="Trebuchet MS Bold"/>
                <a:ea typeface="Trebuchet MS Bold"/>
                <a:cs typeface="Trebuchet MS Bold"/>
                <a:sym typeface="Trebuchet MS Bold"/>
              </a:rPr>
              <a:t>MODE:</a:t>
            </a:r>
            <a:r>
              <a:rPr lang="en-US" sz="2999">
                <a:solidFill>
                  <a:srgbClr val="000000"/>
                </a:solidFill>
                <a:latin typeface="Trebuchet MS"/>
                <a:ea typeface="Trebuchet MS"/>
                <a:cs typeface="Trebuchet MS"/>
                <a:sym typeface="Trebuchet MS"/>
              </a:rPr>
              <a:t> Real-time     </a:t>
            </a:r>
            <a:r>
              <a:rPr lang="en-US" sz="2999" b="true">
                <a:solidFill>
                  <a:srgbClr val="000000"/>
                </a:solidFill>
                <a:latin typeface="Trebuchet MS Bold"/>
                <a:ea typeface="Trebuchet MS Bold"/>
                <a:cs typeface="Trebuchet MS Bold"/>
                <a:sym typeface="Trebuchet MS Bold"/>
              </a:rPr>
              <a:t>TRAINING DATA SIZE:</a:t>
            </a:r>
            <a:r>
              <a:rPr lang="en-US" sz="2999">
                <a:solidFill>
                  <a:srgbClr val="000000"/>
                </a:solidFill>
                <a:latin typeface="Trebuchet MS"/>
                <a:ea typeface="Trebuchet MS"/>
                <a:cs typeface="Trebuchet MS"/>
                <a:sym typeface="Trebuchet MS"/>
              </a:rPr>
              <a:t> 80%     </a:t>
            </a:r>
            <a:r>
              <a:rPr lang="en-US" sz="2999" b="true">
                <a:solidFill>
                  <a:srgbClr val="000000"/>
                </a:solidFill>
                <a:latin typeface="Trebuchet MS Bold"/>
                <a:ea typeface="Trebuchet MS Bold"/>
                <a:cs typeface="Trebuchet MS Bold"/>
                <a:sym typeface="Trebuchet MS Bold"/>
              </a:rPr>
              <a:t>NUMBER OF TREES (RANDOM FOREST):</a:t>
            </a:r>
            <a:r>
              <a:rPr lang="en-US" sz="2999">
                <a:solidFill>
                  <a:srgbClr val="000000"/>
                </a:solidFill>
                <a:latin typeface="Trebuchet MS"/>
                <a:ea typeface="Trebuchet MS"/>
                <a:cs typeface="Trebuchet MS"/>
                <a:sym typeface="Trebuchet MS"/>
              </a:rPr>
              <a:t> 100</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4031687" y="8045977"/>
            <a:ext cx="685800" cy="685800"/>
            <a:chOff x="0" y="0"/>
            <a:chExt cx="914400" cy="914400"/>
          </a:xfrm>
        </p:grpSpPr>
        <p:sp>
          <p:nvSpPr>
            <p:cNvPr name="Freeform 24" id="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a:ln w="12700">
              <a:solidFill>
                <a:srgbClr val="000000"/>
              </a:solidFill>
            </a:ln>
          </p:spPr>
        </p:sp>
      </p:grpSp>
      <p:grpSp>
        <p:nvGrpSpPr>
          <p:cNvPr name="Group 25" id="25"/>
          <p:cNvGrpSpPr/>
          <p:nvPr/>
        </p:nvGrpSpPr>
        <p:grpSpPr>
          <a:xfrm rot="0">
            <a:off x="10039188" y="2549833"/>
            <a:ext cx="479622" cy="479622"/>
            <a:chOff x="0" y="0"/>
            <a:chExt cx="639496" cy="639496"/>
          </a:xfrm>
        </p:grpSpPr>
        <p:sp>
          <p:nvSpPr>
            <p:cNvPr name="Freeform 26" id="26"/>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a:ln w="12700">
              <a:solidFill>
                <a:srgbClr val="000000"/>
              </a:solidFill>
            </a:ln>
          </p:spPr>
        </p:sp>
      </p:grpSp>
      <p:grpSp>
        <p:nvGrpSpPr>
          <p:cNvPr name="Group 27" id="27"/>
          <p:cNvGrpSpPr/>
          <p:nvPr/>
        </p:nvGrpSpPr>
        <p:grpSpPr>
          <a:xfrm rot="0">
            <a:off x="14031687" y="8846610"/>
            <a:ext cx="269967" cy="269967"/>
            <a:chOff x="0" y="0"/>
            <a:chExt cx="359956" cy="359956"/>
          </a:xfrm>
        </p:grpSpPr>
        <p:sp>
          <p:nvSpPr>
            <p:cNvPr name="Freeform 28" id="28"/>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a:ln w="12700">
              <a:solidFill>
                <a:srgbClr val="000000"/>
              </a:solidFill>
            </a:ln>
          </p:spPr>
        </p:sp>
      </p:grpSp>
      <p:sp>
        <p:nvSpPr>
          <p:cNvPr name="Freeform 29" id="29"/>
          <p:cNvSpPr/>
          <p:nvPr/>
        </p:nvSpPr>
        <p:spPr>
          <a:xfrm flipH="false" flipV="false" rot="0">
            <a:off x="272265" y="418360"/>
            <a:ext cx="17743470" cy="4852136"/>
          </a:xfrm>
          <a:custGeom>
            <a:avLst/>
            <a:gdLst/>
            <a:ahLst/>
            <a:cxnLst/>
            <a:rect r="r" b="b" t="t" l="l"/>
            <a:pathLst>
              <a:path h="4852136" w="17743470">
                <a:moveTo>
                  <a:pt x="0" y="0"/>
                </a:moveTo>
                <a:lnTo>
                  <a:pt x="17743470" y="0"/>
                </a:lnTo>
                <a:lnTo>
                  <a:pt x="17743470" y="4852137"/>
                </a:lnTo>
                <a:lnTo>
                  <a:pt x="0" y="4852137"/>
                </a:lnTo>
                <a:lnTo>
                  <a:pt x="0" y="0"/>
                </a:lnTo>
                <a:close/>
              </a:path>
            </a:pathLst>
          </a:custGeom>
          <a:blipFill>
            <a:blip r:embed="rId2"/>
            <a:stretch>
              <a:fillRect l="0" t="0" r="0" b="0"/>
            </a:stretch>
          </a:blipFill>
        </p:spPr>
      </p:sp>
      <p:sp>
        <p:nvSpPr>
          <p:cNvPr name="Freeform 30" id="30"/>
          <p:cNvSpPr/>
          <p:nvPr/>
        </p:nvSpPr>
        <p:spPr>
          <a:xfrm flipH="false" flipV="false" rot="0">
            <a:off x="287658" y="5384797"/>
            <a:ext cx="17728077" cy="4836115"/>
          </a:xfrm>
          <a:custGeom>
            <a:avLst/>
            <a:gdLst/>
            <a:ahLst/>
            <a:cxnLst/>
            <a:rect r="r" b="b" t="t" l="l"/>
            <a:pathLst>
              <a:path h="4836115" w="17728077">
                <a:moveTo>
                  <a:pt x="0" y="0"/>
                </a:moveTo>
                <a:lnTo>
                  <a:pt x="17728077" y="0"/>
                </a:lnTo>
                <a:lnTo>
                  <a:pt x="17728077" y="4836115"/>
                </a:lnTo>
                <a:lnTo>
                  <a:pt x="0" y="4836115"/>
                </a:lnTo>
                <a:lnTo>
                  <a:pt x="0" y="0"/>
                </a:lnTo>
                <a:close/>
              </a:path>
            </a:pathLst>
          </a:custGeom>
          <a:blipFill>
            <a:blip r:embed="rId3"/>
            <a:stretch>
              <a:fillRect l="0" t="0" r="0" b="0"/>
            </a:stretch>
          </a:blipFill>
        </p:spPr>
      </p:sp>
      <p:sp>
        <p:nvSpPr>
          <p:cNvPr name="TextBox 31" id="31"/>
          <p:cNvSpPr txBox="true"/>
          <p:nvPr/>
        </p:nvSpPr>
        <p:spPr>
          <a:xfrm rot="0">
            <a:off x="272265" y="18310"/>
            <a:ext cx="14293054" cy="400050"/>
          </a:xfrm>
          <a:prstGeom prst="rect">
            <a:avLst/>
          </a:prstGeom>
        </p:spPr>
        <p:txBody>
          <a:bodyPr anchor="t" rtlCol="false" tIns="0" lIns="0" bIns="0" rIns="0">
            <a:spAutoFit/>
          </a:bodyPr>
          <a:lstStyle/>
          <a:p>
            <a:pPr algn="l">
              <a:lnSpc>
                <a:spcPts val="3119"/>
              </a:lnSpc>
            </a:pPr>
            <a:r>
              <a:rPr lang="en-US" sz="2599" b="true">
                <a:solidFill>
                  <a:srgbClr val="000000"/>
                </a:solidFill>
                <a:latin typeface="Trebuchet MS Bold"/>
                <a:ea typeface="Trebuchet MS Bold"/>
                <a:cs typeface="Trebuchet MS Bold"/>
                <a:sym typeface="Trebuchet MS Bold"/>
              </a:rPr>
              <a:t>MODE:</a:t>
            </a:r>
            <a:r>
              <a:rPr lang="en-US" sz="2599">
                <a:solidFill>
                  <a:srgbClr val="000000"/>
                </a:solidFill>
                <a:latin typeface="Trebuchet MS"/>
                <a:ea typeface="Trebuchet MS"/>
                <a:cs typeface="Trebuchet MS"/>
                <a:sym typeface="Trebuchet MS"/>
              </a:rPr>
              <a:t> Real-time     </a:t>
            </a:r>
            <a:r>
              <a:rPr lang="en-US" sz="2599" b="true">
                <a:solidFill>
                  <a:srgbClr val="000000"/>
                </a:solidFill>
                <a:latin typeface="Trebuchet MS Bold"/>
                <a:ea typeface="Trebuchet MS Bold"/>
                <a:cs typeface="Trebuchet MS Bold"/>
                <a:sym typeface="Trebuchet MS Bold"/>
              </a:rPr>
              <a:t>TRAINING DATA SIZE:</a:t>
            </a:r>
            <a:r>
              <a:rPr lang="en-US" sz="2599">
                <a:solidFill>
                  <a:srgbClr val="000000"/>
                </a:solidFill>
                <a:latin typeface="Trebuchet MS"/>
                <a:ea typeface="Trebuchet MS"/>
                <a:cs typeface="Trebuchet MS"/>
                <a:sym typeface="Trebuchet MS"/>
              </a:rPr>
              <a:t> 80%     </a:t>
            </a:r>
            <a:r>
              <a:rPr lang="en-US" sz="2599" b="true">
                <a:solidFill>
                  <a:srgbClr val="000000"/>
                </a:solidFill>
                <a:latin typeface="Trebuchet MS Bold"/>
                <a:ea typeface="Trebuchet MS Bold"/>
                <a:cs typeface="Trebuchet MS Bold"/>
                <a:sym typeface="Trebuchet MS Bold"/>
              </a:rPr>
              <a:t>NUMBER OF TREES (RANDOM FOREST):</a:t>
            </a:r>
            <a:r>
              <a:rPr lang="en-US" sz="2599">
                <a:solidFill>
                  <a:srgbClr val="000000"/>
                </a:solidFill>
                <a:latin typeface="Trebuchet MS"/>
                <a:ea typeface="Trebuchet MS"/>
                <a:cs typeface="Trebuchet MS"/>
                <a:sym typeface="Trebuchet MS"/>
              </a:rPr>
              <a:t> 100</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sp>
        <p:nvSpPr>
          <p:cNvPr name="Freeform 23" id="23"/>
          <p:cNvSpPr/>
          <p:nvPr/>
        </p:nvSpPr>
        <p:spPr>
          <a:xfrm flipH="false" flipV="false" rot="0">
            <a:off x="1028700" y="1312320"/>
            <a:ext cx="12452228" cy="8803725"/>
          </a:xfrm>
          <a:custGeom>
            <a:avLst/>
            <a:gdLst/>
            <a:ahLst/>
            <a:cxnLst/>
            <a:rect r="r" b="b" t="t" l="l"/>
            <a:pathLst>
              <a:path h="8803725" w="12452228">
                <a:moveTo>
                  <a:pt x="0" y="0"/>
                </a:moveTo>
                <a:lnTo>
                  <a:pt x="12452228" y="0"/>
                </a:lnTo>
                <a:lnTo>
                  <a:pt x="12452228" y="8803725"/>
                </a:lnTo>
                <a:lnTo>
                  <a:pt x="0" y="8803725"/>
                </a:lnTo>
                <a:lnTo>
                  <a:pt x="0" y="0"/>
                </a:lnTo>
                <a:close/>
              </a:path>
            </a:pathLst>
          </a:custGeom>
          <a:blipFill>
            <a:blip r:embed="rId2"/>
            <a:stretch>
              <a:fillRect l="0" t="0" r="0" b="0"/>
            </a:stretch>
          </a:blipFill>
        </p:spPr>
      </p:sp>
      <p:sp>
        <p:nvSpPr>
          <p:cNvPr name="TextBox 24" id="24"/>
          <p:cNvSpPr txBox="true"/>
          <p:nvPr/>
        </p:nvSpPr>
        <p:spPr>
          <a:xfrm rot="0">
            <a:off x="336552" y="323850"/>
            <a:ext cx="12823984" cy="704850"/>
          </a:xfrm>
          <a:prstGeom prst="rect">
            <a:avLst/>
          </a:prstGeom>
        </p:spPr>
        <p:txBody>
          <a:bodyPr anchor="t" rtlCol="false" tIns="0" lIns="0" bIns="0" rIns="0">
            <a:spAutoFit/>
          </a:bodyPr>
          <a:lstStyle/>
          <a:p>
            <a:pPr algn="l">
              <a:lnSpc>
                <a:spcPts val="5508"/>
              </a:lnSpc>
            </a:pPr>
            <a:r>
              <a:rPr lang="en-US" sz="4590" b="true">
                <a:solidFill>
                  <a:srgbClr val="000000"/>
                </a:solidFill>
                <a:latin typeface="Trebuchet MS Bold"/>
                <a:ea typeface="Trebuchet MS Bold"/>
                <a:cs typeface="Trebuchet MS Bold"/>
                <a:sym typeface="Trebuchet MS Bold"/>
              </a:rPr>
              <a:t>Certificate - Introduction to System Security</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sp>
        <p:nvSpPr>
          <p:cNvPr name="Freeform 23" id="23"/>
          <p:cNvSpPr/>
          <p:nvPr/>
        </p:nvSpPr>
        <p:spPr>
          <a:xfrm flipH="false" flipV="false" rot="0">
            <a:off x="1028700" y="1312545"/>
            <a:ext cx="12452032" cy="8803957"/>
          </a:xfrm>
          <a:custGeom>
            <a:avLst/>
            <a:gdLst/>
            <a:ahLst/>
            <a:cxnLst/>
            <a:rect r="r" b="b" t="t" l="l"/>
            <a:pathLst>
              <a:path h="8803957" w="12452032">
                <a:moveTo>
                  <a:pt x="0" y="0"/>
                </a:moveTo>
                <a:lnTo>
                  <a:pt x="12452032" y="0"/>
                </a:lnTo>
                <a:lnTo>
                  <a:pt x="12452032" y="8803957"/>
                </a:lnTo>
                <a:lnTo>
                  <a:pt x="0" y="8803957"/>
                </a:lnTo>
                <a:lnTo>
                  <a:pt x="0" y="0"/>
                </a:lnTo>
                <a:close/>
              </a:path>
            </a:pathLst>
          </a:custGeom>
          <a:blipFill>
            <a:blip r:embed="rId2"/>
            <a:stretch>
              <a:fillRect l="0" t="0" r="-398" b="-394"/>
            </a:stretch>
          </a:blipFill>
        </p:spPr>
      </p:sp>
      <p:sp>
        <p:nvSpPr>
          <p:cNvPr name="TextBox 24" id="24"/>
          <p:cNvSpPr txBox="true"/>
          <p:nvPr/>
        </p:nvSpPr>
        <p:spPr>
          <a:xfrm rot="0">
            <a:off x="336552" y="323850"/>
            <a:ext cx="12823984" cy="704850"/>
          </a:xfrm>
          <a:prstGeom prst="rect">
            <a:avLst/>
          </a:prstGeom>
        </p:spPr>
        <p:txBody>
          <a:bodyPr anchor="t" rtlCol="false" tIns="0" lIns="0" bIns="0" rIns="0">
            <a:spAutoFit/>
          </a:bodyPr>
          <a:lstStyle/>
          <a:p>
            <a:pPr algn="l">
              <a:lnSpc>
                <a:spcPts val="5508"/>
              </a:lnSpc>
            </a:pPr>
            <a:r>
              <a:rPr lang="en-US" sz="4590" b="true">
                <a:solidFill>
                  <a:srgbClr val="000000"/>
                </a:solidFill>
                <a:latin typeface="Trebuchet MS Bold"/>
                <a:ea typeface="Trebuchet MS Bold"/>
                <a:cs typeface="Trebuchet MS Bold"/>
                <a:sym typeface="Trebuchet MS Bold"/>
              </a:rPr>
              <a:t>Certificate - Protection from Browser Attacks </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sp>
        <p:nvSpPr>
          <p:cNvPr name="Freeform 23" id="23"/>
          <p:cNvSpPr/>
          <p:nvPr/>
        </p:nvSpPr>
        <p:spPr>
          <a:xfrm flipH="false" flipV="false" rot="0">
            <a:off x="1028700" y="1312545"/>
            <a:ext cx="12452032" cy="8803957"/>
          </a:xfrm>
          <a:custGeom>
            <a:avLst/>
            <a:gdLst/>
            <a:ahLst/>
            <a:cxnLst/>
            <a:rect r="r" b="b" t="t" l="l"/>
            <a:pathLst>
              <a:path h="8803957" w="12452032">
                <a:moveTo>
                  <a:pt x="0" y="0"/>
                </a:moveTo>
                <a:lnTo>
                  <a:pt x="12452032" y="0"/>
                </a:lnTo>
                <a:lnTo>
                  <a:pt x="12452032" y="8803957"/>
                </a:lnTo>
                <a:lnTo>
                  <a:pt x="0" y="8803957"/>
                </a:lnTo>
                <a:lnTo>
                  <a:pt x="0" y="0"/>
                </a:lnTo>
                <a:close/>
              </a:path>
            </a:pathLst>
          </a:custGeom>
          <a:blipFill>
            <a:blip r:embed="rId2"/>
            <a:stretch>
              <a:fillRect l="0" t="0" r="-4" b="0"/>
            </a:stretch>
          </a:blipFill>
        </p:spPr>
      </p:sp>
      <p:sp>
        <p:nvSpPr>
          <p:cNvPr name="TextBox 24" id="24"/>
          <p:cNvSpPr txBox="true"/>
          <p:nvPr/>
        </p:nvSpPr>
        <p:spPr>
          <a:xfrm rot="0">
            <a:off x="336552" y="323850"/>
            <a:ext cx="12823984" cy="704850"/>
          </a:xfrm>
          <a:prstGeom prst="rect">
            <a:avLst/>
          </a:prstGeom>
        </p:spPr>
        <p:txBody>
          <a:bodyPr anchor="t" rtlCol="false" tIns="0" lIns="0" bIns="0" rIns="0">
            <a:spAutoFit/>
          </a:bodyPr>
          <a:lstStyle/>
          <a:p>
            <a:pPr algn="l">
              <a:lnSpc>
                <a:spcPts val="5508"/>
              </a:lnSpc>
            </a:pPr>
            <a:r>
              <a:rPr lang="en-US" sz="4590" b="true">
                <a:solidFill>
                  <a:srgbClr val="000000"/>
                </a:solidFill>
                <a:latin typeface="Trebuchet MS Bold"/>
                <a:ea typeface="Trebuchet MS Bold"/>
                <a:cs typeface="Trebuchet MS Bold"/>
                <a:sym typeface="Trebuchet MS Bold"/>
              </a:rPr>
              <a:t>Certificate - Securing Android Devices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13208003"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3" id="23"/>
          <p:cNvGrpSpPr/>
          <p:nvPr/>
        </p:nvGrpSpPr>
        <p:grpSpPr>
          <a:xfrm rot="0">
            <a:off x="12885992" y="9062047"/>
            <a:ext cx="1025004" cy="547688"/>
            <a:chOff x="0" y="0"/>
            <a:chExt cx="1366672" cy="730250"/>
          </a:xfrm>
        </p:grpSpPr>
        <p:sp>
          <p:nvSpPr>
            <p:cNvPr name="Freeform 24" id="24"/>
            <p:cNvSpPr/>
            <p:nvPr/>
          </p:nvSpPr>
          <p:spPr>
            <a:xfrm flipH="false" flipV="false" rot="0">
              <a:off x="0" y="0"/>
              <a:ext cx="1366678" cy="730250"/>
            </a:xfrm>
            <a:custGeom>
              <a:avLst/>
              <a:gdLst/>
              <a:ahLst/>
              <a:cxnLst/>
              <a:rect r="r" b="b" t="t" l="l"/>
              <a:pathLst>
                <a:path h="730250" w="1366678">
                  <a:moveTo>
                    <a:pt x="0" y="0"/>
                  </a:moveTo>
                  <a:lnTo>
                    <a:pt x="1366678" y="0"/>
                  </a:lnTo>
                  <a:lnTo>
                    <a:pt x="1366678" y="730250"/>
                  </a:lnTo>
                  <a:lnTo>
                    <a:pt x="0" y="730250"/>
                  </a:lnTo>
                  <a:close/>
                </a:path>
              </a:pathLst>
            </a:custGeom>
            <a:solidFill>
              <a:srgbClr val="000000">
                <a:alpha val="0"/>
              </a:srgbClr>
            </a:solidFill>
            <a:ln w="12700">
              <a:solidFill>
                <a:srgbClr val="000000"/>
              </a:solidFill>
            </a:ln>
          </p:spPr>
        </p:sp>
        <p:sp>
          <p:nvSpPr>
            <p:cNvPr name="TextBox 25" id="25"/>
            <p:cNvSpPr txBox="true"/>
            <p:nvPr/>
          </p:nvSpPr>
          <p:spPr>
            <a:xfrm>
              <a:off x="0" y="-19050"/>
              <a:ext cx="1366672" cy="749300"/>
            </a:xfrm>
            <a:prstGeom prst="rect">
              <a:avLst/>
            </a:prstGeom>
          </p:spPr>
          <p:txBody>
            <a:bodyPr anchor="ctr" rtlCol="false" tIns="0" lIns="0" bIns="0" rIns="0"/>
            <a:lstStyle/>
            <a:p>
              <a:pPr algn="r">
                <a:lnSpc>
                  <a:spcPts val="1620"/>
                </a:lnSpc>
              </a:pPr>
              <a:r>
                <a:rPr lang="en-US" sz="1350">
                  <a:solidFill>
                    <a:srgbClr val="5FCBEF"/>
                  </a:solidFill>
                  <a:latin typeface="Trebuchet MS"/>
                  <a:ea typeface="Trebuchet MS"/>
                  <a:cs typeface="Trebuchet MS"/>
                  <a:sym typeface="Trebuchet MS"/>
                </a:rPr>
                <a:t>11</a:t>
              </a:r>
            </a:p>
          </p:txBody>
        </p:sp>
      </p:grpSp>
      <p:grpSp>
        <p:nvGrpSpPr>
          <p:cNvPr name="Group 26" id="26"/>
          <p:cNvGrpSpPr/>
          <p:nvPr/>
        </p:nvGrpSpPr>
        <p:grpSpPr>
          <a:xfrm rot="0">
            <a:off x="673103" y="1250909"/>
            <a:ext cx="14236703" cy="7100106"/>
            <a:chOff x="0" y="0"/>
            <a:chExt cx="18982271" cy="9466807"/>
          </a:xfrm>
        </p:grpSpPr>
        <p:grpSp>
          <p:nvGrpSpPr>
            <p:cNvPr name="Group 27" id="27"/>
            <p:cNvGrpSpPr/>
            <p:nvPr/>
          </p:nvGrpSpPr>
          <p:grpSpPr>
            <a:xfrm rot="0">
              <a:off x="0" y="0"/>
              <a:ext cx="18982271" cy="9466807"/>
              <a:chOff x="0" y="0"/>
              <a:chExt cx="3749584" cy="1869987"/>
            </a:xfrm>
          </p:grpSpPr>
          <p:sp>
            <p:nvSpPr>
              <p:cNvPr name="Freeform 28" id="28"/>
              <p:cNvSpPr/>
              <p:nvPr/>
            </p:nvSpPr>
            <p:spPr>
              <a:xfrm flipH="false" flipV="false" rot="0">
                <a:off x="0" y="0"/>
                <a:ext cx="3749584" cy="1869987"/>
              </a:xfrm>
              <a:custGeom>
                <a:avLst/>
                <a:gdLst/>
                <a:ahLst/>
                <a:cxnLst/>
                <a:rect r="r" b="b" t="t" l="l"/>
                <a:pathLst>
                  <a:path h="1869987" w="3749584">
                    <a:moveTo>
                      <a:pt x="27734" y="0"/>
                    </a:moveTo>
                    <a:lnTo>
                      <a:pt x="3721850" y="0"/>
                    </a:lnTo>
                    <a:cubicBezTo>
                      <a:pt x="3729206" y="0"/>
                      <a:pt x="3736260" y="2922"/>
                      <a:pt x="3741461" y="8123"/>
                    </a:cubicBezTo>
                    <a:cubicBezTo>
                      <a:pt x="3746662" y="13324"/>
                      <a:pt x="3749584" y="20378"/>
                      <a:pt x="3749584" y="27734"/>
                    </a:cubicBezTo>
                    <a:lnTo>
                      <a:pt x="3749584" y="1842253"/>
                    </a:lnTo>
                    <a:cubicBezTo>
                      <a:pt x="3749584" y="1857570"/>
                      <a:pt x="3737168" y="1869987"/>
                      <a:pt x="3721850" y="1869987"/>
                    </a:cubicBezTo>
                    <a:lnTo>
                      <a:pt x="27734" y="1869987"/>
                    </a:lnTo>
                    <a:cubicBezTo>
                      <a:pt x="20378" y="1869987"/>
                      <a:pt x="13324" y="1867065"/>
                      <a:pt x="8123" y="1861864"/>
                    </a:cubicBezTo>
                    <a:cubicBezTo>
                      <a:pt x="2922" y="1856662"/>
                      <a:pt x="0" y="1849608"/>
                      <a:pt x="0" y="1842253"/>
                    </a:cubicBezTo>
                    <a:lnTo>
                      <a:pt x="0" y="27734"/>
                    </a:lnTo>
                    <a:cubicBezTo>
                      <a:pt x="0" y="12417"/>
                      <a:pt x="12417" y="0"/>
                      <a:pt x="27734" y="0"/>
                    </a:cubicBezTo>
                    <a:close/>
                  </a:path>
                </a:pathLst>
              </a:custGeom>
              <a:solidFill>
                <a:srgbClr val="FFFFFF">
                  <a:alpha val="63922"/>
                </a:srgbClr>
              </a:solidFill>
              <a:ln cap="rnd">
                <a:noFill/>
                <a:prstDash val="solid"/>
                <a:round/>
              </a:ln>
            </p:spPr>
          </p:sp>
          <p:sp>
            <p:nvSpPr>
              <p:cNvPr name="TextBox 29" id="29"/>
              <p:cNvSpPr txBox="true"/>
              <p:nvPr/>
            </p:nvSpPr>
            <p:spPr>
              <a:xfrm>
                <a:off x="0" y="-9525"/>
                <a:ext cx="3749584" cy="1879512"/>
              </a:xfrm>
              <a:prstGeom prst="rect">
                <a:avLst/>
              </a:prstGeom>
            </p:spPr>
            <p:txBody>
              <a:bodyPr anchor="ctr" rtlCol="false" tIns="50800" lIns="50800" bIns="50800" rIns="50800"/>
              <a:lstStyle/>
              <a:p>
                <a:pPr algn="ctr">
                  <a:lnSpc>
                    <a:spcPts val="1980"/>
                  </a:lnSpc>
                </a:pPr>
              </a:p>
            </p:txBody>
          </p:sp>
        </p:grpSp>
        <p:sp>
          <p:nvSpPr>
            <p:cNvPr name="TextBox 30" id="30"/>
            <p:cNvSpPr txBox="true"/>
            <p:nvPr/>
          </p:nvSpPr>
          <p:spPr>
            <a:xfrm rot="0">
              <a:off x="415500" y="587565"/>
              <a:ext cx="17098645" cy="1549603"/>
            </a:xfrm>
            <a:prstGeom prst="rect">
              <a:avLst/>
            </a:prstGeom>
          </p:spPr>
          <p:txBody>
            <a:bodyPr anchor="t" rtlCol="false" tIns="0" lIns="0" bIns="0" rIns="0">
              <a:spAutoFit/>
            </a:bodyPr>
            <a:lstStyle/>
            <a:p>
              <a:pPr algn="l">
                <a:lnSpc>
                  <a:spcPts val="6480"/>
                </a:lnSpc>
              </a:pPr>
              <a:r>
                <a:rPr lang="en-US" sz="5400" b="true">
                  <a:solidFill>
                    <a:srgbClr val="000000"/>
                  </a:solidFill>
                  <a:latin typeface="Trebuchet MS Bold"/>
                  <a:ea typeface="Trebuchet MS Bold"/>
                  <a:cs typeface="Trebuchet MS Bold"/>
                  <a:sym typeface="Trebuchet MS Bold"/>
                </a:rPr>
                <a:t>GitHub link</a:t>
              </a:r>
            </a:p>
          </p:txBody>
        </p:sp>
        <p:sp>
          <p:nvSpPr>
            <p:cNvPr name="TextBox 31" id="31"/>
            <p:cNvSpPr txBox="true"/>
            <p:nvPr/>
          </p:nvSpPr>
          <p:spPr>
            <a:xfrm rot="0">
              <a:off x="415500" y="3656312"/>
              <a:ext cx="17835020" cy="3067050"/>
            </a:xfrm>
            <a:prstGeom prst="rect">
              <a:avLst/>
            </a:prstGeom>
          </p:spPr>
          <p:txBody>
            <a:bodyPr anchor="t" rtlCol="false" tIns="0" lIns="0" bIns="0" rIns="0">
              <a:spAutoFit/>
            </a:bodyPr>
            <a:lstStyle/>
            <a:p>
              <a:pPr algn="l">
                <a:lnSpc>
                  <a:spcPts val="6000"/>
                </a:lnSpc>
              </a:pPr>
              <a:r>
                <a:rPr lang="en-US" sz="5000" b="true">
                  <a:solidFill>
                    <a:srgbClr val="000000"/>
                  </a:solidFill>
                  <a:latin typeface="Trebuchet MS Bold"/>
                  <a:ea typeface="Trebuchet MS Bold"/>
                  <a:cs typeface="Trebuchet MS Bold"/>
                  <a:sym typeface="Trebuchet MS Bold"/>
                </a:rPr>
                <a:t>GitHub repository link: </a:t>
              </a:r>
              <a:r>
                <a:rPr lang="en-US" b="true" sz="5000" u="sng">
                  <a:solidFill>
                    <a:srgbClr val="0870CF"/>
                  </a:solidFill>
                  <a:latin typeface="Trebuchet MS Bold"/>
                  <a:ea typeface="Trebuchet MS Bold"/>
                  <a:cs typeface="Trebuchet MS Bold"/>
                  <a:sym typeface="Trebuchet MS Bold"/>
                  <a:hlinkClick r:id="rId2" tooltip="https://github.com/PERSONAL-PROJECTS-2000/AINIDS"/>
                </a:rPr>
                <a:t>https://github.com/PERSONAL-PROJECTS-2000/AINIDS</a:t>
              </a:r>
            </a:p>
          </p:txBody>
        </p:sp>
        <p:sp>
          <p:nvSpPr>
            <p:cNvPr name="TextBox 32" id="32"/>
            <p:cNvSpPr txBox="true"/>
            <p:nvPr/>
          </p:nvSpPr>
          <p:spPr>
            <a:xfrm rot="0">
              <a:off x="448735" y="7377430"/>
              <a:ext cx="17835020" cy="1035050"/>
            </a:xfrm>
            <a:prstGeom prst="rect">
              <a:avLst/>
            </a:prstGeom>
          </p:spPr>
          <p:txBody>
            <a:bodyPr anchor="t" rtlCol="false" tIns="0" lIns="0" bIns="0" rIns="0">
              <a:spAutoFit/>
            </a:bodyPr>
            <a:lstStyle/>
            <a:p>
              <a:pPr algn="l">
                <a:lnSpc>
                  <a:spcPts val="6000"/>
                </a:lnSpc>
              </a:pPr>
              <a:r>
                <a:rPr lang="en-US" sz="5000" b="true">
                  <a:solidFill>
                    <a:srgbClr val="000000"/>
                  </a:solidFill>
                  <a:latin typeface="Trebuchet MS Bold"/>
                  <a:ea typeface="Trebuchet MS Bold"/>
                  <a:cs typeface="Trebuchet MS Bold"/>
                  <a:sym typeface="Trebuchet MS Bold"/>
                </a:rPr>
                <a:t>Streamlit app link: </a:t>
              </a:r>
              <a:r>
                <a:rPr lang="en-US" b="true" sz="5000" u="sng">
                  <a:solidFill>
                    <a:srgbClr val="0870CF"/>
                  </a:solidFill>
                  <a:latin typeface="Trebuchet MS Bold"/>
                  <a:ea typeface="Trebuchet MS Bold"/>
                  <a:cs typeface="Trebuchet MS Bold"/>
                  <a:sym typeface="Trebuchet MS Bold"/>
                  <a:hlinkClick r:id="rId3" tooltip="https://ainids-pdas.streamlit.app"/>
                </a:rPr>
                <a:t>ainids-pdas.streamlit.app</a:t>
              </a:r>
            </a:p>
          </p:txBody>
        </p:sp>
      </p:grpSp>
      <p:grpSp>
        <p:nvGrpSpPr>
          <p:cNvPr name="Group 33" id="33"/>
          <p:cNvGrpSpPr/>
          <p:nvPr/>
        </p:nvGrpSpPr>
        <p:grpSpPr>
          <a:xfrm rot="0">
            <a:off x="797456" y="3783619"/>
            <a:ext cx="13804833" cy="4052279"/>
            <a:chOff x="0" y="0"/>
            <a:chExt cx="3635841" cy="1067267"/>
          </a:xfrm>
        </p:grpSpPr>
        <p:sp>
          <p:nvSpPr>
            <p:cNvPr name="Freeform 34" id="34"/>
            <p:cNvSpPr/>
            <p:nvPr/>
          </p:nvSpPr>
          <p:spPr>
            <a:xfrm flipH="false" flipV="false" rot="0">
              <a:off x="0" y="0"/>
              <a:ext cx="3635841" cy="1067267"/>
            </a:xfrm>
            <a:custGeom>
              <a:avLst/>
              <a:gdLst/>
              <a:ahLst/>
              <a:cxnLst/>
              <a:rect r="r" b="b" t="t" l="l"/>
              <a:pathLst>
                <a:path h="1067267" w="3635841">
                  <a:moveTo>
                    <a:pt x="28601" y="0"/>
                  </a:moveTo>
                  <a:lnTo>
                    <a:pt x="3607240" y="0"/>
                  </a:lnTo>
                  <a:cubicBezTo>
                    <a:pt x="3614825" y="0"/>
                    <a:pt x="3622100" y="3013"/>
                    <a:pt x="3627464" y="8377"/>
                  </a:cubicBezTo>
                  <a:cubicBezTo>
                    <a:pt x="3632827" y="13741"/>
                    <a:pt x="3635841" y="21016"/>
                    <a:pt x="3635841" y="28601"/>
                  </a:cubicBezTo>
                  <a:lnTo>
                    <a:pt x="3635841" y="1038666"/>
                  </a:lnTo>
                  <a:cubicBezTo>
                    <a:pt x="3635841" y="1046251"/>
                    <a:pt x="3632827" y="1053526"/>
                    <a:pt x="3627464" y="1058890"/>
                  </a:cubicBezTo>
                  <a:cubicBezTo>
                    <a:pt x="3622100" y="1064254"/>
                    <a:pt x="3614825" y="1067267"/>
                    <a:pt x="3607240" y="1067267"/>
                  </a:cubicBezTo>
                  <a:lnTo>
                    <a:pt x="28601" y="1067267"/>
                  </a:lnTo>
                  <a:cubicBezTo>
                    <a:pt x="21016" y="1067267"/>
                    <a:pt x="13741" y="1064254"/>
                    <a:pt x="8377" y="1058890"/>
                  </a:cubicBezTo>
                  <a:cubicBezTo>
                    <a:pt x="3013" y="1053526"/>
                    <a:pt x="0" y="1046251"/>
                    <a:pt x="0" y="1038666"/>
                  </a:cubicBezTo>
                  <a:lnTo>
                    <a:pt x="0" y="28601"/>
                  </a:lnTo>
                  <a:cubicBezTo>
                    <a:pt x="0" y="21016"/>
                    <a:pt x="3013" y="13741"/>
                    <a:pt x="8377" y="8377"/>
                  </a:cubicBezTo>
                  <a:cubicBezTo>
                    <a:pt x="13741" y="3013"/>
                    <a:pt x="21016" y="0"/>
                    <a:pt x="28601" y="0"/>
                  </a:cubicBezTo>
                  <a:close/>
                </a:path>
              </a:pathLst>
            </a:custGeom>
            <a:solidFill>
              <a:srgbClr val="000000">
                <a:alpha val="0"/>
              </a:srgbClr>
            </a:solidFill>
            <a:ln w="19050" cap="rnd">
              <a:solidFill>
                <a:srgbClr val="000000"/>
              </a:solidFill>
              <a:prstDash val="solid"/>
              <a:round/>
            </a:ln>
          </p:spPr>
        </p:sp>
        <p:sp>
          <p:nvSpPr>
            <p:cNvPr name="TextBox 35" id="35"/>
            <p:cNvSpPr txBox="true"/>
            <p:nvPr/>
          </p:nvSpPr>
          <p:spPr>
            <a:xfrm>
              <a:off x="0" y="-9525"/>
              <a:ext cx="3635841" cy="1076792"/>
            </a:xfrm>
            <a:prstGeom prst="rect">
              <a:avLst/>
            </a:prstGeom>
          </p:spPr>
          <p:txBody>
            <a:bodyPr anchor="ctr" rtlCol="false" tIns="50800" lIns="50800" bIns="50800" rIns="50800"/>
            <a:lstStyle/>
            <a:p>
              <a:pPr algn="ctr">
                <a:lnSpc>
                  <a:spcPts val="1980"/>
                </a:lnSpc>
              </a:pP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a:ln w="12700">
              <a:solidFill>
                <a:srgbClr val="000000"/>
              </a:solidFill>
            </a:ln>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a:ln w="12700">
              <a:solidFill>
                <a:srgbClr val="000000"/>
              </a:solidFill>
            </a:ln>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a:ln w="12700">
              <a:solidFill>
                <a:srgbClr val="000000"/>
              </a:solidFill>
            </a:ln>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a:ln w="12700">
              <a:solidFill>
                <a:srgbClr val="000000"/>
              </a:solidFill>
            </a:ln>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a:ln w="12700">
              <a:solidFill>
                <a:srgbClr val="000000"/>
              </a:solidFill>
            </a:ln>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a:ln w="12700">
              <a:solidFill>
                <a:srgbClr val="000000"/>
              </a:solidFill>
            </a:ln>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a:ln w="12700">
              <a:solidFill>
                <a:srgbClr val="000000"/>
              </a:solidFill>
            </a:ln>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a:ln w="12700">
              <a:solidFill>
                <a:srgbClr val="000000"/>
              </a:solidFill>
            </a:ln>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12/30/2025</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solidFill>
              <a:srgbClr val="000000">
                <a:alpha val="0"/>
              </a:srgbClr>
            </a:solidFill>
            <a:ln w="12700">
              <a:solidFill>
                <a:srgbClr val="000000"/>
              </a:solidFill>
            </a:ln>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solidFill>
              <a:srgbClr val="000000">
                <a:alpha val="0"/>
              </a:srgbClr>
            </a:solidFill>
            <a:ln w="12700">
              <a:solidFill>
                <a:srgbClr val="000000"/>
              </a:solidFill>
            </a:ln>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820007" y="5201336"/>
            <a:ext cx="687400" cy="592588"/>
            <a:chOff x="0" y="0"/>
            <a:chExt cx="916534" cy="790118"/>
          </a:xfrm>
        </p:grpSpPr>
        <p:sp>
          <p:nvSpPr>
            <p:cNvPr name="Freeform 30" id="30"/>
            <p:cNvSpPr/>
            <p:nvPr/>
          </p:nvSpPr>
          <p:spPr>
            <a:xfrm flipH="false" flipV="false" rot="0">
              <a:off x="0" y="0"/>
              <a:ext cx="916559" cy="790067"/>
            </a:xfrm>
            <a:custGeom>
              <a:avLst/>
              <a:gdLst/>
              <a:ahLst/>
              <a:cxnLst/>
              <a:rect r="r" b="b" t="t" l="l"/>
              <a:pathLst>
                <a:path h="790067" w="916559">
                  <a:moveTo>
                    <a:pt x="0" y="395097"/>
                  </a:moveTo>
                  <a:lnTo>
                    <a:pt x="197485" y="0"/>
                  </a:lnTo>
                  <a:lnTo>
                    <a:pt x="718947" y="0"/>
                  </a:lnTo>
                  <a:lnTo>
                    <a:pt x="916559" y="395097"/>
                  </a:lnTo>
                  <a:lnTo>
                    <a:pt x="718947" y="790067"/>
                  </a:lnTo>
                  <a:lnTo>
                    <a:pt x="197485" y="790067"/>
                  </a:lnTo>
                  <a:close/>
                </a:path>
              </a:pathLst>
            </a:custGeom>
            <a:solidFill>
              <a:srgbClr val="5FCBEF"/>
            </a:solidFill>
            <a:ln w="12700">
              <a:solidFill>
                <a:srgbClr val="000000"/>
              </a:solidFill>
            </a:ln>
          </p:spPr>
        </p:sp>
      </p:grpSp>
      <p:grpSp>
        <p:nvGrpSpPr>
          <p:cNvPr name="Group 31" id="31"/>
          <p:cNvGrpSpPr/>
          <p:nvPr/>
        </p:nvGrpSpPr>
        <p:grpSpPr>
          <a:xfrm rot="0">
            <a:off x="16670007" y="3592087"/>
            <a:ext cx="537591" cy="463439"/>
            <a:chOff x="0" y="0"/>
            <a:chExt cx="716788" cy="617918"/>
          </a:xfrm>
        </p:grpSpPr>
        <p:sp>
          <p:nvSpPr>
            <p:cNvPr name="Freeform 32" id="32"/>
            <p:cNvSpPr/>
            <p:nvPr/>
          </p:nvSpPr>
          <p:spPr>
            <a:xfrm flipH="false" flipV="false" rot="0">
              <a:off x="0" y="0"/>
              <a:ext cx="716788" cy="617855"/>
            </a:xfrm>
            <a:custGeom>
              <a:avLst/>
              <a:gdLst/>
              <a:ahLst/>
              <a:cxnLst/>
              <a:rect r="r" b="b" t="t" l="l"/>
              <a:pathLst>
                <a:path h="617855" w="716788">
                  <a:moveTo>
                    <a:pt x="0" y="308991"/>
                  </a:moveTo>
                  <a:lnTo>
                    <a:pt x="154432" y="0"/>
                  </a:lnTo>
                  <a:lnTo>
                    <a:pt x="562356" y="0"/>
                  </a:lnTo>
                  <a:lnTo>
                    <a:pt x="716788" y="308991"/>
                  </a:lnTo>
                  <a:lnTo>
                    <a:pt x="562356" y="617855"/>
                  </a:lnTo>
                  <a:lnTo>
                    <a:pt x="154432" y="617855"/>
                  </a:lnTo>
                  <a:close/>
                </a:path>
              </a:pathLst>
            </a:custGeom>
            <a:solidFill>
              <a:srgbClr val="2E83C3"/>
            </a:solidFill>
            <a:ln w="12700">
              <a:solidFill>
                <a:srgbClr val="000000"/>
              </a:solidFill>
            </a:ln>
          </p:spPr>
        </p:sp>
      </p:grpSp>
      <p:grpSp>
        <p:nvGrpSpPr>
          <p:cNvPr name="Group 33" id="33"/>
          <p:cNvGrpSpPr/>
          <p:nvPr/>
        </p:nvGrpSpPr>
        <p:grpSpPr>
          <a:xfrm rot="0">
            <a:off x="16323974" y="3303299"/>
            <a:ext cx="346034" cy="298304"/>
            <a:chOff x="0" y="0"/>
            <a:chExt cx="461378" cy="397739"/>
          </a:xfrm>
        </p:grpSpPr>
        <p:sp>
          <p:nvSpPr>
            <p:cNvPr name="Freeform 34" id="34"/>
            <p:cNvSpPr/>
            <p:nvPr/>
          </p:nvSpPr>
          <p:spPr>
            <a:xfrm flipH="false" flipV="false" rot="0">
              <a:off x="0" y="0"/>
              <a:ext cx="461391" cy="397764"/>
            </a:xfrm>
            <a:custGeom>
              <a:avLst/>
              <a:gdLst/>
              <a:ahLst/>
              <a:cxnLst/>
              <a:rect r="r" b="b" t="t" l="l"/>
              <a:pathLst>
                <a:path h="397764" w="461391">
                  <a:moveTo>
                    <a:pt x="0" y="198882"/>
                  </a:moveTo>
                  <a:lnTo>
                    <a:pt x="99441" y="0"/>
                  </a:lnTo>
                  <a:lnTo>
                    <a:pt x="361950" y="0"/>
                  </a:lnTo>
                  <a:lnTo>
                    <a:pt x="461391" y="198882"/>
                  </a:lnTo>
                  <a:lnTo>
                    <a:pt x="361950" y="397764"/>
                  </a:lnTo>
                  <a:lnTo>
                    <a:pt x="99441" y="397764"/>
                  </a:lnTo>
                  <a:close/>
                </a:path>
              </a:pathLst>
            </a:custGeom>
            <a:solidFill>
              <a:srgbClr val="EBEBEB"/>
            </a:solidFill>
            <a:ln w="12700">
              <a:solidFill>
                <a:srgbClr val="000000"/>
              </a:solidFill>
            </a:ln>
          </p:spPr>
        </p:sp>
      </p:grpSp>
      <p:grpSp>
        <p:nvGrpSpPr>
          <p:cNvPr name="Group 35" id="35"/>
          <p:cNvGrpSpPr/>
          <p:nvPr/>
        </p:nvGrpSpPr>
        <p:grpSpPr>
          <a:xfrm rot="0">
            <a:off x="2025648" y="1043940"/>
            <a:ext cx="14236703" cy="8199120"/>
            <a:chOff x="0" y="0"/>
            <a:chExt cx="3749584" cy="2159439"/>
          </a:xfrm>
        </p:grpSpPr>
        <p:sp>
          <p:nvSpPr>
            <p:cNvPr name="Freeform 36" id="36"/>
            <p:cNvSpPr/>
            <p:nvPr/>
          </p:nvSpPr>
          <p:spPr>
            <a:xfrm flipH="false" flipV="false" rot="0">
              <a:off x="0" y="0"/>
              <a:ext cx="3749584" cy="2159439"/>
            </a:xfrm>
            <a:custGeom>
              <a:avLst/>
              <a:gdLst/>
              <a:ahLst/>
              <a:cxnLst/>
              <a:rect r="r" b="b" t="t" l="l"/>
              <a:pathLst>
                <a:path h="2159439" w="3749584">
                  <a:moveTo>
                    <a:pt x="27734" y="0"/>
                  </a:moveTo>
                  <a:lnTo>
                    <a:pt x="3721850" y="0"/>
                  </a:lnTo>
                  <a:cubicBezTo>
                    <a:pt x="3729206" y="0"/>
                    <a:pt x="3736260" y="2922"/>
                    <a:pt x="3741461" y="8123"/>
                  </a:cubicBezTo>
                  <a:cubicBezTo>
                    <a:pt x="3746662" y="13324"/>
                    <a:pt x="3749584" y="20378"/>
                    <a:pt x="3749584" y="27734"/>
                  </a:cubicBezTo>
                  <a:lnTo>
                    <a:pt x="3749584" y="2131705"/>
                  </a:lnTo>
                  <a:cubicBezTo>
                    <a:pt x="3749584" y="2147022"/>
                    <a:pt x="3737168" y="2159439"/>
                    <a:pt x="3721850" y="2159439"/>
                  </a:cubicBezTo>
                  <a:lnTo>
                    <a:pt x="27734" y="2159439"/>
                  </a:lnTo>
                  <a:cubicBezTo>
                    <a:pt x="12417" y="2159439"/>
                    <a:pt x="0" y="2147022"/>
                    <a:pt x="0" y="2131705"/>
                  </a:cubicBezTo>
                  <a:lnTo>
                    <a:pt x="0" y="27734"/>
                  </a:lnTo>
                  <a:cubicBezTo>
                    <a:pt x="0" y="12417"/>
                    <a:pt x="12417" y="0"/>
                    <a:pt x="27734" y="0"/>
                  </a:cubicBezTo>
                  <a:close/>
                </a:path>
              </a:pathLst>
            </a:custGeom>
            <a:solidFill>
              <a:srgbClr val="FFFFFF">
                <a:alpha val="63922"/>
              </a:srgbClr>
            </a:solidFill>
            <a:ln cap="rnd">
              <a:noFill/>
              <a:prstDash val="solid"/>
              <a:round/>
            </a:ln>
          </p:spPr>
        </p:sp>
        <p:sp>
          <p:nvSpPr>
            <p:cNvPr name="TextBox 37" id="37"/>
            <p:cNvSpPr txBox="true"/>
            <p:nvPr/>
          </p:nvSpPr>
          <p:spPr>
            <a:xfrm>
              <a:off x="0" y="-9525"/>
              <a:ext cx="3749584" cy="2168964"/>
            </a:xfrm>
            <a:prstGeom prst="rect">
              <a:avLst/>
            </a:prstGeom>
          </p:spPr>
          <p:txBody>
            <a:bodyPr anchor="ctr" rtlCol="false" tIns="50800" lIns="50800" bIns="50800" rIns="50800"/>
            <a:lstStyle/>
            <a:p>
              <a:pPr algn="ctr">
                <a:lnSpc>
                  <a:spcPts val="1980"/>
                </a:lnSpc>
              </a:pPr>
            </a:p>
          </p:txBody>
        </p:sp>
      </p:grpSp>
      <p:grpSp>
        <p:nvGrpSpPr>
          <p:cNvPr name="Group 38" id="38"/>
          <p:cNvGrpSpPr/>
          <p:nvPr/>
        </p:nvGrpSpPr>
        <p:grpSpPr>
          <a:xfrm rot="0">
            <a:off x="4341900" y="4214801"/>
            <a:ext cx="9604199" cy="1857399"/>
            <a:chOff x="0" y="0"/>
            <a:chExt cx="12805599" cy="2476532"/>
          </a:xfrm>
        </p:grpSpPr>
        <p:sp>
          <p:nvSpPr>
            <p:cNvPr name="Freeform 39" id="39"/>
            <p:cNvSpPr/>
            <p:nvPr/>
          </p:nvSpPr>
          <p:spPr>
            <a:xfrm flipH="false" flipV="false" rot="0">
              <a:off x="0" y="0"/>
              <a:ext cx="12805597" cy="2476534"/>
            </a:xfrm>
            <a:custGeom>
              <a:avLst/>
              <a:gdLst/>
              <a:ahLst/>
              <a:cxnLst/>
              <a:rect r="r" b="b" t="t" l="l"/>
              <a:pathLst>
                <a:path h="2476534" w="12805597">
                  <a:moveTo>
                    <a:pt x="0" y="0"/>
                  </a:moveTo>
                  <a:lnTo>
                    <a:pt x="12805597" y="0"/>
                  </a:lnTo>
                  <a:lnTo>
                    <a:pt x="12805597" y="2476534"/>
                  </a:lnTo>
                  <a:lnTo>
                    <a:pt x="0" y="2476534"/>
                  </a:lnTo>
                  <a:close/>
                </a:path>
              </a:pathLst>
            </a:custGeom>
            <a:solidFill>
              <a:srgbClr val="000000">
                <a:alpha val="0"/>
              </a:srgbClr>
            </a:solidFill>
            <a:ln w="12700">
              <a:solidFill>
                <a:srgbClr val="000000"/>
              </a:solidFill>
            </a:ln>
          </p:spPr>
        </p:sp>
        <p:sp>
          <p:nvSpPr>
            <p:cNvPr name="TextBox 40" id="40"/>
            <p:cNvSpPr txBox="true"/>
            <p:nvPr/>
          </p:nvSpPr>
          <p:spPr>
            <a:xfrm>
              <a:off x="0" y="-9525"/>
              <a:ext cx="12805599" cy="2486057"/>
            </a:xfrm>
            <a:prstGeom prst="rect">
              <a:avLst/>
            </a:prstGeom>
          </p:spPr>
          <p:txBody>
            <a:bodyPr anchor="ctr" rtlCol="false" tIns="0" lIns="0" bIns="0" rIns="0"/>
            <a:lstStyle/>
            <a:p>
              <a:pPr algn="ctr">
                <a:lnSpc>
                  <a:spcPts val="11999"/>
                </a:lnSpc>
              </a:pPr>
              <a:r>
                <a:rPr lang="en-US" sz="9999" b="true">
                  <a:solidFill>
                    <a:srgbClr val="000000"/>
                  </a:solidFill>
                  <a:latin typeface="Trebuchet MS Bold"/>
                  <a:ea typeface="Trebuchet MS Bold"/>
                  <a:cs typeface="Trebuchet MS Bold"/>
                  <a:sym typeface="Trebuchet MS Bold"/>
                </a:rPr>
                <a:t>Thank You!</a:t>
              </a:r>
            </a:p>
          </p:txBody>
        </p:sp>
      </p:grpSp>
      <p:sp>
        <p:nvSpPr>
          <p:cNvPr name="TextBox 41" id="41"/>
          <p:cNvSpPr txBox="true"/>
          <p:nvPr/>
        </p:nvSpPr>
        <p:spPr>
          <a:xfrm rot="0">
            <a:off x="5683234" y="6999084"/>
            <a:ext cx="3026664" cy="1581036"/>
          </a:xfrm>
          <a:prstGeom prst="rect">
            <a:avLst/>
          </a:prstGeom>
        </p:spPr>
        <p:txBody>
          <a:bodyPr anchor="t" rtlCol="false" tIns="0" lIns="0" bIns="0" rIns="0">
            <a:spAutoFit/>
          </a:bodyPr>
          <a:lstStyle/>
          <a:p>
            <a:pPr algn="ctr">
              <a:lnSpc>
                <a:spcPts val="2879"/>
              </a:lnSpc>
            </a:pPr>
            <a:r>
              <a:rPr lang="en-US" sz="2400">
                <a:solidFill>
                  <a:srgbClr val="000000"/>
                </a:solidFill>
                <a:latin typeface="Trebuchet MS"/>
                <a:ea typeface="Trebuchet MS"/>
                <a:cs typeface="Trebuchet MS"/>
                <a:sym typeface="Trebuchet MS"/>
              </a:rPr>
              <a:t>.</a:t>
            </a:r>
          </a:p>
        </p:txBody>
      </p:sp>
      <p:sp>
        <p:nvSpPr>
          <p:cNvPr name="TextBox 42" id="42"/>
          <p:cNvSpPr txBox="true"/>
          <p:nvPr/>
        </p:nvSpPr>
        <p:spPr>
          <a:xfrm rot="0">
            <a:off x="12978489" y="6999084"/>
            <a:ext cx="3026664" cy="1581036"/>
          </a:xfrm>
          <a:prstGeom prst="rect">
            <a:avLst/>
          </a:prstGeom>
        </p:spPr>
        <p:txBody>
          <a:bodyPr anchor="t" rtlCol="false" tIns="0" lIns="0" bIns="0" rIns="0">
            <a:spAutoFit/>
          </a:bodyPr>
          <a:lstStyle/>
          <a:p>
            <a:pPr algn="ctr">
              <a:lnSpc>
                <a:spcPts val="2879"/>
              </a:lnSpc>
            </a:pPr>
            <a:r>
              <a:rPr lang="en-US" sz="2400">
                <a:solidFill>
                  <a:srgbClr val="000000"/>
                </a:solidFill>
                <a:latin typeface="Trebuchet MS"/>
                <a:ea typeface="Trebuchet MS"/>
                <a:cs typeface="Trebuchet MS"/>
                <a:sym typeface="Trebuchet MS"/>
              </a:rPr>
              <a:t>.</a:t>
            </a:r>
          </a:p>
        </p:txBody>
      </p:sp>
      <p:sp>
        <p:nvSpPr>
          <p:cNvPr name="Freeform 43" id="43"/>
          <p:cNvSpPr/>
          <p:nvPr/>
        </p:nvSpPr>
        <p:spPr>
          <a:xfrm flipH="false" flipV="false" rot="0">
            <a:off x="1013936" y="9707880"/>
            <a:ext cx="3214687" cy="289560"/>
          </a:xfrm>
          <a:custGeom>
            <a:avLst/>
            <a:gdLst/>
            <a:ahLst/>
            <a:cxnLst/>
            <a:rect r="r" b="b" t="t" l="l"/>
            <a:pathLst>
              <a:path h="289560" w="3214687">
                <a:moveTo>
                  <a:pt x="0" y="0"/>
                </a:moveTo>
                <a:lnTo>
                  <a:pt x="3214688" y="0"/>
                </a:lnTo>
                <a:lnTo>
                  <a:pt x="3214688" y="289560"/>
                </a:lnTo>
                <a:lnTo>
                  <a:pt x="0" y="289560"/>
                </a:lnTo>
                <a:lnTo>
                  <a:pt x="0" y="0"/>
                </a:lnTo>
                <a:close/>
              </a:path>
            </a:pathLst>
          </a:custGeom>
          <a:blipFill>
            <a:blip r:embed="rId2"/>
            <a:stretch>
              <a:fillRect l="0" t="-2518486" r="-135857" b="0"/>
            </a:stretch>
          </a:blipFill>
        </p:spPr>
      </p:sp>
      <p:grpSp>
        <p:nvGrpSpPr>
          <p:cNvPr name="Group 44" id="44"/>
          <p:cNvGrpSpPr/>
          <p:nvPr/>
        </p:nvGrpSpPr>
        <p:grpSpPr>
          <a:xfrm rot="0">
            <a:off x="4970728" y="3117360"/>
            <a:ext cx="8346544" cy="4052279"/>
            <a:chOff x="0" y="0"/>
            <a:chExt cx="2198267" cy="1067267"/>
          </a:xfrm>
        </p:grpSpPr>
        <p:sp>
          <p:nvSpPr>
            <p:cNvPr name="Freeform 45" id="45"/>
            <p:cNvSpPr/>
            <p:nvPr/>
          </p:nvSpPr>
          <p:spPr>
            <a:xfrm flipH="false" flipV="false" rot="0">
              <a:off x="0" y="0"/>
              <a:ext cx="2198267" cy="1067267"/>
            </a:xfrm>
            <a:custGeom>
              <a:avLst/>
              <a:gdLst/>
              <a:ahLst/>
              <a:cxnLst/>
              <a:rect r="r" b="b" t="t" l="l"/>
              <a:pathLst>
                <a:path h="1067267" w="2198267">
                  <a:moveTo>
                    <a:pt x="47306" y="0"/>
                  </a:moveTo>
                  <a:lnTo>
                    <a:pt x="2150961" y="0"/>
                  </a:lnTo>
                  <a:cubicBezTo>
                    <a:pt x="2177087" y="0"/>
                    <a:pt x="2198267" y="21179"/>
                    <a:pt x="2198267" y="47306"/>
                  </a:cubicBezTo>
                  <a:lnTo>
                    <a:pt x="2198267" y="1019961"/>
                  </a:lnTo>
                  <a:cubicBezTo>
                    <a:pt x="2198267" y="1046088"/>
                    <a:pt x="2177087" y="1067267"/>
                    <a:pt x="2150961" y="1067267"/>
                  </a:cubicBezTo>
                  <a:lnTo>
                    <a:pt x="47306" y="1067267"/>
                  </a:lnTo>
                  <a:cubicBezTo>
                    <a:pt x="21179" y="1067267"/>
                    <a:pt x="0" y="1046088"/>
                    <a:pt x="0" y="1019961"/>
                  </a:cubicBezTo>
                  <a:lnTo>
                    <a:pt x="0" y="47306"/>
                  </a:lnTo>
                  <a:cubicBezTo>
                    <a:pt x="0" y="21179"/>
                    <a:pt x="21179" y="0"/>
                    <a:pt x="47306" y="0"/>
                  </a:cubicBezTo>
                  <a:close/>
                </a:path>
              </a:pathLst>
            </a:custGeom>
            <a:solidFill>
              <a:srgbClr val="000000">
                <a:alpha val="0"/>
              </a:srgbClr>
            </a:solidFill>
            <a:ln w="19050" cap="rnd">
              <a:solidFill>
                <a:srgbClr val="000000"/>
              </a:solidFill>
              <a:prstDash val="solid"/>
              <a:round/>
            </a:ln>
          </p:spPr>
        </p:sp>
        <p:sp>
          <p:nvSpPr>
            <p:cNvPr name="TextBox 46" id="46"/>
            <p:cNvSpPr txBox="true"/>
            <p:nvPr/>
          </p:nvSpPr>
          <p:spPr>
            <a:xfrm>
              <a:off x="0" y="-9525"/>
              <a:ext cx="2198267" cy="1076792"/>
            </a:xfrm>
            <a:prstGeom prst="rect">
              <a:avLst/>
            </a:prstGeom>
          </p:spPr>
          <p:txBody>
            <a:bodyPr anchor="ctr" rtlCol="false" tIns="50800" lIns="50800" bIns="50800" rIns="50800"/>
            <a:lstStyle/>
            <a:p>
              <a:pPr algn="ctr">
                <a:lnSpc>
                  <a:spcPts val="1980"/>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DAG9vE9HeFQ</dc:identifier>
  <dcterms:modified xsi:type="dcterms:W3CDTF">2011-08-01T06:04:30Z</dcterms:modified>
  <cp:revision>1</cp:revision>
  <dc:title>Final Project ppt template.pptx</dc:title>
</cp:coreProperties>
</file>